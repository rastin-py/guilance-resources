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9" r:id="rId1"/>
  </p:sldMasterIdLst>
  <p:notesMasterIdLst>
    <p:notesMasterId r:id="rId46"/>
  </p:notesMasterIdLst>
  <p:handoutMasterIdLst>
    <p:handoutMasterId r:id="rId47"/>
  </p:handoutMasterIdLst>
  <p:sldIdLst>
    <p:sldId id="476" r:id="rId2"/>
    <p:sldId id="591" r:id="rId3"/>
    <p:sldId id="478" r:id="rId4"/>
    <p:sldId id="553" r:id="rId5"/>
    <p:sldId id="570" r:id="rId6"/>
    <p:sldId id="578" r:id="rId7"/>
    <p:sldId id="594" r:id="rId8"/>
    <p:sldId id="581" r:id="rId9"/>
    <p:sldId id="597" r:id="rId10"/>
    <p:sldId id="596" r:id="rId11"/>
    <p:sldId id="555" r:id="rId12"/>
    <p:sldId id="552" r:id="rId13"/>
    <p:sldId id="554" r:id="rId14"/>
    <p:sldId id="500" r:id="rId15"/>
    <p:sldId id="501" r:id="rId16"/>
    <p:sldId id="502" r:id="rId17"/>
    <p:sldId id="586" r:id="rId18"/>
    <p:sldId id="588" r:id="rId19"/>
    <p:sldId id="589" r:id="rId20"/>
    <p:sldId id="587" r:id="rId21"/>
    <p:sldId id="504" r:id="rId22"/>
    <p:sldId id="610" r:id="rId23"/>
    <p:sldId id="560" r:id="rId24"/>
    <p:sldId id="590" r:id="rId25"/>
    <p:sldId id="506" r:id="rId26"/>
    <p:sldId id="598" r:id="rId27"/>
    <p:sldId id="508" r:id="rId28"/>
    <p:sldId id="511" r:id="rId29"/>
    <p:sldId id="512" r:id="rId30"/>
    <p:sldId id="599" r:id="rId31"/>
    <p:sldId id="514" r:id="rId32"/>
    <p:sldId id="516" r:id="rId33"/>
    <p:sldId id="608" r:id="rId34"/>
    <p:sldId id="517" r:id="rId35"/>
    <p:sldId id="602" r:id="rId36"/>
    <p:sldId id="561" r:id="rId37"/>
    <p:sldId id="519" r:id="rId38"/>
    <p:sldId id="521" r:id="rId39"/>
    <p:sldId id="520" r:id="rId40"/>
    <p:sldId id="523" r:id="rId41"/>
    <p:sldId id="524" r:id="rId42"/>
    <p:sldId id="606" r:id="rId43"/>
    <p:sldId id="607" r:id="rId44"/>
    <p:sldId id="609" r:id="rId45"/>
  </p:sldIdLst>
  <p:sldSz cx="9144000" cy="5143500" type="screen16x9"/>
  <p:notesSz cx="6845300" cy="93964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Lucida San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9359"/>
    <a:srgbClr val="FFCC66"/>
    <a:srgbClr val="A4001D"/>
    <a:srgbClr val="A40508"/>
    <a:srgbClr val="A50021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49" autoAdjust="0"/>
    <p:restoredTop sz="86867" autoAdjust="0"/>
  </p:normalViewPr>
  <p:slideViewPr>
    <p:cSldViewPr>
      <p:cViewPr varScale="1">
        <p:scale>
          <a:sx n="79" d="100"/>
          <a:sy n="79" d="100"/>
        </p:scale>
        <p:origin x="876" y="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-2224" y="-112"/>
      </p:cViewPr>
      <p:guideLst>
        <p:guide orient="horz" pos="2959"/>
        <p:guide pos="215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2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</a:defRPr>
            </a:lvl1pPr>
          </a:lstStyle>
          <a:p>
            <a:fld id="{8A029216-D615-3945-A1F3-D96FC886DA6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2630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8263" y="0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513" y="704850"/>
            <a:ext cx="6264275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2813" y="4464050"/>
            <a:ext cx="5019675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703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8263" y="8926513"/>
            <a:ext cx="2967037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EB9031F-EB71-7642-8F3C-6FDC1408CB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73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81C1209-841C-3749-9319-3415309BA974}" type="slidenum">
              <a:rPr lang="de-DE"/>
              <a:pPr/>
              <a:t>7</a:t>
            </a:fld>
            <a:endParaRPr lang="de-DE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12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13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4BCD4F-79C6-B840-950E-F353C35D6F19}" type="slidenum">
              <a:rPr lang="en-US"/>
              <a:pPr/>
              <a:t>14</a:t>
            </a:fld>
            <a:endParaRPr lang="en-US"/>
          </a:p>
        </p:txBody>
      </p:sp>
      <p:sp>
        <p:nvSpPr>
          <p:cNvPr id="602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0513" y="704850"/>
            <a:ext cx="6264275" cy="35242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21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530" y="4463296"/>
            <a:ext cx="5476240" cy="422838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84BCD4F-79C6-B840-950E-F353C35D6F19}" type="slidenum">
              <a:rPr lang="en-US"/>
              <a:pPr/>
              <a:t>15</a:t>
            </a:fld>
            <a:endParaRPr lang="en-US"/>
          </a:p>
        </p:txBody>
      </p:sp>
      <p:sp>
        <p:nvSpPr>
          <p:cNvPr id="602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0513" y="704850"/>
            <a:ext cx="6264275" cy="35242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21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530" y="4463296"/>
            <a:ext cx="5476240" cy="422838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5D0340-7DDE-8E45-AEBA-AB59FCC53FC5}" type="slidenum">
              <a:rPr lang="en-US"/>
              <a:pPr/>
              <a:t>16</a:t>
            </a:fld>
            <a:endParaRPr lang="en-US"/>
          </a:p>
        </p:txBody>
      </p:sp>
      <p:sp>
        <p:nvSpPr>
          <p:cNvPr id="606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90513" y="704850"/>
            <a:ext cx="6264275" cy="35242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62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530" y="4463296"/>
            <a:ext cx="5476240" cy="4228386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846" indent="-28571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2840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599975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111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247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383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8519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5655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76327AF3-F4B9-254E-A95F-2FA9DB9ED39F}" type="slidenum">
              <a:rPr lang="en-US" sz="1200"/>
              <a:pPr eaLnBrk="1" hangingPunct="1"/>
              <a:t>17</a:t>
            </a:fld>
            <a:endParaRPr lang="en-US" sz="1200" dirty="0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Drug and disease pictures from Wikimedia Commons</a:t>
            </a:r>
          </a:p>
          <a:p>
            <a:endParaRPr lang="en-US" dirty="0" smtClean="0"/>
          </a:p>
          <a:p>
            <a:r>
              <a:rPr lang="en-US" dirty="0" smtClean="0"/>
              <a:t>http://</a:t>
            </a:r>
            <a:r>
              <a:rPr lang="en-US" dirty="0" err="1" smtClean="0"/>
              <a:t>commons.wikimedia.org</a:t>
            </a:r>
            <a:r>
              <a:rPr lang="en-US" dirty="0" smtClean="0"/>
              <a:t>/wiki/</a:t>
            </a:r>
            <a:r>
              <a:rPr lang="en-US" dirty="0" err="1" smtClean="0"/>
              <a:t>File:Gnome-face-sick.svg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9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pictures from Wikimedia Commons</a:t>
            </a:r>
          </a:p>
          <a:p>
            <a:endParaRPr lang="en-US" dirty="0" smtClean="0"/>
          </a:p>
          <a:p>
            <a:r>
              <a:rPr lang="en-US" dirty="0" smtClean="0"/>
              <a:t>http://</a:t>
            </a:r>
            <a:r>
              <a:rPr lang="en-US" dirty="0" err="1" smtClean="0"/>
              <a:t>upload.wikimedia.org</a:t>
            </a:r>
            <a:r>
              <a:rPr lang="en-US" dirty="0" smtClean="0"/>
              <a:t>/</a:t>
            </a:r>
            <a:r>
              <a:rPr lang="en-US" dirty="0" err="1" smtClean="0"/>
              <a:t>wikipedia</a:t>
            </a:r>
            <a:r>
              <a:rPr lang="en-US" dirty="0" smtClean="0"/>
              <a:t>/commons/thumb/9/9a/</a:t>
            </a:r>
            <a:r>
              <a:rPr lang="en-US" dirty="0" err="1" smtClean="0"/>
              <a:t>Sanyo_Electric_Corporation.JPG</a:t>
            </a:r>
            <a:r>
              <a:rPr lang="en-US" dirty="0" smtClean="0"/>
              <a:t>/320px-Sanyo_Electric_Corporation.JPG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89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742846" indent="-285710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marL="1142840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marL="1599975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marL="2057111" indent="-228568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2514247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2971383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3428519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3885655" indent="-22856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76327AF3-F4B9-254E-A95F-2FA9DB9ED39F}" type="slidenum">
              <a:rPr lang="en-US" sz="1200"/>
              <a:pPr eaLnBrk="1" hangingPunct="1"/>
              <a:t>20</a:t>
            </a:fld>
            <a:endParaRPr lang="en-US" sz="1200" dirty="0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22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23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7EA257-BBC4-3B4D-BF0C-1044415BD0E4}" type="slidenum">
              <a:rPr lang="en-US"/>
              <a:pPr/>
              <a:t>25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0AFB23-ED0B-ED4A-8E61-B78B7CC2F30A}" type="slidenum">
              <a:rPr lang="en-US"/>
              <a:pPr/>
              <a:t>28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0AFB23-ED0B-ED4A-8E61-B78B7CC2F30A}" type="slidenum">
              <a:rPr lang="en-US"/>
              <a:pPr/>
              <a:t>29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0AFB23-ED0B-ED4A-8E61-B78B7CC2F30A}" type="slidenum">
              <a:rPr lang="en-US"/>
              <a:pPr/>
              <a:t>30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35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36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44</a:t>
            </a:fld>
            <a:endParaRPr lang="en-US" sz="120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0" y="510778"/>
            <a:ext cx="3890964" cy="1298972"/>
          </a:xfrm>
        </p:spPr>
        <p:txBody>
          <a:bodyPr/>
          <a:lstStyle>
            <a:lvl1pPr algn="ctr"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572000" y="2876550"/>
            <a:ext cx="3886200" cy="1676400"/>
          </a:xfrm>
        </p:spPr>
        <p:txBody>
          <a:bodyPr/>
          <a:lstStyle>
            <a:lvl1pPr marL="0" indent="0" algn="ctr">
              <a:spcBef>
                <a:spcPts val="900"/>
              </a:spcBef>
              <a:buFont typeface="Times" pitchFamily="-65" charset="0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7239000" y="4705350"/>
            <a:ext cx="12192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5334000" y="4705350"/>
            <a:ext cx="1905000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pic>
        <p:nvPicPr>
          <p:cNvPr id="9" name="Picture 8" descr="wordcloud2.jpg"/>
          <p:cNvPicPr>
            <a:picLocks noChangeAspect="1"/>
          </p:cNvPicPr>
          <p:nvPr userDrawn="1"/>
        </p:nvPicPr>
        <p:blipFill rotWithShape="1">
          <a:blip r:embed="rId2"/>
          <a:srcRect l="19740" t="8415" r="20308" b="8153"/>
          <a:stretch/>
        </p:blipFill>
        <p:spPr>
          <a:xfrm>
            <a:off x="781451" y="165818"/>
            <a:ext cx="2647549" cy="4768132"/>
          </a:xfrm>
          <a:prstGeom prst="rect">
            <a:avLst/>
          </a:prstGeom>
        </p:spPr>
      </p:pic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572000" y="4705350"/>
            <a:ext cx="765174" cy="342900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4C7FEE-6B48-4643-BCFB-F13B0E13E171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211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534400" cy="33337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17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C2BDC8F-D922-0A4E-AAA0-9C7D97FF3D7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73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3810000" cy="33718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314450"/>
            <a:ext cx="3810000" cy="33718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0960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667000" y="468630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C7A63A-31A1-2C4C-95AA-A445DBCAB174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13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253728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733550"/>
            <a:ext cx="4040188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2626" y="1253728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2626" y="1733550"/>
            <a:ext cx="4041775" cy="2971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62484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8194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1C68C3-6089-F349-9232-42643877B0CF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275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BC7101-16EA-C942-850C-355264FDE9E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62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28E5E2-1321-4548-96C8-615581C5A8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7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750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343150"/>
            <a:ext cx="3008313" cy="225147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729988-E849-C549-AA67-252EA40F09C2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3127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7882B1-C6D6-A945-BB8B-B7B1B12471B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46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DFA8D9-15F1-AF4D-8149-0C26EB27AC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83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285750"/>
            <a:ext cx="2114550" cy="44005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5750"/>
            <a:ext cx="6191250" cy="44005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57BED9-9427-674C-8047-314E304C86F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81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14450"/>
            <a:ext cx="7772400" cy="16287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3057525"/>
            <a:ext cx="7772400" cy="16287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43D734-B240-FB4D-AF6E-6869FD66910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9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371600" y="381000"/>
            <a:ext cx="7467600" cy="7429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300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Narrow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6858000" cy="33337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5181600" y="4705350"/>
            <a:ext cx="19812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2286000" y="4705350"/>
            <a:ext cx="2895600" cy="3429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2548893" y="2548891"/>
            <a:ext cx="5143501" cy="4571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77066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mpletel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768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381000"/>
            <a:ext cx="746760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52550"/>
            <a:ext cx="777240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0480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0" y="4705350"/>
            <a:ext cx="19812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43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4800" y="4705350"/>
            <a:ext cx="19812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</a:defRPr>
            </a:lvl1pPr>
          </a:lstStyle>
          <a:p>
            <a:fld id="{91F816EA-24CC-2048-859A-C5EA9F275392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4056" y="325348"/>
            <a:ext cx="868944" cy="8748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" y="8750"/>
            <a:ext cx="1295400" cy="261610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1100" dirty="0" smtClean="0">
                <a:solidFill>
                  <a:srgbClr val="A4001D"/>
                </a:solidFill>
                <a:latin typeface="+mn-lt"/>
              </a:rPr>
              <a:t>Dan Jurafsky</a:t>
            </a:r>
            <a:endParaRPr lang="en-US" sz="1100" dirty="0">
              <a:solidFill>
                <a:srgbClr val="A4001D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1" r:id="rId13"/>
    <p:sldLayoutId id="2147483712" r:id="rId1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Lucida Sans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40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685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2pPr>
      <a:lvl3pPr marL="1028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3pPr>
      <a:lvl4pPr marL="1371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4pPr>
      <a:lvl5pPr marL="17145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5pPr>
      <a:lvl6pPr marL="2171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6pPr>
      <a:lvl7pPr marL="26289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7pPr>
      <a:lvl8pPr marL="30861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8pPr>
      <a:lvl9pPr marL="35433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14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4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7.e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 smtClean="0">
                <a:latin typeface="Calibri (Headings)"/>
                <a:cs typeface="Calibri (Headings)"/>
              </a:rPr>
              <a:t>Relation Extraction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 smtClean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What is relation extraction?</a:t>
            </a:r>
            <a:endParaRPr lang="en-US" sz="3600" dirty="0">
              <a:solidFill>
                <a:srgbClr val="A4001D"/>
              </a:solidFill>
              <a:latin typeface="Calibri"/>
              <a:ea typeface="ＭＳ Ｐゴシック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43655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Extracting relations from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686800" cy="379095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AU" dirty="0" smtClean="0">
                <a:ea typeface="ＭＳ Ｐゴシック" charset="0"/>
              </a:rPr>
              <a:t>Company report:</a:t>
            </a:r>
            <a:r>
              <a:rPr lang="en-US" dirty="0" smtClean="0">
                <a:ea typeface="ＭＳ Ｐゴシック" charset="0"/>
              </a:rPr>
              <a:t> </a:t>
            </a:r>
            <a:r>
              <a:rPr lang="en-US" sz="2000" dirty="0" smtClean="0">
                <a:ea typeface="ＭＳ Ｐゴシック" charset="0"/>
              </a:rPr>
              <a:t>“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ea typeface="ＭＳ Ｐゴシック" charset="0"/>
              </a:rPr>
              <a:t>International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ea typeface="ＭＳ Ｐゴシック" charset="0"/>
              </a:rPr>
              <a:t>Business Machines Corporation (IBM or the company) was incorporated in the 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ea typeface="ＭＳ Ｐゴシック" charset="0"/>
              </a:rPr>
              <a:t>State of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ea typeface="ＭＳ Ｐゴシック" charset="0"/>
              </a:rPr>
              <a:t>New York on June 16, 1911, as the Computing-Tabulating-Recording Co. (C-T-</a:t>
            </a:r>
            <a:r>
              <a:rPr lang="en-US" sz="2000" dirty="0" smtClean="0">
                <a:solidFill>
                  <a:schemeClr val="bg1">
                    <a:lumMod val="50000"/>
                  </a:schemeClr>
                </a:solidFill>
                <a:ea typeface="ＭＳ Ｐゴシック" charset="0"/>
              </a:rPr>
              <a:t>R)…”</a:t>
            </a:r>
          </a:p>
          <a:p>
            <a:r>
              <a:rPr lang="en-US" dirty="0" smtClean="0">
                <a:ea typeface="ＭＳ Ｐゴシック" charset="0"/>
              </a:rPr>
              <a:t>Extracted Complex Relation:</a:t>
            </a:r>
          </a:p>
          <a:p>
            <a:pPr marL="1485900" lvl="4" indent="0">
              <a:lnSpc>
                <a:spcPct val="70000"/>
              </a:lnSpc>
              <a:buNone/>
            </a:pPr>
            <a:r>
              <a:rPr lang="en-US" sz="2000" dirty="0" smtClean="0">
                <a:solidFill>
                  <a:srgbClr val="0000FF"/>
                </a:solidFill>
                <a:ea typeface="ＭＳ Ｐゴシック" charset="0"/>
              </a:rPr>
              <a:t>Company-Founding</a:t>
            </a:r>
          </a:p>
          <a:p>
            <a:pPr marL="1943100" lvl="5" indent="0">
              <a:lnSpc>
                <a:spcPct val="70000"/>
              </a:lnSpc>
              <a:buNone/>
            </a:pPr>
            <a:r>
              <a:rPr lang="en-US" sz="1800" dirty="0" smtClean="0">
                <a:solidFill>
                  <a:srgbClr val="0000FF"/>
                </a:solidFill>
                <a:ea typeface="ＭＳ Ｐゴシック" charset="0"/>
              </a:rPr>
              <a:t>  Company 	IBM</a:t>
            </a:r>
          </a:p>
          <a:p>
            <a:pPr marL="1943100" lvl="5" indent="0">
              <a:lnSpc>
                <a:spcPct val="70000"/>
              </a:lnSpc>
              <a:buNone/>
            </a:pPr>
            <a:r>
              <a:rPr lang="en-US" sz="1800" dirty="0" smtClean="0">
                <a:solidFill>
                  <a:srgbClr val="0000FF"/>
                </a:solidFill>
                <a:ea typeface="ＭＳ Ｐゴシック" charset="0"/>
              </a:rPr>
              <a:t>  Location  	New York</a:t>
            </a:r>
          </a:p>
          <a:p>
            <a:pPr marL="1943100" lvl="5" indent="0">
              <a:lnSpc>
                <a:spcPct val="70000"/>
              </a:lnSpc>
              <a:buNone/>
            </a:pPr>
            <a:r>
              <a:rPr lang="en-US" sz="1800" dirty="0" smtClean="0">
                <a:solidFill>
                  <a:srgbClr val="0000FF"/>
                </a:solidFill>
                <a:ea typeface="ＭＳ Ｐゴシック" charset="0"/>
              </a:rPr>
              <a:t>  Date 		June 16, 1911</a:t>
            </a:r>
          </a:p>
          <a:p>
            <a:pPr marL="1943100" lvl="5" indent="0">
              <a:lnSpc>
                <a:spcPct val="70000"/>
              </a:lnSpc>
              <a:buNone/>
            </a:pPr>
            <a:r>
              <a:rPr lang="en-US" sz="1800" dirty="0" smtClean="0">
                <a:solidFill>
                  <a:srgbClr val="0000FF"/>
                </a:solidFill>
                <a:ea typeface="ＭＳ Ｐゴシック" charset="0"/>
              </a:rPr>
              <a:t>  Original-Name  	Computing-Tabulating-Recording Co.</a:t>
            </a:r>
            <a:endParaRPr lang="en-US" sz="1800" dirty="0">
              <a:solidFill>
                <a:srgbClr val="0000FF"/>
              </a:solidFill>
              <a:ea typeface="ＭＳ Ｐゴシック" charset="0"/>
            </a:endParaRPr>
          </a:p>
          <a:p>
            <a:pPr>
              <a:lnSpc>
                <a:spcPct val="90000"/>
              </a:lnSpc>
            </a:pPr>
            <a:r>
              <a:rPr lang="en-US" dirty="0" smtClean="0">
                <a:ea typeface="ＭＳ Ｐゴシック" charset="0"/>
              </a:rPr>
              <a:t>But we will focus on the simpler task of extracting relation </a:t>
            </a:r>
            <a:r>
              <a:rPr lang="en-US" b="1" dirty="0" smtClean="0">
                <a:ea typeface="ＭＳ Ｐゴシック" charset="0"/>
              </a:rPr>
              <a:t>triples</a:t>
            </a:r>
          </a:p>
          <a:p>
            <a:pPr marL="1485900" lvl="4" indent="0">
              <a:lnSpc>
                <a:spcPct val="90000"/>
              </a:lnSpc>
              <a:buNone/>
            </a:pPr>
            <a:r>
              <a:rPr lang="en-US" sz="2000" dirty="0" smtClean="0">
                <a:solidFill>
                  <a:srgbClr val="3366FF"/>
                </a:solidFill>
                <a:ea typeface="ＭＳ Ｐゴシック" charset="0"/>
              </a:rPr>
              <a:t>Founding-year(IBM,1911)</a:t>
            </a:r>
          </a:p>
          <a:p>
            <a:pPr marL="1485900" lvl="4" indent="0">
              <a:lnSpc>
                <a:spcPct val="90000"/>
              </a:lnSpc>
              <a:buNone/>
            </a:pPr>
            <a:r>
              <a:rPr lang="en-US" sz="2000" dirty="0" smtClean="0">
                <a:solidFill>
                  <a:srgbClr val="3366FF"/>
                </a:solidFill>
                <a:ea typeface="ＭＳ Ｐゴシック" charset="0"/>
              </a:rPr>
              <a:t>Founding-location(</a:t>
            </a:r>
            <a:r>
              <a:rPr lang="en-US" sz="2000" dirty="0" err="1" smtClean="0">
                <a:solidFill>
                  <a:srgbClr val="3366FF"/>
                </a:solidFill>
                <a:ea typeface="ＭＳ Ｐゴシック" charset="0"/>
              </a:rPr>
              <a:t>IBM,New</a:t>
            </a:r>
            <a:r>
              <a:rPr lang="en-US" sz="2000" dirty="0" smtClean="0">
                <a:solidFill>
                  <a:srgbClr val="3366FF"/>
                </a:solidFill>
                <a:ea typeface="ＭＳ Ｐゴシック" charset="0"/>
              </a:rPr>
              <a:t> York)</a:t>
            </a:r>
          </a:p>
        </p:txBody>
      </p:sp>
    </p:spTree>
    <p:extLst>
      <p:ext uri="{BB962C8B-B14F-4D97-AF65-F5344CB8AC3E}">
        <p14:creationId xmlns:p14="http://schemas.microsoft.com/office/powerpoint/2010/main" val="3254701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01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500" y="1276350"/>
            <a:ext cx="4020082" cy="2590800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round/>
            <a:headEnd/>
            <a:tailEnd/>
          </a:ln>
        </p:spPr>
      </p:pic>
      <p:sp>
        <p:nvSpPr>
          <p:cNvPr id="256005" name="Rectangle 5"/>
          <p:cNvSpPr>
            <a:spLocks noGrp="1" noChangeArrowheads="1"/>
          </p:cNvSpPr>
          <p:nvPr>
            <p:ph type="title"/>
          </p:nvPr>
        </p:nvSpPr>
        <p:spPr>
          <a:xfrm>
            <a:off x="1371600" y="209550"/>
            <a:ext cx="7924800" cy="685800"/>
          </a:xfrm>
          <a:ln/>
        </p:spPr>
        <p:txBody>
          <a:bodyPr rIns="132080"/>
          <a:lstStyle/>
          <a:p>
            <a:r>
              <a:rPr lang="en-US" dirty="0"/>
              <a:t>Extracting </a:t>
            </a:r>
            <a:r>
              <a:rPr lang="en-US" dirty="0" smtClean="0"/>
              <a:t>Relation Triples from Text</a:t>
            </a:r>
            <a:endParaRPr lang="en-US" dirty="0"/>
          </a:p>
        </p:txBody>
      </p:sp>
      <p:sp>
        <p:nvSpPr>
          <p:cNvPr id="256008" name="Rectangle 8"/>
          <p:cNvSpPr>
            <a:spLocks/>
          </p:cNvSpPr>
          <p:nvPr/>
        </p:nvSpPr>
        <p:spPr bwMode="auto">
          <a:xfrm>
            <a:off x="5054600" y="1514475"/>
            <a:ext cx="3733800" cy="10668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40639" bIns="0">
            <a:prstTxWarp prst="textNoShape">
              <a:avLst/>
            </a:prstTxWarp>
          </a:bodyPr>
          <a:lstStyle/>
          <a:p>
            <a:pPr marL="39688" algn="ctr"/>
            <a:endParaRPr lang="en-US" dirty="0">
              <a:solidFill>
                <a:schemeClr val="tx1"/>
              </a:solidFill>
              <a:ea typeface="Arial" charset="0"/>
              <a:cs typeface="Arial" charset="0"/>
            </a:endParaRPr>
          </a:p>
        </p:txBody>
      </p:sp>
      <p:sp>
        <p:nvSpPr>
          <p:cNvPr id="256009" name="AutoShape 9"/>
          <p:cNvSpPr>
            <a:spLocks/>
          </p:cNvSpPr>
          <p:nvPr/>
        </p:nvSpPr>
        <p:spPr bwMode="auto">
          <a:xfrm rot="5407130">
            <a:off x="6820531" y="3143327"/>
            <a:ext cx="304324" cy="228444"/>
          </a:xfrm>
          <a:prstGeom prst="rightArrow">
            <a:avLst>
              <a:gd name="adj1" fmla="val 20000"/>
              <a:gd name="adj2" fmla="val 96003"/>
            </a:avLst>
          </a:prstGeom>
          <a:solidFill>
            <a:srgbClr val="000000"/>
          </a:solidFill>
          <a:ln w="25400" cap="flat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4648200" y="895350"/>
            <a:ext cx="4191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</a:rPr>
              <a:t> </a:t>
            </a:r>
            <a:r>
              <a:rPr lang="en-US" sz="2000" dirty="0">
                <a:latin typeface="+mn-lt"/>
              </a:rPr>
              <a:t>The </a:t>
            </a:r>
            <a:r>
              <a:rPr lang="en-US" sz="2000" dirty="0">
                <a:solidFill>
                  <a:srgbClr val="0000FF"/>
                </a:solidFill>
                <a:latin typeface="+mn-lt"/>
              </a:rPr>
              <a:t>Leland Stanford Junior University, commonly referred to as Stanford University or Stanford</a:t>
            </a:r>
            <a:r>
              <a:rPr lang="en-US" sz="2000" dirty="0">
                <a:latin typeface="+mn-lt"/>
              </a:rPr>
              <a:t>, is an American private </a:t>
            </a:r>
            <a:r>
              <a:rPr lang="en-US" sz="2000" dirty="0">
                <a:solidFill>
                  <a:srgbClr val="660066"/>
                </a:solidFill>
                <a:latin typeface="+mn-lt"/>
              </a:rPr>
              <a:t>research university </a:t>
            </a:r>
            <a:r>
              <a:rPr lang="en-US" sz="2000" dirty="0">
                <a:solidFill>
                  <a:srgbClr val="008000"/>
                </a:solidFill>
                <a:latin typeface="+mn-lt"/>
              </a:rPr>
              <a:t>located in Stanford, California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+mn-lt"/>
              </a:rPr>
              <a:t>…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near Palo Alto, </a:t>
            </a:r>
            <a:r>
              <a:rPr lang="en-US" sz="2000" dirty="0" smtClean="0">
                <a:solidFill>
                  <a:srgbClr val="FF0000"/>
                </a:solidFill>
                <a:latin typeface="+mn-lt"/>
              </a:rPr>
              <a:t>California</a:t>
            </a:r>
            <a:r>
              <a:rPr lang="en-US" sz="2000" dirty="0" smtClean="0">
                <a:solidFill>
                  <a:srgbClr val="FF6600"/>
                </a:solidFill>
                <a:latin typeface="+mn-lt"/>
              </a:rPr>
              <a:t>… </a:t>
            </a:r>
            <a:r>
              <a:rPr lang="en-US" sz="2000" dirty="0">
                <a:solidFill>
                  <a:srgbClr val="FF6600"/>
                </a:solidFill>
                <a:latin typeface="+mn-lt"/>
              </a:rPr>
              <a:t>Leland </a:t>
            </a:r>
            <a:r>
              <a:rPr lang="en-US" sz="2000" dirty="0" smtClean="0">
                <a:solidFill>
                  <a:srgbClr val="FF6600"/>
                </a:solidFill>
                <a:latin typeface="+mn-lt"/>
              </a:rPr>
              <a:t>Stanford…founded </a:t>
            </a:r>
            <a:r>
              <a:rPr lang="en-US" sz="2000" dirty="0">
                <a:solidFill>
                  <a:srgbClr val="FF6600"/>
                </a:solidFill>
                <a:latin typeface="+mn-lt"/>
              </a:rPr>
              <a:t>the university in 1891</a:t>
            </a:r>
          </a:p>
        </p:txBody>
      </p:sp>
      <p:pic>
        <p:nvPicPr>
          <p:cNvPr id="10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3400" y="895350"/>
            <a:ext cx="6159500" cy="3969579"/>
          </a:xfrm>
          <a:prstGeom prst="rect">
            <a:avLst/>
          </a:prstGeom>
          <a:noFill/>
          <a:ln w="12700" cap="flat">
            <a:solidFill>
              <a:schemeClr val="tx1"/>
            </a:solidFill>
            <a:prstDash val="solid"/>
            <a:round/>
            <a:headEnd/>
            <a:tailEnd/>
          </a:ln>
        </p:spPr>
      </p:pic>
      <p:sp>
        <p:nvSpPr>
          <p:cNvPr id="256006" name="Rectangle 6"/>
          <p:cNvSpPr>
            <a:spLocks/>
          </p:cNvSpPr>
          <p:nvPr/>
        </p:nvSpPr>
        <p:spPr bwMode="auto">
          <a:xfrm>
            <a:off x="4495800" y="3486150"/>
            <a:ext cx="4572000" cy="1504950"/>
          </a:xfrm>
          <a:prstGeom prst="rect">
            <a:avLst/>
          </a:prstGeom>
          <a:noFill/>
          <a:ln w="12700" cap="flat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40639" bIns="0">
            <a:prstTxWarp prst="textNoShape">
              <a:avLst/>
            </a:prstTxWarp>
          </a:bodyPr>
          <a:lstStyle/>
          <a:p>
            <a:pPr marL="39688"/>
            <a:r>
              <a:rPr lang="en-US" sz="1600" dirty="0" smtClean="0">
                <a:solidFill>
                  <a:srgbClr val="0000FF"/>
                </a:solidFill>
                <a:ea typeface="Arial" charset="0"/>
                <a:cs typeface="Arial" charset="0"/>
              </a:rPr>
              <a:t>Stanford</a:t>
            </a:r>
            <a:r>
              <a:rPr lang="en-US" sz="1600" i="1" dirty="0" smtClean="0">
                <a:solidFill>
                  <a:srgbClr val="0000FF"/>
                </a:solidFill>
                <a:ea typeface="Arial" charset="0"/>
                <a:cs typeface="Arial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ea typeface="Arial" charset="0"/>
                <a:cs typeface="Arial" charset="0"/>
              </a:rPr>
              <a:t>EQ </a:t>
            </a:r>
            <a:r>
              <a:rPr lang="en-US" sz="1600" dirty="0" smtClean="0">
                <a:solidFill>
                  <a:srgbClr val="0000FF"/>
                </a:solidFill>
                <a:ea typeface="Arial" charset="0"/>
                <a:cs typeface="Arial" charset="0"/>
              </a:rPr>
              <a:t>Leland Stanford Junior University</a:t>
            </a:r>
            <a:endParaRPr lang="en-US" sz="1600" dirty="0">
              <a:solidFill>
                <a:srgbClr val="0000FF"/>
              </a:solidFill>
              <a:ea typeface="Arial" charset="0"/>
              <a:cs typeface="Arial" charset="0"/>
            </a:endParaRPr>
          </a:p>
          <a:p>
            <a:pPr marL="39688"/>
            <a:r>
              <a:rPr lang="en-US" sz="1600" dirty="0" smtClean="0">
                <a:solidFill>
                  <a:srgbClr val="008000"/>
                </a:solidFill>
                <a:ea typeface="Arial" charset="0"/>
                <a:cs typeface="Arial" charset="0"/>
              </a:rPr>
              <a:t>Stanford</a:t>
            </a:r>
            <a:r>
              <a:rPr lang="en-US" sz="1600" i="1" dirty="0" smtClean="0">
                <a:solidFill>
                  <a:srgbClr val="008000"/>
                </a:solidFill>
                <a:ea typeface="Arial" charset="0"/>
                <a:cs typeface="Arial" charset="0"/>
              </a:rPr>
              <a:t> </a:t>
            </a:r>
            <a:r>
              <a:rPr lang="en-US" sz="1600" dirty="0" smtClean="0">
                <a:solidFill>
                  <a:srgbClr val="008000"/>
                </a:solidFill>
                <a:ea typeface="Arial" charset="0"/>
                <a:cs typeface="Arial" charset="0"/>
              </a:rPr>
              <a:t>LOC-IN California</a:t>
            </a:r>
          </a:p>
          <a:p>
            <a:pPr marL="39688"/>
            <a:r>
              <a:rPr lang="en-US" sz="1600" dirty="0" smtClean="0">
                <a:solidFill>
                  <a:srgbClr val="660066"/>
                </a:solidFill>
                <a:ea typeface="Arial" charset="0"/>
                <a:cs typeface="Arial" charset="0"/>
              </a:rPr>
              <a:t>Stanford</a:t>
            </a:r>
            <a:r>
              <a:rPr lang="en-US" sz="1600" i="1" dirty="0" smtClean="0">
                <a:solidFill>
                  <a:srgbClr val="660066"/>
                </a:solidFill>
                <a:ea typeface="Arial" charset="0"/>
                <a:cs typeface="Arial" charset="0"/>
              </a:rPr>
              <a:t> </a:t>
            </a:r>
            <a:r>
              <a:rPr lang="en-US" sz="1600" dirty="0" smtClean="0">
                <a:solidFill>
                  <a:srgbClr val="660066"/>
                </a:solidFill>
                <a:ea typeface="Arial" charset="0"/>
                <a:cs typeface="Arial" charset="0"/>
              </a:rPr>
              <a:t>IS</a:t>
            </a:r>
            <a:r>
              <a:rPr lang="en-US" sz="1600" dirty="0">
                <a:solidFill>
                  <a:srgbClr val="660066"/>
                </a:solidFill>
                <a:ea typeface="Arial" charset="0"/>
                <a:cs typeface="Arial" charset="0"/>
              </a:rPr>
              <a:t>-A </a:t>
            </a:r>
            <a:r>
              <a:rPr lang="en-US" sz="1600" dirty="0" smtClean="0">
                <a:solidFill>
                  <a:srgbClr val="660066"/>
                </a:solidFill>
                <a:ea typeface="Arial" charset="0"/>
                <a:cs typeface="Arial" charset="0"/>
              </a:rPr>
              <a:t>research university</a:t>
            </a:r>
            <a:endParaRPr lang="en-US" sz="1600" dirty="0">
              <a:solidFill>
                <a:srgbClr val="660066"/>
              </a:solidFill>
              <a:ea typeface="Arial" charset="0"/>
              <a:cs typeface="Arial" charset="0"/>
            </a:endParaRPr>
          </a:p>
          <a:p>
            <a:pPr marL="39688"/>
            <a:r>
              <a:rPr lang="en-US" sz="1600" dirty="0" smtClean="0">
                <a:solidFill>
                  <a:srgbClr val="FF0000"/>
                </a:solidFill>
                <a:ea typeface="Arial" charset="0"/>
                <a:cs typeface="Arial" charset="0"/>
              </a:rPr>
              <a:t>Stanford</a:t>
            </a:r>
            <a:r>
              <a:rPr lang="en-US" sz="1600" i="1" dirty="0" smtClean="0">
                <a:solidFill>
                  <a:srgbClr val="FF0000"/>
                </a:solidFill>
                <a:ea typeface="Arial" charset="0"/>
                <a:cs typeface="Arial" charset="0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ea typeface="Arial" charset="0"/>
                <a:cs typeface="Arial" charset="0"/>
              </a:rPr>
              <a:t>LOC-NEAR Palo Alto</a:t>
            </a:r>
            <a:endParaRPr lang="en-US" sz="1600" dirty="0">
              <a:solidFill>
                <a:srgbClr val="FF0000"/>
              </a:solidFill>
              <a:ea typeface="Arial" charset="0"/>
              <a:cs typeface="Arial" charset="0"/>
            </a:endParaRPr>
          </a:p>
          <a:p>
            <a:pPr marL="39688"/>
            <a:r>
              <a:rPr lang="en-US" sz="1600" dirty="0" smtClean="0">
                <a:solidFill>
                  <a:srgbClr val="FF6600"/>
                </a:solidFill>
                <a:ea typeface="Arial" charset="0"/>
                <a:cs typeface="Arial" charset="0"/>
              </a:rPr>
              <a:t>Stanford</a:t>
            </a:r>
            <a:r>
              <a:rPr lang="en-US" sz="1600" i="1" dirty="0" smtClean="0">
                <a:solidFill>
                  <a:srgbClr val="FF6600"/>
                </a:solidFill>
                <a:ea typeface="Arial" charset="0"/>
                <a:cs typeface="Arial" charset="0"/>
              </a:rPr>
              <a:t> </a:t>
            </a:r>
            <a:r>
              <a:rPr lang="en-US" sz="1600" dirty="0" smtClean="0">
                <a:solidFill>
                  <a:srgbClr val="FF6600"/>
                </a:solidFill>
                <a:ea typeface="Arial" charset="0"/>
                <a:cs typeface="Arial" charset="0"/>
              </a:rPr>
              <a:t>FOUNDED</a:t>
            </a:r>
            <a:r>
              <a:rPr lang="en-US" sz="1600" dirty="0">
                <a:solidFill>
                  <a:srgbClr val="FF6600"/>
                </a:solidFill>
                <a:ea typeface="Arial" charset="0"/>
                <a:cs typeface="Arial" charset="0"/>
              </a:rPr>
              <a:t>-IN </a:t>
            </a:r>
            <a:r>
              <a:rPr lang="en-US" sz="1600" dirty="0" smtClean="0">
                <a:solidFill>
                  <a:srgbClr val="FF6600"/>
                </a:solidFill>
                <a:ea typeface="Arial" charset="0"/>
                <a:cs typeface="Arial" charset="0"/>
              </a:rPr>
              <a:t>1891</a:t>
            </a:r>
          </a:p>
          <a:p>
            <a:pPr marL="39688"/>
            <a:r>
              <a:rPr lang="en-US" sz="1600" dirty="0" smtClean="0">
                <a:solidFill>
                  <a:srgbClr val="FF6600"/>
                </a:solidFill>
                <a:ea typeface="Arial" charset="0"/>
                <a:cs typeface="Arial" charset="0"/>
              </a:rPr>
              <a:t>Stanford FOUNDER Leland Stanford</a:t>
            </a:r>
            <a:endParaRPr lang="en-US" sz="1600" dirty="0">
              <a:solidFill>
                <a:srgbClr val="FF6600"/>
              </a:solidFill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8768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9" grpId="0" animBg="1"/>
      <p:bldP spid="2" grpId="0"/>
      <p:bldP spid="25600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Relation Extraction?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763000" cy="3333750"/>
          </a:xfrm>
        </p:spPr>
        <p:txBody>
          <a:bodyPr/>
          <a:lstStyle/>
          <a:p>
            <a:r>
              <a:rPr lang="en-US" dirty="0" smtClean="0"/>
              <a:t>Create new structured knowledge bases, useful for any app</a:t>
            </a:r>
          </a:p>
          <a:p>
            <a:r>
              <a:rPr lang="en-US" dirty="0" smtClean="0"/>
              <a:t>Augment current knowledge bases</a:t>
            </a:r>
          </a:p>
          <a:p>
            <a:pPr lvl="1"/>
            <a:r>
              <a:rPr lang="en-US" dirty="0" smtClean="0"/>
              <a:t>Adding words to </a:t>
            </a:r>
            <a:r>
              <a:rPr lang="en-US" dirty="0" err="1" smtClean="0"/>
              <a:t>WordNet</a:t>
            </a:r>
            <a:r>
              <a:rPr lang="en-US" dirty="0" smtClean="0"/>
              <a:t> thesaurus, facts to </a:t>
            </a:r>
            <a:r>
              <a:rPr lang="en-US" dirty="0" err="1" smtClean="0"/>
              <a:t>FreeBase</a:t>
            </a:r>
            <a:r>
              <a:rPr lang="en-US" dirty="0" smtClean="0"/>
              <a:t> or </a:t>
            </a:r>
            <a:r>
              <a:rPr lang="en-US" dirty="0" err="1" smtClean="0"/>
              <a:t>DBPedia</a:t>
            </a:r>
            <a:endParaRPr lang="en-US" dirty="0" smtClean="0"/>
          </a:p>
          <a:p>
            <a:r>
              <a:rPr lang="en-US" dirty="0" smtClean="0"/>
              <a:t>Support question answering</a:t>
            </a:r>
          </a:p>
          <a:p>
            <a:pPr lvl="1"/>
            <a:r>
              <a:rPr lang="en-US" dirty="0" smtClean="0">
                <a:solidFill>
                  <a:srgbClr val="0000FF"/>
                </a:solidFill>
              </a:rPr>
              <a:t>The granddaughter of which actor </a:t>
            </a:r>
            <a:r>
              <a:rPr lang="en-US" dirty="0">
                <a:solidFill>
                  <a:srgbClr val="0000FF"/>
                </a:solidFill>
              </a:rPr>
              <a:t>starred </a:t>
            </a:r>
            <a:r>
              <a:rPr lang="en-US" dirty="0" smtClean="0">
                <a:solidFill>
                  <a:srgbClr val="0000FF"/>
                </a:solidFill>
              </a:rPr>
              <a:t>in the movie “E.T.”?</a:t>
            </a:r>
            <a:endParaRPr lang="en-US" dirty="0">
              <a:solidFill>
                <a:srgbClr val="0000FF"/>
              </a:solidFill>
            </a:endParaRPr>
          </a:p>
          <a:p>
            <a:pPr marL="457200" lvl="1" indent="0">
              <a:buNone/>
            </a:pPr>
            <a:r>
              <a:rPr lang="en-US" sz="1800" dirty="0">
                <a:latin typeface="Courier"/>
                <a:cs typeface="Courier"/>
              </a:rPr>
              <a:t>(acted-in ?x “E.T.”</a:t>
            </a:r>
            <a:r>
              <a:rPr lang="en-US" sz="1800" dirty="0" smtClean="0">
                <a:latin typeface="Courier"/>
                <a:cs typeface="Courier"/>
              </a:rPr>
              <a:t>)(is-a ?y actor)(</a:t>
            </a:r>
            <a:r>
              <a:rPr lang="en-US" sz="1800" dirty="0">
                <a:latin typeface="Courier"/>
                <a:cs typeface="Courier"/>
              </a:rPr>
              <a:t>granddaughter-of ?x ?y</a:t>
            </a:r>
            <a:r>
              <a:rPr lang="en-US" sz="1800" dirty="0" smtClean="0">
                <a:latin typeface="Courier"/>
                <a:cs typeface="Courier"/>
              </a:rPr>
              <a:t>)</a:t>
            </a:r>
          </a:p>
          <a:p>
            <a:r>
              <a:rPr lang="en-US" dirty="0" smtClean="0"/>
              <a:t>But which relations should we extract?</a:t>
            </a:r>
            <a:endParaRPr lang="en-US" dirty="0"/>
          </a:p>
          <a:p>
            <a:pPr marL="457200" lvl="1" indent="0">
              <a:buNone/>
            </a:pPr>
            <a:endParaRPr lang="en-US" sz="1800" dirty="0">
              <a:latin typeface="Courier"/>
              <a:cs typeface="Courier"/>
            </a:endParaRP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91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467600" cy="533400"/>
          </a:xfrm>
        </p:spPr>
        <p:txBody>
          <a:bodyPr/>
          <a:lstStyle/>
          <a:p>
            <a:r>
              <a:rPr lang="en-US" dirty="0" smtClean="0"/>
              <a:t>Automated Content Extraction (ACE)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451523"/>
            <a:ext cx="8343900" cy="36628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0" y="666750"/>
            <a:ext cx="5744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17 relations from 2008 </a:t>
            </a:r>
            <a:r>
              <a:rPr lang="en-US" sz="1800" dirty="0"/>
              <a:t>“Relation Extraction Task</a:t>
            </a:r>
            <a:r>
              <a:rPr lang="en-US" sz="1800" dirty="0" smtClean="0"/>
              <a:t>”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28993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Automated Content Extraction (ACE)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Physical-Located            </a:t>
            </a:r>
            <a:r>
              <a:rPr lang="en-US" dirty="0" smtClean="0">
                <a:solidFill>
                  <a:srgbClr val="008000"/>
                </a:solidFill>
              </a:rPr>
              <a:t>PER-GPE</a:t>
            </a:r>
          </a:p>
          <a:p>
            <a:pPr marL="457200" lvl="1" indent="0">
              <a:buNone/>
            </a:pPr>
            <a:r>
              <a:rPr lang="en-US" dirty="0">
                <a:latin typeface="Courier"/>
                <a:cs typeface="Courier"/>
              </a:rPr>
              <a:t> </a:t>
            </a:r>
            <a:r>
              <a:rPr lang="en-US" dirty="0" smtClean="0">
                <a:latin typeface="Courier"/>
                <a:cs typeface="Courier"/>
              </a:rPr>
              <a:t>	</a:t>
            </a:r>
            <a:r>
              <a:rPr lang="en-US" dirty="0" smtClean="0">
                <a:solidFill>
                  <a:srgbClr val="0000FF"/>
                </a:solidFill>
                <a:latin typeface="Courier"/>
                <a:cs typeface="Courier"/>
              </a:rPr>
              <a:t>He</a:t>
            </a:r>
            <a:r>
              <a:rPr lang="en-US" dirty="0" smtClean="0">
                <a:latin typeface="Courier"/>
                <a:cs typeface="Courier"/>
              </a:rPr>
              <a:t> was in </a:t>
            </a:r>
            <a:r>
              <a:rPr lang="en-US" dirty="0" smtClean="0">
                <a:solidFill>
                  <a:srgbClr val="0000FF"/>
                </a:solidFill>
                <a:latin typeface="Courier"/>
                <a:cs typeface="Courier"/>
              </a:rPr>
              <a:t>Tennessee</a:t>
            </a:r>
            <a:endParaRPr lang="en-US" dirty="0" smtClean="0">
              <a:latin typeface="Courier"/>
              <a:cs typeface="Courier"/>
            </a:endParaRPr>
          </a:p>
          <a:p>
            <a:r>
              <a:rPr lang="en-US" dirty="0" smtClean="0"/>
              <a:t>Part-Whole-Subsidiary  </a:t>
            </a:r>
            <a:r>
              <a:rPr lang="en-US" dirty="0" smtClean="0">
                <a:solidFill>
                  <a:srgbClr val="008000"/>
                </a:solidFill>
              </a:rPr>
              <a:t>ORG-ORG</a:t>
            </a:r>
          </a:p>
          <a:p>
            <a:pPr marL="457200" lvl="1" indent="0">
              <a:buNone/>
            </a:pPr>
            <a:r>
              <a:rPr lang="en-US" dirty="0">
                <a:cs typeface="Courier"/>
              </a:rPr>
              <a:t> </a:t>
            </a:r>
            <a:r>
              <a:rPr lang="en-US" dirty="0" smtClean="0">
                <a:cs typeface="Courier"/>
              </a:rPr>
              <a:t>	 </a:t>
            </a:r>
            <a:r>
              <a:rPr lang="en-US" dirty="0" smtClean="0">
                <a:solidFill>
                  <a:srgbClr val="0000FF"/>
                </a:solidFill>
                <a:latin typeface="Courier"/>
                <a:cs typeface="Courier"/>
              </a:rPr>
              <a:t>XYZ</a:t>
            </a:r>
            <a:r>
              <a:rPr lang="en-US" dirty="0" smtClean="0">
                <a:latin typeface="Courier"/>
                <a:cs typeface="Courier"/>
              </a:rPr>
              <a:t>, the parent company of </a:t>
            </a:r>
            <a:r>
              <a:rPr lang="en-US" dirty="0" smtClean="0">
                <a:solidFill>
                  <a:srgbClr val="0000FF"/>
                </a:solidFill>
                <a:latin typeface="Courier"/>
                <a:cs typeface="Courier"/>
              </a:rPr>
              <a:t>ABC</a:t>
            </a:r>
            <a:endParaRPr lang="en-US" dirty="0" smtClean="0">
              <a:latin typeface="Courier"/>
              <a:cs typeface="Courier"/>
            </a:endParaRPr>
          </a:p>
          <a:p>
            <a:r>
              <a:rPr lang="en-US" dirty="0" smtClean="0"/>
              <a:t>Person-Social-Family     </a:t>
            </a:r>
            <a:r>
              <a:rPr lang="en-US" dirty="0" smtClean="0">
                <a:solidFill>
                  <a:srgbClr val="008000"/>
                </a:solidFill>
              </a:rPr>
              <a:t>PER-PER</a:t>
            </a:r>
          </a:p>
          <a:p>
            <a:pPr marL="457200" lvl="1" indent="0">
              <a:buNone/>
            </a:pPr>
            <a:r>
              <a:rPr lang="en-US" dirty="0">
                <a:latin typeface="Courier"/>
                <a:cs typeface="Courier"/>
              </a:rPr>
              <a:t> </a:t>
            </a:r>
            <a:r>
              <a:rPr lang="en-US" dirty="0" smtClean="0">
                <a:latin typeface="Courier"/>
                <a:cs typeface="Courier"/>
              </a:rPr>
              <a:t>  </a:t>
            </a:r>
            <a:r>
              <a:rPr lang="en-US" dirty="0" smtClean="0">
                <a:solidFill>
                  <a:srgbClr val="0000FF"/>
                </a:solidFill>
                <a:latin typeface="Courier"/>
                <a:cs typeface="Courier"/>
              </a:rPr>
              <a:t>John’s</a:t>
            </a:r>
            <a:r>
              <a:rPr lang="en-US" dirty="0" smtClean="0">
                <a:latin typeface="Courier"/>
                <a:cs typeface="Courier"/>
              </a:rPr>
              <a:t> wife </a:t>
            </a:r>
            <a:r>
              <a:rPr lang="en-US" dirty="0" smtClean="0">
                <a:solidFill>
                  <a:srgbClr val="0000FF"/>
                </a:solidFill>
                <a:latin typeface="Courier"/>
                <a:cs typeface="Courier"/>
              </a:rPr>
              <a:t>Yoko</a:t>
            </a:r>
            <a:endParaRPr lang="en-US" dirty="0" smtClean="0">
              <a:latin typeface="Courier"/>
              <a:cs typeface="Courier"/>
            </a:endParaRPr>
          </a:p>
          <a:p>
            <a:r>
              <a:rPr lang="en-US" dirty="0" smtClean="0"/>
              <a:t>Org-AFF-Founder           </a:t>
            </a:r>
            <a:r>
              <a:rPr lang="en-US" dirty="0" smtClean="0">
                <a:solidFill>
                  <a:srgbClr val="008000"/>
                </a:solidFill>
              </a:rPr>
              <a:t>PER-ORG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rgbClr val="0000FF"/>
                </a:solidFill>
                <a:latin typeface="Courier"/>
                <a:cs typeface="Courier"/>
              </a:rPr>
              <a:t>	Steve Jobs</a:t>
            </a:r>
            <a:r>
              <a:rPr lang="en-US" dirty="0" smtClean="0">
                <a:latin typeface="Courier"/>
                <a:cs typeface="Courier"/>
              </a:rPr>
              <a:t>, co-founder of </a:t>
            </a:r>
            <a:r>
              <a:rPr lang="en-US" dirty="0" smtClean="0">
                <a:solidFill>
                  <a:srgbClr val="0000FF"/>
                </a:solidFill>
                <a:latin typeface="Courier"/>
                <a:cs typeface="Courier"/>
              </a:rPr>
              <a:t>Apple</a:t>
            </a:r>
            <a:r>
              <a:rPr lang="en-US" dirty="0" smtClean="0">
                <a:latin typeface="Courier"/>
                <a:cs typeface="Courier"/>
              </a:rPr>
              <a:t>…</a:t>
            </a:r>
          </a:p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7A63A-31A1-2C4C-95AA-A445DBCAB17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33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33350"/>
            <a:ext cx="7696200" cy="742950"/>
          </a:xfrm>
        </p:spPr>
        <p:txBody>
          <a:bodyPr/>
          <a:lstStyle/>
          <a:p>
            <a:r>
              <a:rPr lang="en-US" dirty="0" smtClean="0"/>
              <a:t>UMLS: Unified </a:t>
            </a:r>
            <a:r>
              <a:rPr lang="en-US" dirty="0"/>
              <a:t>Medical Language </a:t>
            </a:r>
            <a:r>
              <a:rPr lang="en-US" dirty="0" smtClean="0"/>
              <a:t>System</a:t>
            </a:r>
            <a:endParaRPr lang="en-US" dirty="0"/>
          </a:p>
        </p:txBody>
      </p:sp>
      <p:sp>
        <p:nvSpPr>
          <p:cNvPr id="5734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250825" y="1323975"/>
            <a:ext cx="8713788" cy="638175"/>
          </a:xfrm>
        </p:spPr>
        <p:txBody>
          <a:bodyPr/>
          <a:lstStyle/>
          <a:p>
            <a:r>
              <a:rPr lang="en-US" sz="2600" dirty="0" smtClean="0"/>
              <a:t>134 entity types, 54 relations</a:t>
            </a:r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304800" y="2190750"/>
            <a:ext cx="8763000" cy="19389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dirty="0" smtClean="0">
                <a:latin typeface="Calibri"/>
                <a:cs typeface="Calibri"/>
              </a:rPr>
              <a:t>Injury			          </a:t>
            </a:r>
            <a:r>
              <a:rPr lang="en-US" dirty="0" smtClean="0">
                <a:solidFill>
                  <a:srgbClr val="0000FF"/>
                </a:solidFill>
                <a:latin typeface="Calibri"/>
                <a:cs typeface="Calibri"/>
              </a:rPr>
              <a:t>disrupts</a:t>
            </a:r>
            <a:r>
              <a:rPr lang="en-US" dirty="0">
                <a:latin typeface="Calibri"/>
                <a:cs typeface="Calibri"/>
              </a:rPr>
              <a:t>	</a:t>
            </a:r>
            <a:r>
              <a:rPr lang="en-US" dirty="0" smtClean="0">
                <a:latin typeface="Calibri"/>
                <a:cs typeface="Calibri"/>
              </a:rPr>
              <a:t>	Physiological Function</a:t>
            </a:r>
            <a:endParaRPr lang="en-US" dirty="0">
              <a:latin typeface="Calibri"/>
              <a:cs typeface="Calibri"/>
            </a:endParaRPr>
          </a:p>
          <a:p>
            <a:r>
              <a:rPr lang="en-US" dirty="0" smtClean="0">
                <a:latin typeface="Calibri"/>
                <a:cs typeface="Calibri"/>
              </a:rPr>
              <a:t>Bodily Location	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smtClean="0">
                <a:latin typeface="Calibri"/>
                <a:cs typeface="Calibri"/>
              </a:rPr>
              <a:t>         </a:t>
            </a:r>
            <a:r>
              <a:rPr lang="en-US" dirty="0" smtClean="0">
                <a:solidFill>
                  <a:srgbClr val="0000FF"/>
                </a:solidFill>
                <a:latin typeface="Calibri"/>
                <a:cs typeface="Calibri"/>
              </a:rPr>
              <a:t>location-of</a:t>
            </a:r>
            <a:r>
              <a:rPr lang="en-US" dirty="0">
                <a:latin typeface="Calibri"/>
                <a:cs typeface="Calibri"/>
              </a:rPr>
              <a:t>	</a:t>
            </a:r>
            <a:r>
              <a:rPr lang="en-US" dirty="0" smtClean="0">
                <a:latin typeface="Calibri"/>
                <a:cs typeface="Calibri"/>
              </a:rPr>
              <a:t>Biologic Function</a:t>
            </a:r>
            <a:endParaRPr lang="en-US" dirty="0">
              <a:latin typeface="Calibri"/>
              <a:cs typeface="Calibri"/>
            </a:endParaRPr>
          </a:p>
          <a:p>
            <a:r>
              <a:rPr lang="en-US" dirty="0" smtClean="0">
                <a:latin typeface="Calibri"/>
                <a:cs typeface="Calibri"/>
              </a:rPr>
              <a:t>Anatomical Structure	          </a:t>
            </a:r>
            <a:r>
              <a:rPr lang="en-US" dirty="0" smtClean="0">
                <a:solidFill>
                  <a:srgbClr val="0000FF"/>
                </a:solidFill>
                <a:latin typeface="Calibri"/>
                <a:cs typeface="Calibri"/>
              </a:rPr>
              <a:t>part-of</a:t>
            </a:r>
            <a:r>
              <a:rPr lang="en-US" dirty="0">
                <a:latin typeface="Calibri"/>
                <a:cs typeface="Calibri"/>
              </a:rPr>
              <a:t>	</a:t>
            </a:r>
            <a:r>
              <a:rPr lang="en-US" dirty="0" smtClean="0">
                <a:latin typeface="Calibri"/>
                <a:cs typeface="Calibri"/>
              </a:rPr>
              <a:t>	Organism</a:t>
            </a:r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Pharmacologic Substance    </a:t>
            </a:r>
            <a:r>
              <a:rPr lang="en-US" dirty="0" smtClean="0">
                <a:solidFill>
                  <a:srgbClr val="0000FF"/>
                </a:solidFill>
                <a:latin typeface="Calibri"/>
                <a:cs typeface="Calibri"/>
              </a:rPr>
              <a:t>causes</a:t>
            </a:r>
            <a:r>
              <a:rPr lang="en-US" dirty="0" smtClean="0">
                <a:latin typeface="Calibri"/>
                <a:cs typeface="Calibri"/>
              </a:rPr>
              <a:t>		Pathological Function</a:t>
            </a:r>
            <a:endParaRPr lang="en-US" dirty="0">
              <a:latin typeface="Calibri"/>
              <a:cs typeface="Calibri"/>
            </a:endParaRPr>
          </a:p>
          <a:p>
            <a:r>
              <a:rPr lang="en-US" dirty="0" smtClean="0">
                <a:latin typeface="Calibri"/>
                <a:cs typeface="Calibri"/>
              </a:rPr>
              <a:t>Pharmacologic </a:t>
            </a:r>
            <a:r>
              <a:rPr lang="en-US" dirty="0">
                <a:latin typeface="Calibri"/>
                <a:cs typeface="Calibri"/>
              </a:rPr>
              <a:t>Substance    </a:t>
            </a:r>
            <a:r>
              <a:rPr lang="en-US" dirty="0" smtClean="0">
                <a:solidFill>
                  <a:srgbClr val="0000FF"/>
                </a:solidFill>
                <a:latin typeface="Calibri"/>
                <a:cs typeface="Calibri"/>
              </a:rPr>
              <a:t>treats</a:t>
            </a:r>
            <a:r>
              <a:rPr lang="en-US" dirty="0" smtClean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	</a:t>
            </a:r>
            <a:r>
              <a:rPr lang="en-US" dirty="0" smtClean="0">
                <a:latin typeface="Calibri"/>
                <a:cs typeface="Calibri"/>
              </a:rPr>
              <a:t>	Pathologic </a:t>
            </a:r>
            <a:r>
              <a:rPr lang="en-US" dirty="0">
                <a:latin typeface="Calibri"/>
                <a:cs typeface="Calibri"/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37149457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33350"/>
            <a:ext cx="7467600" cy="609600"/>
          </a:xfrm>
        </p:spPr>
        <p:txBody>
          <a:bodyPr/>
          <a:lstStyle/>
          <a:p>
            <a:r>
              <a:rPr lang="en-US" dirty="0" smtClean="0"/>
              <a:t>Databases of Wikipedia</a:t>
            </a:r>
            <a:r>
              <a:rPr lang="en-US" dirty="0"/>
              <a:t> </a:t>
            </a:r>
            <a:r>
              <a:rPr lang="en-US" dirty="0" smtClean="0"/>
              <a:t>Relations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 descr="stanfordwiki2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00150"/>
            <a:ext cx="4267200" cy="3833418"/>
          </a:xfrm>
          <a:prstGeom prst="rect">
            <a:avLst/>
          </a:prstGeom>
        </p:spPr>
      </p:pic>
      <p:pic>
        <p:nvPicPr>
          <p:cNvPr id="7" name="Picture 6" descr="infobox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187264"/>
            <a:ext cx="6303992" cy="39498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70774" y="1047750"/>
            <a:ext cx="426052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+mn-lt"/>
              </a:rPr>
              <a:t>Relations extracted from </a:t>
            </a:r>
            <a:r>
              <a:rPr lang="en-US" sz="1800" dirty="0" err="1" smtClean="0">
                <a:latin typeface="+mn-lt"/>
              </a:rPr>
              <a:t>Infobox</a:t>
            </a:r>
            <a:endParaRPr lang="en-US" sz="1800" dirty="0" smtClean="0">
              <a:latin typeface="+mn-lt"/>
            </a:endParaRPr>
          </a:p>
          <a:p>
            <a:r>
              <a:rPr lang="en-US" sz="1800" dirty="0" smtClean="0">
                <a:latin typeface="+mn-lt"/>
              </a:rPr>
              <a:t>Stanford </a:t>
            </a:r>
            <a:r>
              <a:rPr lang="en-US" sz="1800" dirty="0" smtClean="0">
                <a:solidFill>
                  <a:srgbClr val="0000FF"/>
                </a:solidFill>
                <a:latin typeface="+mn-lt"/>
              </a:rPr>
              <a:t>state </a:t>
            </a:r>
            <a:r>
              <a:rPr lang="en-US" sz="1800" dirty="0" smtClean="0">
                <a:latin typeface="+mn-lt"/>
              </a:rPr>
              <a:t>California</a:t>
            </a:r>
          </a:p>
          <a:p>
            <a:r>
              <a:rPr lang="en-US" sz="1800" dirty="0" smtClean="0">
                <a:latin typeface="+mn-lt"/>
              </a:rPr>
              <a:t>Stanford </a:t>
            </a:r>
            <a:r>
              <a:rPr lang="en-US" sz="1800" dirty="0" smtClean="0">
                <a:solidFill>
                  <a:srgbClr val="0000FF"/>
                </a:solidFill>
                <a:latin typeface="+mn-lt"/>
              </a:rPr>
              <a:t>motto</a:t>
            </a:r>
            <a:r>
              <a:rPr lang="en-US" sz="1800" dirty="0" smtClean="0">
                <a:latin typeface="+mn-lt"/>
              </a:rPr>
              <a:t> “Die </a:t>
            </a:r>
            <a:r>
              <a:rPr lang="en-US" sz="1800" dirty="0" err="1" smtClean="0">
                <a:latin typeface="+mn-lt"/>
              </a:rPr>
              <a:t>Luft</a:t>
            </a:r>
            <a:r>
              <a:rPr lang="en-US" sz="1800" dirty="0" smtClean="0">
                <a:latin typeface="+mn-lt"/>
              </a:rPr>
              <a:t> der </a:t>
            </a:r>
            <a:r>
              <a:rPr lang="en-US" sz="1800" dirty="0" err="1" smtClean="0">
                <a:latin typeface="+mn-lt"/>
              </a:rPr>
              <a:t>Freiheit</a:t>
            </a:r>
            <a:r>
              <a:rPr lang="en-US" sz="1800" dirty="0" smtClean="0">
                <a:latin typeface="+mn-lt"/>
              </a:rPr>
              <a:t> </a:t>
            </a:r>
            <a:r>
              <a:rPr lang="en-US" sz="1800" dirty="0" err="1" smtClean="0">
                <a:latin typeface="+mn-lt"/>
              </a:rPr>
              <a:t>weht</a:t>
            </a:r>
            <a:r>
              <a:rPr lang="en-US" sz="1800" dirty="0" smtClean="0">
                <a:latin typeface="+mn-lt"/>
              </a:rPr>
              <a:t>”</a:t>
            </a:r>
          </a:p>
          <a:p>
            <a:r>
              <a:rPr lang="en-US" sz="1800" dirty="0" smtClean="0">
                <a:latin typeface="+mn-lt"/>
              </a:rPr>
              <a:t>…</a:t>
            </a:r>
            <a:endParaRPr lang="en-US" sz="1800" dirty="0">
              <a:latin typeface="+mn-lt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276600" y="1733550"/>
            <a:ext cx="1295400" cy="3276600"/>
          </a:xfrm>
          <a:prstGeom prst="rect">
            <a:avLst/>
          </a:prstGeom>
          <a:noFill/>
          <a:ln w="50800" cap="flat" cmpd="sng" algn="ctr">
            <a:solidFill>
              <a:srgbClr val="FF0000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4600" y="895350"/>
            <a:ext cx="2531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CC0000"/>
                </a:solidFill>
                <a:latin typeface="+mn-lt"/>
              </a:rPr>
              <a:t>Wikipedia </a:t>
            </a:r>
            <a:r>
              <a:rPr lang="en-US" b="1" dirty="0" err="1" smtClean="0">
                <a:solidFill>
                  <a:srgbClr val="CC0000"/>
                </a:solidFill>
                <a:latin typeface="+mn-lt"/>
              </a:rPr>
              <a:t>Infobox</a:t>
            </a:r>
            <a:endParaRPr lang="en-US" b="1" dirty="0">
              <a:solidFill>
                <a:srgbClr val="CC0000"/>
              </a:solidFill>
              <a:latin typeface="+mn-lt"/>
            </a:endParaRPr>
          </a:p>
        </p:txBody>
      </p:sp>
      <p:pic>
        <p:nvPicPr>
          <p:cNvPr id="6" name="Content Placeholder 5" descr="stanford3.png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55" b="21955"/>
          <a:stretch>
            <a:fillRect/>
          </a:stretch>
        </p:blipFill>
        <p:spPr>
          <a:xfrm>
            <a:off x="2743200" y="1790700"/>
            <a:ext cx="2971800" cy="3333750"/>
          </a:xfrm>
        </p:spPr>
      </p:pic>
    </p:spTree>
    <p:extLst>
      <p:ext uri="{BB962C8B-B14F-4D97-AF65-F5344CB8AC3E}">
        <p14:creationId xmlns:p14="http://schemas.microsoft.com/office/powerpoint/2010/main" val="127607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"/>
                            </p:stCondLst>
                            <p:childTnLst>
                              <p:par>
                                <p:cTn id="2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9" grpId="1" animBg="1"/>
      <p:bldP spid="10" grpId="0"/>
      <p:bldP spid="1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 databases </a:t>
            </a:r>
            <a:br>
              <a:rPr lang="en-US" dirty="0" smtClean="0"/>
            </a:br>
            <a:r>
              <a:rPr lang="en-US" dirty="0" smtClean="0"/>
              <a:t>that draw from Wikipedia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52550"/>
            <a:ext cx="8839200" cy="3333750"/>
          </a:xfrm>
        </p:spPr>
        <p:txBody>
          <a:bodyPr/>
          <a:lstStyle/>
          <a:p>
            <a:r>
              <a:rPr lang="en-US" dirty="0" smtClean="0"/>
              <a:t>Resource Description Framework (RDF) triples</a:t>
            </a:r>
          </a:p>
          <a:p>
            <a:pPr marL="457200" lvl="1" indent="0">
              <a:buNone/>
            </a:pPr>
            <a:r>
              <a:rPr lang="en-US" dirty="0"/>
              <a:t>s</a:t>
            </a:r>
            <a:r>
              <a:rPr lang="en-US" dirty="0" smtClean="0"/>
              <a:t>ubject predicate</a:t>
            </a:r>
            <a:r>
              <a:rPr lang="en-US" dirty="0"/>
              <a:t> </a:t>
            </a:r>
            <a:r>
              <a:rPr lang="en-US" dirty="0" smtClean="0"/>
              <a:t>object</a:t>
            </a:r>
          </a:p>
          <a:p>
            <a:pPr marL="457200" lvl="1" indent="0">
              <a:buNone/>
            </a:pPr>
            <a:r>
              <a:rPr lang="en-US" dirty="0" smtClean="0">
                <a:latin typeface="Courier"/>
                <a:cs typeface="Courier"/>
              </a:rPr>
              <a:t>Golden Gate Park </a:t>
            </a:r>
            <a:r>
              <a:rPr lang="en-US" dirty="0" smtClean="0">
                <a:solidFill>
                  <a:srgbClr val="0000FF"/>
                </a:solidFill>
                <a:latin typeface="Courier"/>
                <a:cs typeface="Courier"/>
              </a:rPr>
              <a:t>location </a:t>
            </a:r>
            <a:r>
              <a:rPr lang="en-US" dirty="0" smtClean="0">
                <a:latin typeface="Courier"/>
                <a:cs typeface="Courier"/>
              </a:rPr>
              <a:t>San Francisco</a:t>
            </a:r>
          </a:p>
          <a:p>
            <a:pPr marL="457200" lvl="1" indent="0">
              <a:buNone/>
            </a:pPr>
            <a:r>
              <a:rPr lang="en-US" dirty="0" err="1">
                <a:latin typeface="Calibri"/>
                <a:cs typeface="Calibri"/>
              </a:rPr>
              <a:t>dbpedia:Golden_Gate_Park</a:t>
            </a:r>
            <a:r>
              <a:rPr lang="en-US" dirty="0">
                <a:latin typeface="Calibri"/>
                <a:cs typeface="Calibri"/>
              </a:rPr>
              <a:t> </a:t>
            </a:r>
            <a:r>
              <a:rPr lang="en-US" dirty="0" smtClean="0">
                <a:latin typeface="Calibri"/>
                <a:cs typeface="Calibri"/>
              </a:rPr>
              <a:t>  </a:t>
            </a:r>
            <a:r>
              <a:rPr lang="en-US" dirty="0" err="1" smtClean="0">
                <a:solidFill>
                  <a:srgbClr val="0000FF"/>
                </a:solidFill>
                <a:latin typeface="Calibri"/>
                <a:cs typeface="Calibri"/>
              </a:rPr>
              <a:t>dbpedia</a:t>
            </a:r>
            <a:r>
              <a:rPr lang="en-US" dirty="0" err="1">
                <a:solidFill>
                  <a:srgbClr val="0000FF"/>
                </a:solidFill>
                <a:latin typeface="Calibri"/>
                <a:cs typeface="Calibri"/>
              </a:rPr>
              <a:t>-</a:t>
            </a:r>
            <a:r>
              <a:rPr lang="en-US" dirty="0" err="1" smtClean="0">
                <a:solidFill>
                  <a:srgbClr val="0000FF"/>
                </a:solidFill>
                <a:latin typeface="Calibri"/>
                <a:cs typeface="Calibri"/>
              </a:rPr>
              <a:t>owl:location</a:t>
            </a:r>
            <a:r>
              <a:rPr lang="en-US" dirty="0" smtClean="0">
                <a:solidFill>
                  <a:srgbClr val="0000FF"/>
                </a:solidFill>
                <a:latin typeface="Calibri"/>
                <a:cs typeface="Calibri"/>
              </a:rPr>
              <a:t>   </a:t>
            </a:r>
            <a:r>
              <a:rPr lang="en-US" dirty="0" err="1" smtClean="0">
                <a:latin typeface="Calibri"/>
                <a:cs typeface="Calibri"/>
              </a:rPr>
              <a:t>dbpedia:San_Francisco</a:t>
            </a:r>
            <a:endParaRPr lang="en-US" dirty="0" smtClean="0">
              <a:latin typeface="Courier"/>
              <a:cs typeface="Courier"/>
            </a:endParaRPr>
          </a:p>
          <a:p>
            <a:r>
              <a:rPr lang="en-US" dirty="0" err="1" smtClean="0"/>
              <a:t>DBPedia</a:t>
            </a:r>
            <a:r>
              <a:rPr lang="en-US" dirty="0" smtClean="0"/>
              <a:t>: 1 billion RDF triples, 385 from English Wikipedia</a:t>
            </a:r>
          </a:p>
          <a:p>
            <a:r>
              <a:rPr lang="en-US" dirty="0" smtClean="0"/>
              <a:t>Frequent Freebase relations:</a:t>
            </a:r>
          </a:p>
          <a:p>
            <a:pPr marL="800100" lvl="2" indent="0">
              <a:lnSpc>
                <a:spcPct val="80000"/>
              </a:lnSpc>
              <a:buNone/>
            </a:pPr>
            <a:r>
              <a:rPr lang="en-US" sz="1800" dirty="0" smtClean="0"/>
              <a:t>people</a:t>
            </a:r>
            <a:r>
              <a:rPr lang="en-US" sz="1800" dirty="0"/>
              <a:t>/person/</a:t>
            </a:r>
            <a:r>
              <a:rPr lang="en-US" sz="1800" dirty="0" smtClean="0"/>
              <a:t>nationality,                                location</a:t>
            </a:r>
            <a:r>
              <a:rPr lang="en-US" sz="1800" dirty="0"/>
              <a:t>/location/contains	</a:t>
            </a:r>
          </a:p>
          <a:p>
            <a:pPr marL="800100" lvl="2" indent="0">
              <a:lnSpc>
                <a:spcPct val="80000"/>
              </a:lnSpc>
              <a:buNone/>
            </a:pPr>
            <a:r>
              <a:rPr lang="en-US" sz="1800" dirty="0" smtClean="0"/>
              <a:t>people</a:t>
            </a:r>
            <a:r>
              <a:rPr lang="en-US" sz="1800" dirty="0"/>
              <a:t>/person/</a:t>
            </a:r>
            <a:r>
              <a:rPr lang="en-US" sz="1800" dirty="0" smtClean="0"/>
              <a:t>profession,                                 people</a:t>
            </a:r>
            <a:r>
              <a:rPr lang="en-US" sz="1800" dirty="0"/>
              <a:t>/person/place-of-birth	</a:t>
            </a:r>
            <a:endParaRPr lang="en-US" sz="1800" dirty="0" smtClean="0"/>
          </a:p>
          <a:p>
            <a:pPr marL="800100" lvl="2" indent="0">
              <a:lnSpc>
                <a:spcPct val="80000"/>
              </a:lnSpc>
              <a:buNone/>
            </a:pPr>
            <a:r>
              <a:rPr lang="en-US" sz="1800" dirty="0"/>
              <a:t>b</a:t>
            </a:r>
            <a:r>
              <a:rPr lang="en-US" sz="1800" dirty="0" smtClean="0"/>
              <a:t>iology</a:t>
            </a:r>
            <a:r>
              <a:rPr lang="en-US" sz="1800" dirty="0"/>
              <a:t>/</a:t>
            </a:r>
            <a:r>
              <a:rPr lang="en-US" sz="1800" dirty="0" err="1" smtClean="0"/>
              <a:t>organism_higher_classification</a:t>
            </a:r>
            <a:r>
              <a:rPr lang="en-US" sz="1800" dirty="0" smtClean="0"/>
              <a:t>           film</a:t>
            </a:r>
            <a:r>
              <a:rPr lang="en-US" sz="1800" dirty="0"/>
              <a:t>/film/</a:t>
            </a:r>
            <a:r>
              <a:rPr lang="en-US" sz="1800" dirty="0" smtClean="0"/>
              <a:t>genre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651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228600"/>
            <a:ext cx="7467600" cy="590550"/>
          </a:xfrm>
        </p:spPr>
        <p:txBody>
          <a:bodyPr/>
          <a:lstStyle/>
          <a:p>
            <a:r>
              <a:rPr lang="en-US" dirty="0" smtClean="0"/>
              <a:t>Ontological relations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352550"/>
            <a:ext cx="8534400" cy="3657600"/>
          </a:xfrm>
        </p:spPr>
        <p:txBody>
          <a:bodyPr/>
          <a:lstStyle/>
          <a:p>
            <a:r>
              <a:rPr lang="en-US" sz="2800" dirty="0" smtClean="0">
                <a:solidFill>
                  <a:srgbClr val="0000FF"/>
                </a:solidFill>
              </a:rPr>
              <a:t>IS-A (</a:t>
            </a:r>
            <a:r>
              <a:rPr lang="en-US" sz="2800" dirty="0" err="1" smtClean="0">
                <a:solidFill>
                  <a:srgbClr val="0000FF"/>
                </a:solidFill>
              </a:rPr>
              <a:t>hypernym</a:t>
            </a:r>
            <a:r>
              <a:rPr lang="en-US" sz="2800" dirty="0" smtClean="0">
                <a:solidFill>
                  <a:srgbClr val="0000FF"/>
                </a:solidFill>
              </a:rPr>
              <a:t>): </a:t>
            </a:r>
            <a:r>
              <a:rPr lang="en-US" sz="2800" dirty="0" err="1" smtClean="0">
                <a:solidFill>
                  <a:srgbClr val="0000FF"/>
                </a:solidFill>
              </a:rPr>
              <a:t>subsumption</a:t>
            </a:r>
            <a:r>
              <a:rPr lang="en-US" sz="2800" dirty="0" smtClean="0">
                <a:solidFill>
                  <a:srgbClr val="0000FF"/>
                </a:solidFill>
              </a:rPr>
              <a:t> between classes</a:t>
            </a:r>
          </a:p>
          <a:p>
            <a:pPr lvl="1"/>
            <a:r>
              <a:rPr lang="en-US" sz="2800" dirty="0" smtClean="0">
                <a:latin typeface="Courier"/>
                <a:cs typeface="Courier"/>
              </a:rPr>
              <a:t>Giraffe</a:t>
            </a: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0000FF"/>
                </a:solidFill>
              </a:rPr>
              <a:t>IS-A </a:t>
            </a:r>
            <a:r>
              <a:rPr lang="en-US" sz="2800" dirty="0" smtClean="0">
                <a:latin typeface="Courier"/>
                <a:cs typeface="Courier"/>
              </a:rPr>
              <a:t>ruminant</a:t>
            </a: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0000FF"/>
                </a:solidFill>
              </a:rPr>
              <a:t>IS-A</a:t>
            </a:r>
            <a:r>
              <a:rPr lang="en-US" sz="2800" dirty="0" smtClean="0"/>
              <a:t> </a:t>
            </a:r>
            <a:r>
              <a:rPr lang="en-US" sz="2800" dirty="0" smtClean="0">
                <a:latin typeface="Courier"/>
                <a:cs typeface="Courier"/>
              </a:rPr>
              <a:t>ungulate</a:t>
            </a: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0000FF"/>
                </a:solidFill>
              </a:rPr>
              <a:t>IS-A</a:t>
            </a:r>
            <a:r>
              <a:rPr lang="en-US" sz="2800" dirty="0" smtClean="0"/>
              <a:t> </a:t>
            </a:r>
            <a:r>
              <a:rPr lang="en-US" sz="2800" dirty="0" smtClean="0">
                <a:latin typeface="Courier"/>
                <a:cs typeface="Courier"/>
              </a:rPr>
              <a:t>mammal</a:t>
            </a: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0000FF"/>
                </a:solidFill>
              </a:rPr>
              <a:t>IS-A </a:t>
            </a:r>
            <a:r>
              <a:rPr lang="en-US" sz="2800" dirty="0" smtClean="0">
                <a:latin typeface="Courier"/>
                <a:cs typeface="Courier"/>
              </a:rPr>
              <a:t>vertebrate</a:t>
            </a: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0000FF"/>
                </a:solidFill>
              </a:rPr>
              <a:t>IS-A </a:t>
            </a:r>
            <a:r>
              <a:rPr lang="en-US" sz="2800" dirty="0" smtClean="0">
                <a:latin typeface="Courier"/>
                <a:cs typeface="Courier"/>
              </a:rPr>
              <a:t>animal</a:t>
            </a:r>
            <a:r>
              <a:rPr lang="en-US" sz="2800" dirty="0" smtClean="0"/>
              <a:t>… </a:t>
            </a:r>
          </a:p>
          <a:p>
            <a:pPr lvl="2"/>
            <a:endParaRPr lang="en-US" sz="2400" dirty="0" smtClean="0">
              <a:solidFill>
                <a:srgbClr val="0000FF"/>
              </a:solidFill>
            </a:endParaRPr>
          </a:p>
          <a:p>
            <a:r>
              <a:rPr lang="en-US" sz="2800" dirty="0" smtClean="0">
                <a:solidFill>
                  <a:srgbClr val="0000FF"/>
                </a:solidFill>
              </a:rPr>
              <a:t>Instance-of: relation between individual and class</a:t>
            </a:r>
          </a:p>
          <a:p>
            <a:pPr lvl="1"/>
            <a:r>
              <a:rPr lang="en-US" sz="2800" dirty="0">
                <a:latin typeface="Courier"/>
                <a:cs typeface="Courier"/>
              </a:rPr>
              <a:t>San Francisco </a:t>
            </a:r>
            <a:r>
              <a:rPr lang="en-US" sz="2800" dirty="0">
                <a:solidFill>
                  <a:srgbClr val="0000FF"/>
                </a:solidFill>
              </a:rPr>
              <a:t>instance-of    </a:t>
            </a:r>
            <a:r>
              <a:rPr lang="en-US" sz="2800" dirty="0">
                <a:latin typeface="Courier"/>
                <a:cs typeface="Courier"/>
              </a:rPr>
              <a:t>city</a:t>
            </a:r>
          </a:p>
          <a:p>
            <a:pPr marL="114300" indent="0">
              <a:buNone/>
            </a:pPr>
            <a:endParaRPr lang="en-US" sz="2800" dirty="0" smtClean="0">
              <a:solidFill>
                <a:srgbClr val="0000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59000" y="907018"/>
            <a:ext cx="3883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+mn-lt"/>
              </a:rPr>
              <a:t>Examples from the </a:t>
            </a:r>
            <a:r>
              <a:rPr lang="en-US" sz="1800" dirty="0" err="1" smtClean="0">
                <a:latin typeface="+mn-lt"/>
              </a:rPr>
              <a:t>WordNet</a:t>
            </a:r>
            <a:r>
              <a:rPr lang="en-US" sz="1800" dirty="0" smtClean="0">
                <a:latin typeface="+mn-lt"/>
              </a:rPr>
              <a:t> Thesaurus</a:t>
            </a:r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83367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285750"/>
            <a:ext cx="7543800" cy="857250"/>
          </a:xfrm>
        </p:spPr>
        <p:txBody>
          <a:bodyPr/>
          <a:lstStyle/>
          <a:p>
            <a:r>
              <a:rPr lang="en-US" sz="3600" dirty="0" smtClean="0"/>
              <a:t>How to build relation extractors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742950" indent="-742950">
              <a:lnSpc>
                <a:spcPct val="90000"/>
              </a:lnSpc>
              <a:buFont typeface="+mj-lt"/>
              <a:buAutoNum type="arabicPeriod"/>
            </a:pPr>
            <a:r>
              <a:rPr lang="en-US" sz="3600" dirty="0">
                <a:latin typeface="Calibri"/>
                <a:cs typeface="Calibri"/>
              </a:rPr>
              <a:t>Hand</a:t>
            </a:r>
            <a:r>
              <a:rPr lang="en-US" sz="3600" dirty="0" smtClean="0">
                <a:latin typeface="Calibri"/>
                <a:cs typeface="Calibri"/>
              </a:rPr>
              <a:t>-written patterns</a:t>
            </a:r>
            <a:endParaRPr lang="en-US" sz="3600" dirty="0">
              <a:latin typeface="Calibri"/>
              <a:cs typeface="Calibri"/>
            </a:endParaRPr>
          </a:p>
          <a:p>
            <a:pPr marL="742950" indent="-742950">
              <a:lnSpc>
                <a:spcPct val="90000"/>
              </a:lnSpc>
              <a:buFont typeface="+mj-lt"/>
              <a:buAutoNum type="arabicPeriod"/>
            </a:pPr>
            <a:r>
              <a:rPr lang="en-US" sz="3600" dirty="0" smtClean="0"/>
              <a:t>Supervised machine learning</a:t>
            </a:r>
            <a:endParaRPr lang="en-US" sz="3600" dirty="0"/>
          </a:p>
          <a:p>
            <a:pPr marL="742950" indent="-742950">
              <a:lnSpc>
                <a:spcPct val="90000"/>
              </a:lnSpc>
              <a:buFont typeface="+mj-lt"/>
              <a:buAutoNum type="arabicPeriod"/>
            </a:pPr>
            <a:r>
              <a:rPr lang="en-US" sz="3600" dirty="0" smtClean="0"/>
              <a:t>Semi-supervised and unsupervised </a:t>
            </a:r>
            <a:endParaRPr lang="en-US" sz="3600" dirty="0"/>
          </a:p>
          <a:p>
            <a:pPr marL="1085850" lvl="1" indent="-742950">
              <a:lnSpc>
                <a:spcPct val="90000"/>
              </a:lnSpc>
            </a:pPr>
            <a:r>
              <a:rPr lang="en-US" sz="3200" dirty="0" smtClean="0"/>
              <a:t>Bootstrapping (using seeds)</a:t>
            </a:r>
            <a:endParaRPr lang="en-US" sz="3200" dirty="0">
              <a:cs typeface="Calibri"/>
            </a:endParaRPr>
          </a:p>
          <a:p>
            <a:pPr marL="1085850" lvl="1" indent="-742950">
              <a:lnSpc>
                <a:spcPct val="90000"/>
              </a:lnSpc>
            </a:pPr>
            <a:r>
              <a:rPr lang="en-US" sz="3200" dirty="0" smtClean="0">
                <a:latin typeface="Calibri"/>
                <a:cs typeface="Calibri"/>
              </a:rPr>
              <a:t>Distant supervision</a:t>
            </a:r>
          </a:p>
          <a:p>
            <a:pPr marL="1085850" lvl="1" indent="-742950">
              <a:lnSpc>
                <a:spcPct val="90000"/>
              </a:lnSpc>
            </a:pPr>
            <a:r>
              <a:rPr lang="en-US" sz="3200" dirty="0">
                <a:cs typeface="Calibri"/>
              </a:rPr>
              <a:t>Unsupervised </a:t>
            </a:r>
            <a:r>
              <a:rPr lang="en-US" sz="3200" dirty="0" smtClean="0">
                <a:cs typeface="Calibri"/>
              </a:rPr>
              <a:t>learning from the web</a:t>
            </a:r>
            <a:endParaRPr lang="en-US" sz="3200" dirty="0">
              <a:cs typeface="Calibri"/>
            </a:endParaRPr>
          </a:p>
          <a:p>
            <a:pPr marL="742950" indent="-742950">
              <a:buFont typeface="+mj-lt"/>
              <a:buAutoNum type="arabicPeriod"/>
            </a:pPr>
            <a:endParaRPr lang="en-US" sz="4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222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 smtClean="0">
                <a:latin typeface="Calibri (Headings)"/>
                <a:cs typeface="Calibri (Headings)"/>
              </a:rPr>
              <a:t>Relation Extraction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 smtClean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What is relation extraction?</a:t>
            </a:r>
            <a:endParaRPr lang="en-US" sz="3600" dirty="0">
              <a:solidFill>
                <a:srgbClr val="A4001D"/>
              </a:solidFill>
              <a:latin typeface="Calibri"/>
              <a:ea typeface="ＭＳ Ｐゴシック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75336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 smtClean="0">
                <a:latin typeface="Calibri (Headings)"/>
                <a:cs typeface="Calibri (Headings)"/>
              </a:rPr>
              <a:t>Relation Extraction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 smtClean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Using patterns to extract relations</a:t>
            </a:r>
            <a:endParaRPr lang="en-US" sz="3600" dirty="0">
              <a:solidFill>
                <a:srgbClr val="A4001D"/>
              </a:solidFill>
              <a:latin typeface="Calibri"/>
              <a:ea typeface="ＭＳ Ｐゴシック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001334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AutoShape 2"/>
          <p:cNvSpPr>
            <a:spLocks noGrp="1" noChangeArrowheads="1"/>
          </p:cNvSpPr>
          <p:nvPr>
            <p:ph type="title"/>
          </p:nvPr>
        </p:nvSpPr>
        <p:spPr>
          <a:xfrm>
            <a:off x="1600200" y="571500"/>
            <a:ext cx="7467600" cy="514350"/>
          </a:xfrm>
        </p:spPr>
        <p:txBody>
          <a:bodyPr/>
          <a:lstStyle/>
          <a:p>
            <a:r>
              <a:rPr lang="en-US" sz="3200" dirty="0" smtClean="0"/>
              <a:t>Rules for extracting </a:t>
            </a:r>
            <a:r>
              <a:rPr lang="en-US" dirty="0" smtClean="0"/>
              <a:t>IS-A relation</a:t>
            </a:r>
            <a:endParaRPr lang="en-US" sz="3200" dirty="0"/>
          </a:p>
        </p:txBody>
      </p:sp>
      <p:sp>
        <p:nvSpPr>
          <p:cNvPr id="6010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838200" y="1428750"/>
            <a:ext cx="8001000" cy="257175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-112" charset="2"/>
              <a:buNone/>
            </a:pPr>
            <a:endParaRPr lang="en-US" dirty="0"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en-US" dirty="0" smtClean="0">
                <a:latin typeface="Calibri"/>
                <a:cs typeface="Calibri"/>
              </a:rPr>
              <a:t>Early intuition </a:t>
            </a:r>
            <a:r>
              <a:rPr lang="en-US" dirty="0">
                <a:latin typeface="Calibri"/>
                <a:cs typeface="Calibri"/>
              </a:rPr>
              <a:t>from </a:t>
            </a:r>
            <a:r>
              <a:rPr lang="en-US" b="1" dirty="0">
                <a:latin typeface="Calibri"/>
                <a:cs typeface="Calibri"/>
              </a:rPr>
              <a:t>Hearst (1992) </a:t>
            </a:r>
          </a:p>
          <a:p>
            <a:pPr lvl="1"/>
            <a:r>
              <a:rPr lang="en-US" dirty="0">
                <a:solidFill>
                  <a:srgbClr val="0000FF"/>
                </a:solidFill>
                <a:latin typeface="Calibri"/>
                <a:cs typeface="Calibri"/>
              </a:rPr>
              <a:t>“</a:t>
            </a:r>
            <a:r>
              <a:rPr lang="en-US" sz="2800" dirty="0">
                <a:solidFill>
                  <a:srgbClr val="0000FF"/>
                </a:solidFill>
                <a:latin typeface="Calibri"/>
                <a:cs typeface="Calibri"/>
              </a:rPr>
              <a:t>Agar is a substance prepared from a mixture of red algae, such as </a:t>
            </a:r>
            <a:r>
              <a:rPr lang="en-US" sz="2800" dirty="0" err="1">
                <a:solidFill>
                  <a:srgbClr val="0000FF"/>
                </a:solidFill>
                <a:latin typeface="Calibri"/>
                <a:cs typeface="Calibri"/>
              </a:rPr>
              <a:t>Gelidium</a:t>
            </a:r>
            <a:r>
              <a:rPr lang="en-US" sz="2800" dirty="0">
                <a:solidFill>
                  <a:srgbClr val="0000FF"/>
                </a:solidFill>
                <a:latin typeface="Calibri"/>
                <a:cs typeface="Calibri"/>
              </a:rPr>
              <a:t>, for laboratory or industrial use</a:t>
            </a:r>
            <a:r>
              <a:rPr lang="en-US" sz="2800" dirty="0">
                <a:solidFill>
                  <a:srgbClr val="000090"/>
                </a:solidFill>
                <a:latin typeface="Calibri"/>
                <a:cs typeface="Calibri"/>
              </a:rPr>
              <a:t>”</a:t>
            </a:r>
            <a:endParaRPr lang="en-US" dirty="0">
              <a:solidFill>
                <a:srgbClr val="000090"/>
              </a:solidFill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What does </a:t>
            </a:r>
            <a:r>
              <a:rPr lang="en-US" i="1" dirty="0" err="1">
                <a:latin typeface="Calibri"/>
                <a:cs typeface="Calibri"/>
              </a:rPr>
              <a:t>Gelidium</a:t>
            </a:r>
            <a:r>
              <a:rPr lang="en-US" dirty="0">
                <a:latin typeface="Calibri"/>
                <a:cs typeface="Calibri"/>
              </a:rPr>
              <a:t> mean? </a:t>
            </a:r>
          </a:p>
          <a:p>
            <a:r>
              <a:rPr lang="en-US" dirty="0">
                <a:latin typeface="Calibri"/>
                <a:cs typeface="Calibri"/>
              </a:rPr>
              <a:t>How do you know?`</a:t>
            </a:r>
          </a:p>
        </p:txBody>
      </p:sp>
    </p:spTree>
    <p:extLst>
      <p:ext uri="{BB962C8B-B14F-4D97-AF65-F5344CB8AC3E}">
        <p14:creationId xmlns:p14="http://schemas.microsoft.com/office/powerpoint/2010/main" val="19096309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090" name="AutoShape 2"/>
          <p:cNvSpPr>
            <a:spLocks noGrp="1" noChangeArrowheads="1"/>
          </p:cNvSpPr>
          <p:nvPr>
            <p:ph type="title"/>
          </p:nvPr>
        </p:nvSpPr>
        <p:spPr>
          <a:xfrm>
            <a:off x="1600200" y="571500"/>
            <a:ext cx="7391400" cy="514350"/>
          </a:xfrm>
        </p:spPr>
        <p:txBody>
          <a:bodyPr/>
          <a:lstStyle/>
          <a:p>
            <a:r>
              <a:rPr lang="en-US" dirty="0"/>
              <a:t>Rules for extracting IS-A relation</a:t>
            </a:r>
            <a:endParaRPr lang="en-US" sz="3200" dirty="0"/>
          </a:p>
        </p:txBody>
      </p:sp>
      <p:sp>
        <p:nvSpPr>
          <p:cNvPr id="6010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838200" y="1428750"/>
            <a:ext cx="8001000" cy="2571750"/>
          </a:xfrm>
        </p:spPr>
        <p:txBody>
          <a:bodyPr/>
          <a:lstStyle/>
          <a:p>
            <a:pPr>
              <a:lnSpc>
                <a:spcPct val="80000"/>
              </a:lnSpc>
              <a:buFont typeface="Wingdings" pitchFamily="-112" charset="2"/>
              <a:buNone/>
            </a:pPr>
            <a:endParaRPr lang="en-US" dirty="0">
              <a:latin typeface="Calibri"/>
              <a:cs typeface="Calibri"/>
            </a:endParaRPr>
          </a:p>
          <a:p>
            <a:pPr marL="0" indent="0">
              <a:buNone/>
            </a:pPr>
            <a:r>
              <a:rPr lang="en-US" dirty="0" smtClean="0">
                <a:latin typeface="Calibri"/>
                <a:cs typeface="Calibri"/>
              </a:rPr>
              <a:t>Early intuition </a:t>
            </a:r>
            <a:r>
              <a:rPr lang="en-US" dirty="0">
                <a:latin typeface="Calibri"/>
                <a:cs typeface="Calibri"/>
              </a:rPr>
              <a:t>from </a:t>
            </a:r>
            <a:r>
              <a:rPr lang="en-US" b="1" dirty="0">
                <a:latin typeface="Calibri"/>
                <a:cs typeface="Calibri"/>
              </a:rPr>
              <a:t>Hearst (1992) </a:t>
            </a:r>
          </a:p>
          <a:p>
            <a:pPr lvl="1"/>
            <a:r>
              <a:rPr lang="en-US" dirty="0">
                <a:solidFill>
                  <a:srgbClr val="0000FF"/>
                </a:solidFill>
                <a:latin typeface="Calibri"/>
                <a:cs typeface="Calibri"/>
              </a:rPr>
              <a:t>“</a:t>
            </a:r>
            <a:r>
              <a:rPr lang="en-US" sz="2800" dirty="0">
                <a:solidFill>
                  <a:srgbClr val="0000FF"/>
                </a:solidFill>
                <a:latin typeface="Calibri"/>
                <a:cs typeface="Calibri"/>
              </a:rPr>
              <a:t>Agar is a substance prepared from a mixture of </a:t>
            </a:r>
            <a:r>
              <a:rPr lang="en-US" sz="2800" b="1" dirty="0">
                <a:solidFill>
                  <a:srgbClr val="0000FF"/>
                </a:solidFill>
                <a:latin typeface="Calibri"/>
                <a:cs typeface="Calibri"/>
              </a:rPr>
              <a:t>red algae, such as </a:t>
            </a:r>
            <a:r>
              <a:rPr lang="en-US" sz="2800" b="1" dirty="0" err="1">
                <a:solidFill>
                  <a:srgbClr val="0000FF"/>
                </a:solidFill>
                <a:latin typeface="Calibri"/>
                <a:cs typeface="Calibri"/>
              </a:rPr>
              <a:t>Gelidium</a:t>
            </a:r>
            <a:r>
              <a:rPr lang="en-US" sz="2800" b="1" dirty="0">
                <a:solidFill>
                  <a:srgbClr val="0000FF"/>
                </a:solidFill>
                <a:latin typeface="Calibri"/>
                <a:cs typeface="Calibri"/>
              </a:rPr>
              <a:t>, </a:t>
            </a:r>
            <a:r>
              <a:rPr lang="en-US" sz="2800" dirty="0">
                <a:solidFill>
                  <a:srgbClr val="0000FF"/>
                </a:solidFill>
                <a:latin typeface="Calibri"/>
                <a:cs typeface="Calibri"/>
              </a:rPr>
              <a:t>for laboratory or industrial use”</a:t>
            </a:r>
            <a:endParaRPr lang="en-US" dirty="0">
              <a:solidFill>
                <a:srgbClr val="0000FF"/>
              </a:solidFill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What does </a:t>
            </a:r>
            <a:r>
              <a:rPr lang="en-US" i="1" dirty="0" err="1">
                <a:latin typeface="Calibri"/>
                <a:cs typeface="Calibri"/>
              </a:rPr>
              <a:t>Gelidium</a:t>
            </a:r>
            <a:r>
              <a:rPr lang="en-US" dirty="0">
                <a:latin typeface="Calibri"/>
                <a:cs typeface="Calibri"/>
              </a:rPr>
              <a:t> mean? </a:t>
            </a:r>
          </a:p>
          <a:p>
            <a:r>
              <a:rPr lang="en-US" dirty="0">
                <a:latin typeface="Calibri"/>
                <a:cs typeface="Calibri"/>
              </a:rPr>
              <a:t>How do you know?</a:t>
            </a:r>
            <a:r>
              <a:rPr lang="en-US" dirty="0"/>
              <a:t>`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24000" y="2780030"/>
            <a:ext cx="4267200" cy="388620"/>
          </a:xfrm>
          <a:prstGeom prst="roundRect">
            <a:avLst/>
          </a:prstGeom>
          <a:noFill/>
          <a:ln w="22225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804217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186" name="AutoShape 2"/>
          <p:cNvSpPr>
            <a:spLocks noGrp="1" noChangeArrowheads="1"/>
          </p:cNvSpPr>
          <p:nvPr>
            <p:ph type="title"/>
          </p:nvPr>
        </p:nvSpPr>
        <p:spPr>
          <a:xfrm>
            <a:off x="1447800" y="171450"/>
            <a:ext cx="7543800" cy="857250"/>
          </a:xfrm>
        </p:spPr>
        <p:txBody>
          <a:bodyPr/>
          <a:lstStyle/>
          <a:p>
            <a:r>
              <a:rPr lang="en-US" sz="3000" dirty="0" smtClean="0"/>
              <a:t>Hearst’s Patterns for extracting IS-A relations</a:t>
            </a:r>
            <a:endParaRPr lang="en-US" sz="3000" dirty="0"/>
          </a:p>
        </p:txBody>
      </p:sp>
      <p:sp>
        <p:nvSpPr>
          <p:cNvPr id="605187" name="Rectangle 3"/>
          <p:cNvSpPr>
            <a:spLocks noChangeArrowheads="1"/>
          </p:cNvSpPr>
          <p:nvPr/>
        </p:nvSpPr>
        <p:spPr bwMode="auto">
          <a:xfrm>
            <a:off x="1828801" y="1200150"/>
            <a:ext cx="564076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/>
                <a:cs typeface="Calibri"/>
              </a:rPr>
              <a:t>(Hearst, 1992):   Automatic Acquisition of Hyponyms</a:t>
            </a:r>
          </a:p>
        </p:txBody>
      </p:sp>
      <p:sp>
        <p:nvSpPr>
          <p:cNvPr id="605189" name="Rectangle 5"/>
          <p:cNvSpPr>
            <a:spLocks noChangeArrowheads="1"/>
          </p:cNvSpPr>
          <p:nvPr/>
        </p:nvSpPr>
        <p:spPr bwMode="auto">
          <a:xfrm>
            <a:off x="762000" y="1885950"/>
            <a:ext cx="79248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2800" dirty="0" smtClean="0">
                <a:solidFill>
                  <a:srgbClr val="000000"/>
                </a:solidFill>
                <a:latin typeface="Courier"/>
                <a:cs typeface="Courier"/>
              </a:rPr>
              <a:t>“Y </a:t>
            </a:r>
            <a:r>
              <a:rPr lang="en-US" sz="2800" dirty="0">
                <a:solidFill>
                  <a:srgbClr val="000000"/>
                </a:solidFill>
                <a:latin typeface="Courier"/>
                <a:cs typeface="Courier"/>
              </a:rPr>
              <a:t>such as X ((, X)* (, </a:t>
            </a:r>
            <a:r>
              <a:rPr lang="en-US" sz="2800" dirty="0" err="1" smtClean="0">
                <a:solidFill>
                  <a:srgbClr val="000000"/>
                </a:solidFill>
                <a:latin typeface="Courier"/>
                <a:cs typeface="Courier"/>
              </a:rPr>
              <a:t>and|or</a:t>
            </a:r>
            <a:r>
              <a:rPr lang="en-US" sz="2800" dirty="0">
                <a:solidFill>
                  <a:srgbClr val="000000"/>
                </a:solidFill>
                <a:latin typeface="Courier"/>
                <a:cs typeface="Courier"/>
              </a:rPr>
              <a:t>) X)”</a:t>
            </a:r>
          </a:p>
          <a:p>
            <a:r>
              <a:rPr lang="en-US" sz="2800" dirty="0" smtClean="0">
                <a:solidFill>
                  <a:srgbClr val="000000"/>
                </a:solidFill>
                <a:latin typeface="Courier"/>
                <a:cs typeface="Courier"/>
              </a:rPr>
              <a:t>“such </a:t>
            </a:r>
            <a:r>
              <a:rPr lang="en-US" sz="2800" dirty="0">
                <a:solidFill>
                  <a:srgbClr val="000000"/>
                </a:solidFill>
                <a:latin typeface="Courier"/>
                <a:cs typeface="Courier"/>
              </a:rPr>
              <a:t>Y as </a:t>
            </a:r>
            <a:r>
              <a:rPr lang="en-US" sz="2800" dirty="0" smtClean="0">
                <a:solidFill>
                  <a:srgbClr val="000000"/>
                </a:solidFill>
                <a:latin typeface="Courier"/>
                <a:cs typeface="Courier"/>
              </a:rPr>
              <a:t>X”</a:t>
            </a:r>
            <a:endParaRPr lang="en-US" sz="2800" dirty="0">
              <a:solidFill>
                <a:srgbClr val="000000"/>
              </a:solidFill>
              <a:latin typeface="Courier"/>
              <a:cs typeface="Courier"/>
            </a:endParaRPr>
          </a:p>
          <a:p>
            <a:r>
              <a:rPr lang="en-US" sz="2800" dirty="0" smtClean="0">
                <a:solidFill>
                  <a:srgbClr val="000000"/>
                </a:solidFill>
                <a:latin typeface="Courier"/>
                <a:cs typeface="Courier"/>
              </a:rPr>
              <a:t>“X </a:t>
            </a:r>
            <a:r>
              <a:rPr lang="en-US" sz="2800" dirty="0">
                <a:solidFill>
                  <a:srgbClr val="000000"/>
                </a:solidFill>
                <a:latin typeface="Courier"/>
                <a:cs typeface="Courier"/>
              </a:rPr>
              <a:t>or other Y”</a:t>
            </a:r>
          </a:p>
          <a:p>
            <a:r>
              <a:rPr lang="en-US" sz="2800" dirty="0" smtClean="0">
                <a:solidFill>
                  <a:srgbClr val="000000"/>
                </a:solidFill>
                <a:latin typeface="Courier"/>
                <a:cs typeface="Courier"/>
              </a:rPr>
              <a:t>“</a:t>
            </a:r>
            <a:r>
              <a:rPr lang="en-US" sz="2800" dirty="0">
                <a:solidFill>
                  <a:srgbClr val="000000"/>
                </a:solidFill>
                <a:latin typeface="Courier"/>
                <a:cs typeface="Courier"/>
              </a:rPr>
              <a:t>X</a:t>
            </a:r>
            <a:r>
              <a:rPr lang="en-US" sz="2800" dirty="0" smtClean="0">
                <a:solidFill>
                  <a:srgbClr val="000000"/>
                </a:solidFill>
                <a:latin typeface="Courier"/>
                <a:cs typeface="Courier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Courier"/>
                <a:cs typeface="Courier"/>
              </a:rPr>
              <a:t>and other Y”</a:t>
            </a:r>
          </a:p>
          <a:p>
            <a:r>
              <a:rPr lang="en-US" sz="2800" dirty="0" smtClean="0">
                <a:solidFill>
                  <a:srgbClr val="000000"/>
                </a:solidFill>
                <a:latin typeface="Courier"/>
                <a:cs typeface="Courier"/>
              </a:rPr>
              <a:t>“</a:t>
            </a:r>
            <a:r>
              <a:rPr lang="en-US" sz="2800" dirty="0">
                <a:solidFill>
                  <a:srgbClr val="000000"/>
                </a:solidFill>
                <a:latin typeface="Courier"/>
                <a:cs typeface="Courier"/>
              </a:rPr>
              <a:t>Y including </a:t>
            </a:r>
            <a:r>
              <a:rPr lang="en-US" sz="2800" dirty="0" smtClean="0">
                <a:solidFill>
                  <a:srgbClr val="000000"/>
                </a:solidFill>
                <a:latin typeface="Courier"/>
                <a:cs typeface="Courier"/>
              </a:rPr>
              <a:t>X”</a:t>
            </a:r>
            <a:endParaRPr lang="en-US" sz="2800" dirty="0">
              <a:solidFill>
                <a:srgbClr val="000000"/>
              </a:solidFill>
              <a:latin typeface="Courier"/>
              <a:cs typeface="Courier"/>
            </a:endParaRPr>
          </a:p>
          <a:p>
            <a:r>
              <a:rPr lang="en-US" sz="2800" dirty="0" smtClean="0">
                <a:solidFill>
                  <a:srgbClr val="000000"/>
                </a:solidFill>
                <a:latin typeface="Courier"/>
                <a:cs typeface="Courier"/>
              </a:rPr>
              <a:t>“Y</a:t>
            </a:r>
            <a:r>
              <a:rPr lang="en-US" sz="2800" dirty="0">
                <a:solidFill>
                  <a:srgbClr val="000000"/>
                </a:solidFill>
                <a:latin typeface="Courier"/>
                <a:cs typeface="Courier"/>
              </a:rPr>
              <a:t>, especially </a:t>
            </a:r>
            <a:r>
              <a:rPr lang="en-US" sz="2800" dirty="0" smtClean="0">
                <a:solidFill>
                  <a:srgbClr val="000000"/>
                </a:solidFill>
                <a:latin typeface="Courier"/>
                <a:cs typeface="Courier"/>
              </a:rPr>
              <a:t>X”</a:t>
            </a:r>
            <a:endParaRPr lang="en-US" sz="2800" dirty="0">
              <a:solidFill>
                <a:srgbClr val="000000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10515766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400050"/>
            <a:ext cx="7543800" cy="62865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charset="0"/>
                <a:cs typeface="ＭＳ Ｐゴシック" charset="0"/>
              </a:rPr>
              <a:t>Extracting Richer Relations Using Rules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400050" indent="-285750"/>
            <a:r>
              <a:rPr lang="en-US" sz="2800" dirty="0" smtClean="0">
                <a:ea typeface="ＭＳ Ｐゴシック" charset="0"/>
              </a:rPr>
              <a:t>Intuition: relations often hold between specific entities</a:t>
            </a:r>
          </a:p>
          <a:p>
            <a:pPr marL="742950" lvl="1" indent="-285750"/>
            <a:r>
              <a:rPr lang="en-US" sz="2800" dirty="0">
                <a:solidFill>
                  <a:srgbClr val="0000FF"/>
                </a:solidFill>
                <a:cs typeface="Calibri"/>
              </a:rPr>
              <a:t>located-in </a:t>
            </a:r>
            <a:r>
              <a:rPr lang="en-US" sz="2800" dirty="0">
                <a:cs typeface="Calibri"/>
              </a:rPr>
              <a:t>(ORGANIZATION, LOCATION)</a:t>
            </a:r>
          </a:p>
          <a:p>
            <a:pPr marL="742950" lvl="1" indent="-285750"/>
            <a:r>
              <a:rPr lang="en-US" sz="2800" dirty="0">
                <a:solidFill>
                  <a:srgbClr val="0000FF"/>
                </a:solidFill>
                <a:cs typeface="Calibri"/>
              </a:rPr>
              <a:t>founded</a:t>
            </a:r>
            <a:r>
              <a:rPr lang="en-US" sz="2800" dirty="0">
                <a:cs typeface="Calibri"/>
              </a:rPr>
              <a:t> (PERSON, ORGANIZATION)</a:t>
            </a:r>
          </a:p>
          <a:p>
            <a:pPr marL="742950" lvl="1" indent="-285750"/>
            <a:r>
              <a:rPr lang="en-US" sz="2800" dirty="0" smtClean="0">
                <a:solidFill>
                  <a:srgbClr val="0000FF"/>
                </a:solidFill>
                <a:cs typeface="Calibri"/>
              </a:rPr>
              <a:t>cures </a:t>
            </a:r>
            <a:r>
              <a:rPr lang="en-US" sz="2800" dirty="0" smtClean="0">
                <a:cs typeface="Calibri"/>
              </a:rPr>
              <a:t>(DRUG, DISEASE)</a:t>
            </a:r>
          </a:p>
          <a:p>
            <a:pPr marL="400050" indent="-285750"/>
            <a:r>
              <a:rPr lang="en-US" sz="2800" dirty="0" smtClean="0">
                <a:cs typeface="Calibri"/>
              </a:rPr>
              <a:t>Start with Named Entity tags to help extract relation!</a:t>
            </a:r>
            <a:endParaRPr lang="en-US" sz="28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93219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285750"/>
            <a:ext cx="7696200" cy="857250"/>
          </a:xfrm>
        </p:spPr>
        <p:txBody>
          <a:bodyPr/>
          <a:lstStyle/>
          <a:p>
            <a:r>
              <a:rPr lang="en-US" dirty="0" smtClean="0"/>
              <a:t>Named Entities aren’t quite enough.</a:t>
            </a:r>
            <a:br>
              <a:rPr lang="en-US" dirty="0" smtClean="0"/>
            </a:br>
            <a:r>
              <a:rPr lang="en-US" dirty="0" smtClean="0"/>
              <a:t>Which </a:t>
            </a:r>
            <a:r>
              <a:rPr lang="en-US" dirty="0"/>
              <a:t>relations hold between 2 entities?</a:t>
            </a:r>
          </a:p>
        </p:txBody>
      </p:sp>
      <p:pic>
        <p:nvPicPr>
          <p:cNvPr id="4" name="Content Placeholder 3" descr="200px-Pill.png"/>
          <p:cNvPicPr>
            <a:picLocks noGrp="1" noChangeAspect="1"/>
          </p:cNvPicPr>
          <p:nvPr>
            <p:ph sz="quarter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01" b="5101"/>
          <a:stretch>
            <a:fillRect/>
          </a:stretch>
        </p:blipFill>
        <p:spPr>
          <a:xfrm>
            <a:off x="838200" y="2495550"/>
            <a:ext cx="1676400" cy="654844"/>
          </a:xfrm>
        </p:spPr>
      </p:pic>
      <p:sp>
        <p:nvSpPr>
          <p:cNvPr id="45067" name="Rectangle 6"/>
          <p:cNvSpPr>
            <a:spLocks noChangeArrowheads="1"/>
          </p:cNvSpPr>
          <p:nvPr/>
        </p:nvSpPr>
        <p:spPr bwMode="auto">
          <a:xfrm>
            <a:off x="1143000" y="3333750"/>
            <a:ext cx="121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spcBef>
                <a:spcPct val="20000"/>
              </a:spcBef>
              <a:buClr>
                <a:srgbClr val="008000"/>
              </a:buClr>
              <a:buSzPct val="60000"/>
              <a:buFont typeface="Wingdings" charset="2"/>
              <a:buNone/>
            </a:pPr>
            <a:r>
              <a:rPr lang="en-US" sz="3200" dirty="0" smtClean="0">
                <a:solidFill>
                  <a:srgbClr val="008000"/>
                </a:solidFill>
                <a:latin typeface="Calibri"/>
                <a:cs typeface="Calibri"/>
              </a:rPr>
              <a:t>Drug</a:t>
            </a:r>
            <a:endParaRPr lang="en-US" sz="3200" dirty="0">
              <a:solidFill>
                <a:srgbClr val="008000"/>
              </a:solidFill>
              <a:latin typeface="Calibri"/>
              <a:cs typeface="Calibri"/>
            </a:endParaRPr>
          </a:p>
        </p:txBody>
      </p:sp>
      <p:sp>
        <p:nvSpPr>
          <p:cNvPr id="45065" name="Rectangle 10"/>
          <p:cNvSpPr>
            <a:spLocks noChangeArrowheads="1"/>
          </p:cNvSpPr>
          <p:nvPr/>
        </p:nvSpPr>
        <p:spPr bwMode="auto">
          <a:xfrm>
            <a:off x="6181726" y="3486150"/>
            <a:ext cx="2362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spcBef>
                <a:spcPct val="20000"/>
              </a:spcBef>
              <a:buClr>
                <a:srgbClr val="008000"/>
              </a:buClr>
              <a:buSzPct val="60000"/>
              <a:buFont typeface="Wingdings" charset="2"/>
              <a:buNone/>
            </a:pPr>
            <a:r>
              <a:rPr lang="en-US" sz="3200" dirty="0">
                <a:solidFill>
                  <a:srgbClr val="008000"/>
                </a:solidFill>
                <a:latin typeface="Calibri"/>
                <a:cs typeface="Calibri"/>
              </a:rPr>
              <a:t>Disease</a:t>
            </a:r>
          </a:p>
        </p:txBody>
      </p:sp>
      <p:sp>
        <p:nvSpPr>
          <p:cNvPr id="128013" name="Rectangle 13"/>
          <p:cNvSpPr>
            <a:spLocks noChangeArrowheads="1"/>
          </p:cNvSpPr>
          <p:nvPr/>
        </p:nvSpPr>
        <p:spPr bwMode="auto">
          <a:xfrm>
            <a:off x="3124200" y="2171700"/>
            <a:ext cx="23622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>
              <a:spcBef>
                <a:spcPct val="20000"/>
              </a:spcBef>
              <a:buClr>
                <a:srgbClr val="008000"/>
              </a:buClr>
              <a:buSzPct val="60000"/>
              <a:buFont typeface="Wingdings" charset="2"/>
              <a:buNone/>
            </a:pPr>
            <a:r>
              <a:rPr lang="en-US" sz="3200" dirty="0">
                <a:solidFill>
                  <a:srgbClr val="0000FF"/>
                </a:solidFill>
                <a:latin typeface="Calibri"/>
                <a:cs typeface="Calibri"/>
              </a:rPr>
              <a:t>Cure?</a:t>
            </a:r>
          </a:p>
        </p:txBody>
      </p:sp>
      <p:sp>
        <p:nvSpPr>
          <p:cNvPr id="128014" name="Rectangle 14"/>
          <p:cNvSpPr>
            <a:spLocks noChangeArrowheads="1"/>
          </p:cNvSpPr>
          <p:nvPr/>
        </p:nvSpPr>
        <p:spPr bwMode="auto">
          <a:xfrm>
            <a:off x="3200400" y="2800350"/>
            <a:ext cx="23622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>
              <a:spcBef>
                <a:spcPct val="20000"/>
              </a:spcBef>
              <a:buClr>
                <a:srgbClr val="008000"/>
              </a:buClr>
              <a:buSzPct val="60000"/>
              <a:buFont typeface="Wingdings" charset="2"/>
              <a:buNone/>
            </a:pPr>
            <a:r>
              <a:rPr lang="en-US" sz="3200" dirty="0">
                <a:solidFill>
                  <a:srgbClr val="0000FF"/>
                </a:solidFill>
                <a:latin typeface="Calibri"/>
                <a:cs typeface="Calibri"/>
              </a:rPr>
              <a:t>Prevent?</a:t>
            </a:r>
          </a:p>
        </p:txBody>
      </p:sp>
      <p:sp>
        <p:nvSpPr>
          <p:cNvPr id="128015" name="Rectangle 15"/>
          <p:cNvSpPr>
            <a:spLocks noChangeArrowheads="1"/>
          </p:cNvSpPr>
          <p:nvPr/>
        </p:nvSpPr>
        <p:spPr bwMode="auto">
          <a:xfrm>
            <a:off x="3200400" y="3486150"/>
            <a:ext cx="23622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>
              <a:spcBef>
                <a:spcPct val="20000"/>
              </a:spcBef>
              <a:buClr>
                <a:srgbClr val="008000"/>
              </a:buClr>
              <a:buSzPct val="60000"/>
              <a:buFont typeface="Wingdings" charset="2"/>
              <a:buNone/>
            </a:pPr>
            <a:r>
              <a:rPr lang="en-US" sz="3200" dirty="0" smtClean="0">
                <a:solidFill>
                  <a:srgbClr val="0000FF"/>
                </a:solidFill>
                <a:latin typeface="Calibri"/>
                <a:cs typeface="Calibri"/>
              </a:rPr>
              <a:t>Cause?</a:t>
            </a:r>
            <a:endParaRPr lang="en-US" sz="3200" dirty="0">
              <a:solidFill>
                <a:srgbClr val="0000FF"/>
              </a:solidFill>
              <a:latin typeface="Calibri"/>
              <a:cs typeface="Calibri"/>
            </a:endParaRPr>
          </a:p>
        </p:txBody>
      </p:sp>
      <p:pic>
        <p:nvPicPr>
          <p:cNvPr id="5" name="Picture 4" descr="200px-Gnome-face-sick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38350"/>
            <a:ext cx="1416050" cy="141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0874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8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8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13" grpId="0" autoUpdateAnimBg="0"/>
      <p:bldP spid="128014" grpId="0" autoUpdateAnimBg="0"/>
      <p:bldP spid="12801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0" y="285750"/>
            <a:ext cx="7696200" cy="857250"/>
          </a:xfrm>
        </p:spPr>
        <p:txBody>
          <a:bodyPr/>
          <a:lstStyle/>
          <a:p>
            <a:r>
              <a:rPr lang="en-US" dirty="0" smtClean="0"/>
              <a:t>What relations </a:t>
            </a:r>
            <a:r>
              <a:rPr lang="en-US" dirty="0"/>
              <a:t>hold between 2 entities?</a:t>
            </a:r>
          </a:p>
        </p:txBody>
      </p:sp>
      <p:sp>
        <p:nvSpPr>
          <p:cNvPr id="45067" name="Rectangle 6"/>
          <p:cNvSpPr>
            <a:spLocks noChangeArrowheads="1"/>
          </p:cNvSpPr>
          <p:nvPr/>
        </p:nvSpPr>
        <p:spPr bwMode="auto">
          <a:xfrm>
            <a:off x="685800" y="3333750"/>
            <a:ext cx="1676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spcBef>
                <a:spcPct val="20000"/>
              </a:spcBef>
              <a:buClr>
                <a:srgbClr val="008000"/>
              </a:buClr>
              <a:buSzPct val="60000"/>
              <a:buFont typeface="Wingdings" charset="2"/>
              <a:buNone/>
            </a:pPr>
            <a:r>
              <a:rPr lang="en-US" sz="3200" dirty="0" smtClean="0">
                <a:solidFill>
                  <a:srgbClr val="008000"/>
                </a:solidFill>
                <a:latin typeface="Calibri"/>
                <a:cs typeface="Calibri"/>
              </a:rPr>
              <a:t>PERSON</a:t>
            </a:r>
            <a:endParaRPr lang="en-US" sz="3200" dirty="0">
              <a:solidFill>
                <a:srgbClr val="008000"/>
              </a:solidFill>
              <a:latin typeface="Calibri"/>
              <a:cs typeface="Calibri"/>
            </a:endParaRPr>
          </a:p>
        </p:txBody>
      </p:sp>
      <p:sp>
        <p:nvSpPr>
          <p:cNvPr id="45065" name="Rectangle 10"/>
          <p:cNvSpPr>
            <a:spLocks noChangeArrowheads="1"/>
          </p:cNvSpPr>
          <p:nvPr/>
        </p:nvSpPr>
        <p:spPr bwMode="auto">
          <a:xfrm>
            <a:off x="6086474" y="3409950"/>
            <a:ext cx="2828926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>
              <a:spcBef>
                <a:spcPct val="20000"/>
              </a:spcBef>
              <a:buClr>
                <a:srgbClr val="008000"/>
              </a:buClr>
              <a:buSzPct val="60000"/>
              <a:buFont typeface="Wingdings" charset="2"/>
              <a:buNone/>
            </a:pPr>
            <a:r>
              <a:rPr lang="en-US" sz="3200" dirty="0" smtClean="0">
                <a:solidFill>
                  <a:srgbClr val="008000"/>
                </a:solidFill>
                <a:latin typeface="Calibri"/>
                <a:cs typeface="Calibri"/>
              </a:rPr>
              <a:t>ORGANIZATION</a:t>
            </a:r>
            <a:endParaRPr lang="en-US" sz="3200" dirty="0">
              <a:solidFill>
                <a:srgbClr val="008000"/>
              </a:solidFill>
              <a:latin typeface="Calibri"/>
              <a:cs typeface="Calibri"/>
            </a:endParaRPr>
          </a:p>
        </p:txBody>
      </p:sp>
      <p:sp>
        <p:nvSpPr>
          <p:cNvPr id="128013" name="Rectangle 13"/>
          <p:cNvSpPr>
            <a:spLocks noChangeArrowheads="1"/>
          </p:cNvSpPr>
          <p:nvPr/>
        </p:nvSpPr>
        <p:spPr bwMode="auto">
          <a:xfrm>
            <a:off x="3124200" y="1657350"/>
            <a:ext cx="23622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>
              <a:spcBef>
                <a:spcPct val="20000"/>
              </a:spcBef>
              <a:buClr>
                <a:srgbClr val="008000"/>
              </a:buClr>
              <a:buSzPct val="60000"/>
              <a:buFont typeface="Wingdings" charset="2"/>
              <a:buNone/>
            </a:pPr>
            <a:r>
              <a:rPr lang="en-US" sz="3200" dirty="0" smtClean="0">
                <a:solidFill>
                  <a:srgbClr val="0000FF"/>
                </a:solidFill>
                <a:latin typeface="Calibri"/>
                <a:cs typeface="Calibri"/>
              </a:rPr>
              <a:t>Founder?</a:t>
            </a:r>
            <a:endParaRPr lang="en-US" sz="3200" dirty="0">
              <a:solidFill>
                <a:srgbClr val="0000FF"/>
              </a:solidFill>
              <a:latin typeface="Calibri"/>
              <a:cs typeface="Calibri"/>
            </a:endParaRPr>
          </a:p>
        </p:txBody>
      </p:sp>
      <p:sp>
        <p:nvSpPr>
          <p:cNvPr id="128014" name="Rectangle 14"/>
          <p:cNvSpPr>
            <a:spLocks noChangeArrowheads="1"/>
          </p:cNvSpPr>
          <p:nvPr/>
        </p:nvSpPr>
        <p:spPr bwMode="auto">
          <a:xfrm>
            <a:off x="3124200" y="2319338"/>
            <a:ext cx="23622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>
              <a:spcBef>
                <a:spcPct val="20000"/>
              </a:spcBef>
              <a:buClr>
                <a:srgbClr val="008000"/>
              </a:buClr>
              <a:buSzPct val="60000"/>
              <a:buFont typeface="Wingdings" charset="2"/>
              <a:buNone/>
            </a:pPr>
            <a:r>
              <a:rPr lang="en-US" sz="3200" dirty="0" smtClean="0">
                <a:solidFill>
                  <a:srgbClr val="0000FF"/>
                </a:solidFill>
                <a:latin typeface="Calibri"/>
                <a:cs typeface="Calibri"/>
              </a:rPr>
              <a:t>Investor?</a:t>
            </a:r>
            <a:endParaRPr lang="en-US" sz="3200" dirty="0">
              <a:solidFill>
                <a:srgbClr val="0000FF"/>
              </a:solidFill>
              <a:latin typeface="Calibri"/>
              <a:cs typeface="Calibri"/>
            </a:endParaRPr>
          </a:p>
        </p:txBody>
      </p:sp>
      <p:sp>
        <p:nvSpPr>
          <p:cNvPr id="128015" name="Rectangle 15"/>
          <p:cNvSpPr>
            <a:spLocks noChangeArrowheads="1"/>
          </p:cNvSpPr>
          <p:nvPr/>
        </p:nvSpPr>
        <p:spPr bwMode="auto">
          <a:xfrm>
            <a:off x="3124200" y="2981326"/>
            <a:ext cx="23622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>
              <a:spcBef>
                <a:spcPct val="20000"/>
              </a:spcBef>
              <a:buClr>
                <a:srgbClr val="008000"/>
              </a:buClr>
              <a:buSzPct val="60000"/>
              <a:buFont typeface="Wingdings" charset="2"/>
              <a:buNone/>
            </a:pPr>
            <a:r>
              <a:rPr lang="en-US" sz="3200" dirty="0" smtClean="0">
                <a:solidFill>
                  <a:srgbClr val="0000FF"/>
                </a:solidFill>
                <a:latin typeface="Calibri"/>
                <a:cs typeface="Calibri"/>
              </a:rPr>
              <a:t>Member?</a:t>
            </a:r>
            <a:endParaRPr lang="en-US" sz="3200" dirty="0">
              <a:solidFill>
                <a:srgbClr val="0000FF"/>
              </a:solidFill>
              <a:latin typeface="Calibri"/>
              <a:cs typeface="Calibri"/>
            </a:endParaRPr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3124200" y="3643314"/>
            <a:ext cx="23622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>
              <a:spcBef>
                <a:spcPct val="20000"/>
              </a:spcBef>
              <a:buClr>
                <a:srgbClr val="008000"/>
              </a:buClr>
              <a:buSzPct val="60000"/>
              <a:buFont typeface="Wingdings" charset="2"/>
              <a:buNone/>
            </a:pPr>
            <a:r>
              <a:rPr lang="en-US" sz="3200" dirty="0" smtClean="0">
                <a:solidFill>
                  <a:srgbClr val="0000FF"/>
                </a:solidFill>
                <a:latin typeface="Calibri"/>
                <a:cs typeface="Calibri"/>
              </a:rPr>
              <a:t>Employee?</a:t>
            </a:r>
            <a:endParaRPr lang="en-US" sz="3200" dirty="0">
              <a:solidFill>
                <a:srgbClr val="0000FF"/>
              </a:solidFill>
              <a:latin typeface="Calibri"/>
              <a:cs typeface="Calibri"/>
            </a:endParaRPr>
          </a:p>
        </p:txBody>
      </p:sp>
      <p:pic>
        <p:nvPicPr>
          <p:cNvPr id="8" name="Picture 7" descr="200px-Emblem-person-gree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038350"/>
            <a:ext cx="1371600" cy="1371600"/>
          </a:xfrm>
          <a:prstGeom prst="rect">
            <a:avLst/>
          </a:prstGeom>
        </p:spPr>
      </p:pic>
      <p:pic>
        <p:nvPicPr>
          <p:cNvPr id="9" name="Picture 8" descr="320px-Sanyo_Electric_Corporation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600" y="1885950"/>
            <a:ext cx="1930400" cy="1447800"/>
          </a:xfrm>
          <a:prstGeom prst="rect">
            <a:avLst/>
          </a:prstGeom>
        </p:spPr>
      </p:pic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3124200" y="4305300"/>
            <a:ext cx="23622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>
              <a:spcBef>
                <a:spcPct val="20000"/>
              </a:spcBef>
              <a:buClr>
                <a:srgbClr val="008000"/>
              </a:buClr>
              <a:buSzPct val="60000"/>
              <a:buFont typeface="Wingdings" charset="2"/>
              <a:buNone/>
            </a:pPr>
            <a:r>
              <a:rPr lang="en-US" sz="3200" dirty="0" smtClean="0">
                <a:solidFill>
                  <a:srgbClr val="0000FF"/>
                </a:solidFill>
                <a:latin typeface="Calibri"/>
                <a:cs typeface="Calibri"/>
              </a:rPr>
              <a:t>President?</a:t>
            </a:r>
            <a:endParaRPr lang="en-US" sz="3200" dirty="0">
              <a:solidFill>
                <a:srgbClr val="0000FF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21737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8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8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2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13" grpId="0" autoUpdateAnimBg="0"/>
      <p:bldP spid="128014" grpId="0" autoUpdateAnimBg="0"/>
      <p:bldP spid="128015" grpId="0" autoUpdateAnimBg="0"/>
      <p:bldP spid="10" grpId="0" autoUpdateAnimBg="0"/>
      <p:bldP spid="11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33350"/>
            <a:ext cx="7543800" cy="89535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ＭＳ Ｐゴシック" charset="0"/>
                <a:cs typeface="ＭＳ Ｐゴシック" charset="0"/>
              </a:rPr>
              <a:t>Extracting Richer Relations Using Rules and</a:t>
            </a:r>
            <a:br>
              <a:rPr lang="en-US" dirty="0" smtClean="0">
                <a:ea typeface="ＭＳ Ｐゴシック" charset="0"/>
                <a:cs typeface="ＭＳ Ｐゴシック" charset="0"/>
              </a:rPr>
            </a:br>
            <a:r>
              <a:rPr lang="en-US" dirty="0" smtClean="0">
                <a:ea typeface="ＭＳ Ｐゴシック" charset="0"/>
                <a:cs typeface="ＭＳ Ｐゴシック" charset="0"/>
              </a:rPr>
              <a:t>Named Entities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52550"/>
            <a:ext cx="8991600" cy="3333750"/>
          </a:xfrm>
        </p:spPr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dirty="0" smtClean="0">
                <a:ea typeface="ＭＳ Ｐゴシック" charset="0"/>
                <a:cs typeface="ＭＳ Ｐゴシック" charset="0"/>
              </a:rPr>
              <a:t>Who holds </a:t>
            </a:r>
            <a:r>
              <a:rPr lang="en-US" dirty="0">
                <a:ea typeface="ＭＳ Ｐゴシック" charset="0"/>
                <a:cs typeface="ＭＳ Ｐゴシック" charset="0"/>
              </a:rPr>
              <a:t>what office in what </a:t>
            </a:r>
            <a:r>
              <a:rPr lang="en-US" dirty="0" smtClean="0">
                <a:ea typeface="ＭＳ Ｐゴシック" charset="0"/>
                <a:cs typeface="ＭＳ Ｐゴシック" charset="0"/>
              </a:rPr>
              <a:t>organization?</a:t>
            </a:r>
            <a:endParaRPr lang="en-US" sz="2800" dirty="0">
              <a:ea typeface="ＭＳ Ｐゴシック" charset="0"/>
              <a:cs typeface="ＭＳ Ｐゴシック" charset="0"/>
            </a:endParaRPr>
          </a:p>
          <a:p>
            <a:pPr marL="457200" lvl="1" indent="0" eaLnBrk="1" hangingPunct="1">
              <a:lnSpc>
                <a:spcPct val="110000"/>
              </a:lnSpc>
              <a:buNone/>
            </a:pPr>
            <a:r>
              <a:rPr lang="en-US" sz="2200" dirty="0" smtClean="0">
                <a:solidFill>
                  <a:srgbClr val="0000FF"/>
                </a:solidFill>
                <a:latin typeface="Calibri"/>
                <a:ea typeface="ＭＳ Ｐゴシック" charset="0"/>
                <a:cs typeface="Calibri"/>
              </a:rPr>
              <a:t>PERSON</a:t>
            </a:r>
            <a:r>
              <a:rPr lang="en-US" sz="2400" dirty="0" smtClean="0">
                <a:latin typeface="Courier"/>
                <a:ea typeface="ＭＳ Ｐゴシック" charset="0"/>
                <a:cs typeface="Courier"/>
              </a:rPr>
              <a:t>, </a:t>
            </a:r>
            <a:r>
              <a:rPr lang="en-US" sz="2200" dirty="0" smtClean="0">
                <a:solidFill>
                  <a:srgbClr val="008000"/>
                </a:solidFill>
                <a:latin typeface="Calibri"/>
                <a:ea typeface="ＭＳ Ｐゴシック" charset="0"/>
                <a:cs typeface="Calibri"/>
              </a:rPr>
              <a:t>POSITION</a:t>
            </a:r>
            <a:r>
              <a:rPr lang="en-US" dirty="0" smtClean="0">
                <a:latin typeface="Calibri"/>
                <a:ea typeface="ＭＳ Ｐゴシック" charset="0"/>
                <a:cs typeface="Calibri"/>
              </a:rPr>
              <a:t> </a:t>
            </a:r>
            <a:r>
              <a:rPr lang="en-US" sz="2400" dirty="0" smtClean="0">
                <a:latin typeface="Courier"/>
                <a:ea typeface="ＭＳ Ｐゴシック" charset="0"/>
                <a:cs typeface="Courier"/>
              </a:rPr>
              <a:t>of</a:t>
            </a:r>
            <a:r>
              <a:rPr lang="en-US" sz="2400" dirty="0" smtClean="0">
                <a:latin typeface="Calibri"/>
                <a:ea typeface="ＭＳ Ｐゴシック" charset="0"/>
                <a:cs typeface="Calibri"/>
              </a:rPr>
              <a:t> </a:t>
            </a:r>
            <a:r>
              <a:rPr lang="en-US" sz="2200" dirty="0" smtClean="0">
                <a:solidFill>
                  <a:srgbClr val="FF0000"/>
                </a:solidFill>
                <a:latin typeface="Calibri"/>
                <a:ea typeface="ＭＳ Ｐゴシック" charset="0"/>
                <a:cs typeface="Calibri"/>
              </a:rPr>
              <a:t>ORG</a:t>
            </a:r>
            <a:endParaRPr lang="en-US" sz="2200" dirty="0">
              <a:solidFill>
                <a:srgbClr val="FF0000"/>
              </a:solidFill>
              <a:latin typeface="Calibri"/>
              <a:ea typeface="ＭＳ Ｐゴシック" charset="0"/>
              <a:cs typeface="Calibri"/>
            </a:endParaRPr>
          </a:p>
          <a:p>
            <a:pPr marL="1143000" lvl="2" eaLnBrk="1" hangingPunct="1"/>
            <a:r>
              <a:rPr lang="en-US" dirty="0" smtClean="0">
                <a:solidFill>
                  <a:srgbClr val="0000FF"/>
                </a:solidFill>
                <a:ea typeface="ＭＳ Ｐゴシック" charset="0"/>
              </a:rPr>
              <a:t>George Marshall</a:t>
            </a:r>
            <a:r>
              <a:rPr lang="en-US" dirty="0" smtClean="0">
                <a:ea typeface="ＭＳ Ｐゴシック" charset="0"/>
              </a:rPr>
              <a:t>, </a:t>
            </a:r>
            <a:r>
              <a:rPr lang="en-US" dirty="0" smtClean="0">
                <a:solidFill>
                  <a:srgbClr val="008000"/>
                </a:solidFill>
                <a:ea typeface="ＭＳ Ｐゴシック" charset="0"/>
              </a:rPr>
              <a:t>Secretary of State </a:t>
            </a:r>
            <a:r>
              <a:rPr lang="en-US" dirty="0" smtClean="0">
                <a:ea typeface="ＭＳ Ｐゴシック" charset="0"/>
              </a:rPr>
              <a:t>of </a:t>
            </a:r>
            <a:r>
              <a:rPr lang="en-US" dirty="0" smtClean="0">
                <a:solidFill>
                  <a:srgbClr val="FF0000"/>
                </a:solidFill>
                <a:ea typeface="ＭＳ Ｐゴシック" charset="0"/>
              </a:rPr>
              <a:t>the United States</a:t>
            </a:r>
            <a:endParaRPr lang="en-US" dirty="0">
              <a:solidFill>
                <a:srgbClr val="FF0000"/>
              </a:solidFill>
              <a:ea typeface="ＭＳ Ｐゴシック" charset="0"/>
            </a:endParaRPr>
          </a:p>
          <a:p>
            <a:pPr marL="457200" lvl="1" indent="0" eaLnBrk="1" hangingPunct="1">
              <a:buNone/>
            </a:pPr>
            <a:r>
              <a:rPr lang="en-US" sz="2200" dirty="0" smtClean="0">
                <a:solidFill>
                  <a:srgbClr val="0000FF"/>
                </a:solidFill>
                <a:ea typeface="ＭＳ Ｐゴシック" charset="0"/>
              </a:rPr>
              <a:t>PERSON</a:t>
            </a:r>
            <a:r>
              <a:rPr lang="en-US" dirty="0" smtClean="0">
                <a:latin typeface="Courier"/>
                <a:ea typeface="ＭＳ Ｐゴシック" charset="0"/>
                <a:cs typeface="Courier"/>
              </a:rPr>
              <a:t>(</a:t>
            </a:r>
            <a:r>
              <a:rPr lang="en-US" dirty="0" err="1" smtClean="0">
                <a:latin typeface="Courier"/>
                <a:ea typeface="ＭＳ Ｐゴシック" charset="0"/>
                <a:cs typeface="Courier"/>
              </a:rPr>
              <a:t>named|appointed|chose|</a:t>
            </a:r>
            <a:r>
              <a:rPr lang="en-US" i="1" dirty="0" err="1" smtClean="0">
                <a:latin typeface="Calibri"/>
                <a:ea typeface="ＭＳ Ｐゴシック" charset="0"/>
                <a:cs typeface="Calibri"/>
              </a:rPr>
              <a:t>etc</a:t>
            </a:r>
            <a:r>
              <a:rPr lang="en-US" i="1" dirty="0" smtClean="0">
                <a:latin typeface="Calibri"/>
                <a:ea typeface="ＭＳ Ｐゴシック" charset="0"/>
                <a:cs typeface="Calibri"/>
              </a:rPr>
              <a:t>.</a:t>
            </a:r>
            <a:r>
              <a:rPr lang="en-US" dirty="0" smtClean="0">
                <a:latin typeface="Courier"/>
                <a:ea typeface="ＭＳ Ｐゴシック" charset="0"/>
                <a:cs typeface="Courier"/>
              </a:rPr>
              <a:t>) </a:t>
            </a:r>
            <a:r>
              <a:rPr lang="en-US" sz="2200" dirty="0" smtClean="0">
                <a:solidFill>
                  <a:srgbClr val="0000FF"/>
                </a:solidFill>
                <a:ea typeface="ＭＳ Ｐゴシック" charset="0"/>
              </a:rPr>
              <a:t>PERSON</a:t>
            </a:r>
            <a:r>
              <a:rPr lang="en-US" sz="2400" dirty="0" smtClean="0">
                <a:solidFill>
                  <a:srgbClr val="0000FF"/>
                </a:solidFill>
                <a:ea typeface="ＭＳ Ｐゴシック" charset="0"/>
              </a:rPr>
              <a:t> </a:t>
            </a:r>
            <a:r>
              <a:rPr lang="en-US" sz="2400" dirty="0" smtClean="0">
                <a:ea typeface="ＭＳ Ｐゴシック" charset="0"/>
              </a:rPr>
              <a:t>Prep? </a:t>
            </a:r>
            <a:r>
              <a:rPr lang="en-US" sz="2200" dirty="0" smtClean="0">
                <a:solidFill>
                  <a:srgbClr val="008000"/>
                </a:solidFill>
                <a:ea typeface="ＭＳ Ｐゴシック" charset="0"/>
              </a:rPr>
              <a:t>POSITION</a:t>
            </a:r>
          </a:p>
          <a:p>
            <a:pPr marL="1085850" lvl="2" indent="-285750"/>
            <a:r>
              <a:rPr lang="en-US" dirty="0" smtClean="0">
                <a:solidFill>
                  <a:srgbClr val="0000FF"/>
                </a:solidFill>
                <a:ea typeface="ＭＳ Ｐゴシック" charset="0"/>
              </a:rPr>
              <a:t>Truman </a:t>
            </a:r>
            <a:r>
              <a:rPr lang="en-US" dirty="0" smtClean="0">
                <a:ea typeface="ＭＳ Ｐゴシック" charset="0"/>
              </a:rPr>
              <a:t>appointed </a:t>
            </a:r>
            <a:r>
              <a:rPr lang="en-US" dirty="0" smtClean="0">
                <a:solidFill>
                  <a:srgbClr val="0000FF"/>
                </a:solidFill>
                <a:ea typeface="ＭＳ Ｐゴシック" charset="0"/>
              </a:rPr>
              <a:t>Marshall </a:t>
            </a:r>
            <a:r>
              <a:rPr lang="en-US" dirty="0" smtClean="0">
                <a:ea typeface="ＭＳ Ｐゴシック" charset="0"/>
              </a:rPr>
              <a:t>Secretary of State</a:t>
            </a:r>
          </a:p>
          <a:p>
            <a:pPr marL="457200" lvl="1" indent="0">
              <a:lnSpc>
                <a:spcPct val="110000"/>
              </a:lnSpc>
              <a:buNone/>
            </a:pPr>
            <a:r>
              <a:rPr lang="en-US" sz="2200" dirty="0" smtClean="0">
                <a:solidFill>
                  <a:srgbClr val="0000FF"/>
                </a:solidFill>
                <a:latin typeface="Calibri"/>
                <a:ea typeface="ＭＳ Ｐゴシック" charset="0"/>
                <a:cs typeface="Calibri"/>
              </a:rPr>
              <a:t>PERSON</a:t>
            </a:r>
            <a:r>
              <a:rPr lang="en-US" sz="2400" dirty="0" smtClean="0">
                <a:latin typeface="Calibri"/>
                <a:ea typeface="ＭＳ Ｐゴシック" charset="0"/>
                <a:cs typeface="Calibri"/>
              </a:rPr>
              <a:t> [be]? </a:t>
            </a:r>
            <a:r>
              <a:rPr lang="en-US" sz="2400" dirty="0">
                <a:latin typeface="Calibri"/>
                <a:ea typeface="ＭＳ Ｐゴシック" charset="0"/>
                <a:cs typeface="Calibri"/>
              </a:rPr>
              <a:t>(</a:t>
            </a:r>
            <a:r>
              <a:rPr lang="en-US" dirty="0" err="1">
                <a:latin typeface="Courier"/>
                <a:ea typeface="ＭＳ Ｐゴシック" charset="0"/>
                <a:cs typeface="Courier"/>
              </a:rPr>
              <a:t>named|</a:t>
            </a:r>
            <a:r>
              <a:rPr lang="en-US" dirty="0" err="1" smtClean="0">
                <a:latin typeface="Courier"/>
                <a:ea typeface="ＭＳ Ｐゴシック" charset="0"/>
                <a:cs typeface="Courier"/>
              </a:rPr>
              <a:t>appointed|</a:t>
            </a:r>
            <a:r>
              <a:rPr lang="en-US" i="1" dirty="0" err="1">
                <a:ea typeface="ＭＳ Ｐゴシック" charset="0"/>
                <a:cs typeface="Calibri"/>
              </a:rPr>
              <a:t>etc</a:t>
            </a:r>
            <a:r>
              <a:rPr lang="en-US" i="1" dirty="0">
                <a:ea typeface="ＭＳ Ｐゴシック" charset="0"/>
                <a:cs typeface="Calibri"/>
              </a:rPr>
              <a:t>.</a:t>
            </a:r>
            <a:r>
              <a:rPr lang="en-US" sz="2400" dirty="0">
                <a:latin typeface="Calibri"/>
                <a:ea typeface="ＭＳ Ｐゴシック" charset="0"/>
                <a:cs typeface="Calibri"/>
              </a:rPr>
              <a:t>) </a:t>
            </a:r>
            <a:r>
              <a:rPr lang="en-US" sz="2400" dirty="0" smtClean="0">
                <a:latin typeface="Calibri"/>
                <a:ea typeface="ＭＳ Ｐゴシック" charset="0"/>
                <a:cs typeface="Calibri"/>
              </a:rPr>
              <a:t>Prep? </a:t>
            </a:r>
            <a:r>
              <a:rPr lang="en-US" sz="2200" dirty="0" smtClean="0">
                <a:solidFill>
                  <a:srgbClr val="FF0000"/>
                </a:solidFill>
                <a:ea typeface="ＭＳ Ｐゴシック" charset="0"/>
                <a:cs typeface="Calibri"/>
              </a:rPr>
              <a:t>ORG</a:t>
            </a:r>
            <a:r>
              <a:rPr lang="en-US" sz="2200" dirty="0" smtClean="0">
                <a:solidFill>
                  <a:srgbClr val="008000"/>
                </a:solidFill>
                <a:ea typeface="ＭＳ Ｐゴシック" charset="0"/>
                <a:cs typeface="Calibri"/>
              </a:rPr>
              <a:t> POSITION</a:t>
            </a:r>
            <a:r>
              <a:rPr lang="en-US" sz="2400" dirty="0" smtClean="0">
                <a:ea typeface="ＭＳ Ｐゴシック" charset="0"/>
                <a:cs typeface="Calibri"/>
              </a:rPr>
              <a:t> </a:t>
            </a:r>
          </a:p>
          <a:p>
            <a:pPr lvl="2">
              <a:lnSpc>
                <a:spcPct val="110000"/>
              </a:lnSpc>
            </a:pPr>
            <a:r>
              <a:rPr lang="en-US" dirty="0" smtClean="0">
                <a:solidFill>
                  <a:srgbClr val="0000FF"/>
                </a:solidFill>
                <a:ea typeface="ＭＳ Ｐゴシック" charset="0"/>
              </a:rPr>
              <a:t>George Marshall </a:t>
            </a:r>
            <a:r>
              <a:rPr lang="en-US" dirty="0" smtClean="0">
                <a:ea typeface="ＭＳ Ｐゴシック" charset="0"/>
              </a:rPr>
              <a:t>was named </a:t>
            </a:r>
            <a:r>
              <a:rPr lang="en-US" dirty="0" smtClean="0">
                <a:solidFill>
                  <a:srgbClr val="FF0000"/>
                </a:solidFill>
                <a:ea typeface="ＭＳ Ｐゴシック" charset="0"/>
              </a:rPr>
              <a:t>US </a:t>
            </a:r>
            <a:r>
              <a:rPr lang="en-US" dirty="0" smtClean="0">
                <a:solidFill>
                  <a:srgbClr val="008000"/>
                </a:solidFill>
                <a:ea typeface="ＭＳ Ｐゴシック" charset="0"/>
              </a:rPr>
              <a:t>Secretary of State</a:t>
            </a:r>
            <a:endParaRPr lang="en-US" dirty="0">
              <a:solidFill>
                <a:srgbClr val="008000"/>
              </a:solidFill>
              <a:ea typeface="ＭＳ Ｐゴシック" charset="0"/>
            </a:endParaRPr>
          </a:p>
          <a:p>
            <a:pPr marL="742950" lvl="1" indent="-285750"/>
            <a:endParaRPr lang="en-US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07280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Hand-</a:t>
            </a:r>
            <a:r>
              <a:rPr lang="en-US" sz="3600" dirty="0"/>
              <a:t>built </a:t>
            </a:r>
            <a:r>
              <a:rPr lang="en-US" sz="3600" dirty="0" smtClean="0"/>
              <a:t>patterns for relations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200150"/>
            <a:ext cx="8534400" cy="3333750"/>
          </a:xfrm>
        </p:spPr>
        <p:txBody>
          <a:bodyPr/>
          <a:lstStyle/>
          <a:p>
            <a:r>
              <a:rPr lang="en-US" sz="2600" dirty="0" smtClean="0">
                <a:latin typeface="Calibri (Body)"/>
                <a:cs typeface="Calibri (Body)"/>
              </a:rPr>
              <a:t>Plus:</a:t>
            </a:r>
          </a:p>
          <a:p>
            <a:pPr lvl="1"/>
            <a:r>
              <a:rPr lang="en-US" sz="2600" dirty="0" smtClean="0">
                <a:latin typeface="Calibri (Body)"/>
                <a:cs typeface="Calibri (Body)"/>
              </a:rPr>
              <a:t>Human patterns tend to be high-precision</a:t>
            </a:r>
          </a:p>
          <a:p>
            <a:pPr lvl="1"/>
            <a:r>
              <a:rPr lang="en-US" sz="2600" dirty="0" smtClean="0">
                <a:latin typeface="Calibri (Body)"/>
                <a:cs typeface="Calibri (Body)"/>
              </a:rPr>
              <a:t>Can be tailored to specific domains</a:t>
            </a:r>
          </a:p>
          <a:p>
            <a:r>
              <a:rPr lang="en-US" sz="2600" dirty="0" smtClean="0">
                <a:latin typeface="Calibri (Body)"/>
                <a:cs typeface="Calibri (Body)"/>
              </a:rPr>
              <a:t>Minus</a:t>
            </a:r>
          </a:p>
          <a:p>
            <a:pPr lvl="1"/>
            <a:r>
              <a:rPr lang="en-US" sz="2600" dirty="0" smtClean="0">
                <a:latin typeface="Calibri (Body)"/>
                <a:cs typeface="Calibri (Body)"/>
              </a:rPr>
              <a:t>Human patterns are often low-recall</a:t>
            </a:r>
          </a:p>
          <a:p>
            <a:pPr lvl="1"/>
            <a:r>
              <a:rPr lang="en-US" sz="2600" dirty="0" smtClean="0">
                <a:latin typeface="Calibri (Body)"/>
                <a:cs typeface="Calibri (Body)"/>
              </a:rPr>
              <a:t>A lot of work to think of all possible patterns!</a:t>
            </a:r>
          </a:p>
          <a:p>
            <a:pPr lvl="1"/>
            <a:r>
              <a:rPr lang="en-US" sz="2600" dirty="0" smtClean="0">
                <a:latin typeface="Calibri (Body)"/>
                <a:cs typeface="Calibri (Body)"/>
              </a:rPr>
              <a:t>Don’t </a:t>
            </a:r>
            <a:r>
              <a:rPr lang="en-US" sz="2600" dirty="0">
                <a:latin typeface="Calibri (Body)"/>
                <a:cs typeface="Calibri (Body)"/>
              </a:rPr>
              <a:t>want to have to do this for </a:t>
            </a:r>
            <a:r>
              <a:rPr lang="en-US" sz="2600" dirty="0" smtClean="0">
                <a:latin typeface="Calibri (Body)"/>
                <a:cs typeface="Calibri (Body)"/>
              </a:rPr>
              <a:t>every relation!</a:t>
            </a:r>
            <a:endParaRPr lang="en-US" sz="2600" dirty="0">
              <a:latin typeface="Calibri (Body)"/>
              <a:cs typeface="Calibri (Body)"/>
            </a:endParaRPr>
          </a:p>
          <a:p>
            <a:pPr lvl="1"/>
            <a:r>
              <a:rPr lang="en-US" sz="2600" dirty="0">
                <a:latin typeface="Calibri (Body)"/>
                <a:cs typeface="Calibri (Body)"/>
              </a:rPr>
              <a:t>W</a:t>
            </a:r>
            <a:r>
              <a:rPr lang="en-US" sz="2600" dirty="0" smtClean="0">
                <a:latin typeface="Calibri (Body)"/>
                <a:cs typeface="Calibri (Body)"/>
              </a:rPr>
              <a:t>e’d </a:t>
            </a:r>
            <a:r>
              <a:rPr lang="en-US" sz="2600" dirty="0">
                <a:latin typeface="Calibri (Body)"/>
                <a:cs typeface="Calibri (Body)"/>
              </a:rPr>
              <a:t>like better accuracy</a:t>
            </a:r>
          </a:p>
        </p:txBody>
      </p:sp>
    </p:spTree>
    <p:extLst>
      <p:ext uri="{BB962C8B-B14F-4D97-AF65-F5344CB8AC3E}">
        <p14:creationId xmlns:p14="http://schemas.microsoft.com/office/powerpoint/2010/main" val="1747245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 smtClean="0">
                <a:latin typeface="Calibri (Headings)"/>
                <a:cs typeface="Calibri (Headings)"/>
              </a:rPr>
              <a:t>Relation Extraction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 smtClean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Using patterns to extract relations</a:t>
            </a:r>
            <a:endParaRPr lang="en-US" sz="3600" dirty="0">
              <a:solidFill>
                <a:srgbClr val="A4001D"/>
              </a:solidFill>
              <a:latin typeface="Calibri"/>
              <a:ea typeface="ＭＳ Ｐゴシック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18891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 smtClean="0">
                <a:latin typeface="Calibri (Headings)"/>
                <a:cs typeface="Calibri (Headings)"/>
              </a:rPr>
              <a:t>Relation Extraction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 smtClean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Supervised relation extraction</a:t>
            </a:r>
            <a:endParaRPr lang="en-US" sz="3600" dirty="0">
              <a:solidFill>
                <a:srgbClr val="A4001D"/>
              </a:solidFill>
              <a:latin typeface="Calibri"/>
              <a:ea typeface="ＭＳ Ｐゴシック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07254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Supervised machine learning for relations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Choose a set of relations we’d like to extract</a:t>
            </a:r>
          </a:p>
          <a:p>
            <a:r>
              <a:rPr lang="en-US" dirty="0" smtClean="0"/>
              <a:t>Choose a set of relevant named entities</a:t>
            </a:r>
          </a:p>
          <a:p>
            <a:r>
              <a:rPr lang="en-US" dirty="0" smtClean="0"/>
              <a:t>Find and label data</a:t>
            </a:r>
          </a:p>
          <a:p>
            <a:pPr lvl="1"/>
            <a:r>
              <a:rPr lang="en-US" dirty="0" smtClean="0"/>
              <a:t>Choose a representative corpus</a:t>
            </a:r>
          </a:p>
          <a:p>
            <a:pPr lvl="1"/>
            <a:r>
              <a:rPr lang="en-US" dirty="0" smtClean="0"/>
              <a:t>Label the named entities in the corpus</a:t>
            </a:r>
          </a:p>
          <a:p>
            <a:pPr lvl="1"/>
            <a:r>
              <a:rPr lang="en-US" dirty="0" smtClean="0"/>
              <a:t>Hand-label the relations between these entities</a:t>
            </a:r>
          </a:p>
          <a:p>
            <a:pPr lvl="1"/>
            <a:r>
              <a:rPr lang="en-US" dirty="0" smtClean="0"/>
              <a:t>Break into training, development, and test</a:t>
            </a:r>
          </a:p>
          <a:p>
            <a:r>
              <a:rPr lang="en-US" dirty="0" smtClean="0"/>
              <a:t>Train a classifier on the training set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71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3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52400"/>
            <a:ext cx="7467600" cy="1123950"/>
          </a:xfrm>
        </p:spPr>
        <p:txBody>
          <a:bodyPr/>
          <a:lstStyle/>
          <a:p>
            <a:r>
              <a:rPr lang="en-US" sz="3600" dirty="0" smtClean="0"/>
              <a:t>How to do classification in supervised </a:t>
            </a:r>
            <a:r>
              <a:rPr lang="en-US" sz="3600" dirty="0"/>
              <a:t>r</a:t>
            </a:r>
            <a:r>
              <a:rPr lang="en-US" sz="3600" dirty="0" smtClean="0"/>
              <a:t>elation </a:t>
            </a:r>
            <a:r>
              <a:rPr lang="en-US" sz="3600" dirty="0"/>
              <a:t>e</a:t>
            </a:r>
            <a:r>
              <a:rPr lang="en-US" sz="3600" dirty="0" smtClean="0"/>
              <a:t>xtraction</a:t>
            </a:r>
            <a:endParaRPr lang="en-US" sz="3600" dirty="0"/>
          </a:p>
        </p:txBody>
      </p:sp>
      <p:sp>
        <p:nvSpPr>
          <p:cNvPr id="53254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352550"/>
            <a:ext cx="8763000" cy="3657600"/>
          </a:xfrm>
        </p:spPr>
        <p:txBody>
          <a:bodyPr/>
          <a:lstStyle/>
          <a:p>
            <a:pPr marL="490538" indent="-514350">
              <a:buFont typeface="+mj-lt"/>
              <a:buAutoNum type="arabicPeriod"/>
            </a:pPr>
            <a:r>
              <a:rPr lang="en-US" sz="3200" dirty="0" smtClean="0">
                <a:latin typeface="Calibri"/>
                <a:cs typeface="Calibri"/>
              </a:rPr>
              <a:t>Find </a:t>
            </a:r>
            <a:r>
              <a:rPr lang="en-US" sz="3200" dirty="0">
                <a:latin typeface="Calibri"/>
                <a:cs typeface="Calibri"/>
              </a:rPr>
              <a:t>all pairs of named </a:t>
            </a:r>
            <a:r>
              <a:rPr lang="en-US" sz="3200" dirty="0" smtClean="0">
                <a:latin typeface="Calibri"/>
                <a:cs typeface="Calibri"/>
              </a:rPr>
              <a:t>entities </a:t>
            </a:r>
            <a:r>
              <a:rPr lang="en-US" sz="2000" dirty="0" smtClean="0">
                <a:latin typeface="Calibri"/>
                <a:cs typeface="Calibri"/>
              </a:rPr>
              <a:t>(usually in same sentence)</a:t>
            </a:r>
            <a:endParaRPr lang="en-US" sz="3200" dirty="0">
              <a:latin typeface="Calibri"/>
              <a:cs typeface="Calibri"/>
            </a:endParaRPr>
          </a:p>
          <a:p>
            <a:pPr marL="490538" indent="-514350">
              <a:buFont typeface="+mj-lt"/>
              <a:buAutoNum type="arabicPeriod"/>
            </a:pPr>
            <a:r>
              <a:rPr lang="en-US" sz="3200" dirty="0">
                <a:latin typeface="Calibri"/>
                <a:cs typeface="Calibri"/>
              </a:rPr>
              <a:t>Decide if 2 entities are related</a:t>
            </a:r>
          </a:p>
          <a:p>
            <a:pPr marL="490538" indent="-514350">
              <a:buFont typeface="+mj-lt"/>
              <a:buAutoNum type="arabicPeriod"/>
            </a:pPr>
            <a:r>
              <a:rPr lang="en-US" sz="3200" dirty="0">
                <a:latin typeface="Calibri"/>
                <a:cs typeface="Calibri"/>
              </a:rPr>
              <a:t>If yes, </a:t>
            </a:r>
            <a:r>
              <a:rPr lang="en-US" sz="3200" dirty="0" smtClean="0">
                <a:latin typeface="Calibri"/>
                <a:cs typeface="Calibri"/>
              </a:rPr>
              <a:t>classify the </a:t>
            </a:r>
            <a:r>
              <a:rPr lang="en-US" sz="3200" dirty="0">
                <a:latin typeface="Calibri"/>
                <a:cs typeface="Calibri"/>
              </a:rPr>
              <a:t>relation</a:t>
            </a:r>
          </a:p>
          <a:p>
            <a:pPr>
              <a:lnSpc>
                <a:spcPct val="110000"/>
              </a:lnSpc>
            </a:pPr>
            <a:r>
              <a:rPr lang="en-US" sz="2800" dirty="0">
                <a:latin typeface="Calibri"/>
                <a:cs typeface="Calibri"/>
              </a:rPr>
              <a:t>Why the extra step?</a:t>
            </a:r>
          </a:p>
          <a:p>
            <a:pPr lvl="1"/>
            <a:r>
              <a:rPr lang="en-US" sz="2400" dirty="0" smtClean="0">
                <a:latin typeface="Calibri"/>
                <a:cs typeface="Calibri"/>
              </a:rPr>
              <a:t>Faster classification training by </a:t>
            </a:r>
            <a:r>
              <a:rPr lang="en-US" sz="2400" dirty="0">
                <a:latin typeface="Calibri"/>
                <a:cs typeface="Calibri"/>
              </a:rPr>
              <a:t>eliminating most pairs</a:t>
            </a:r>
          </a:p>
          <a:p>
            <a:pPr lvl="1"/>
            <a:r>
              <a:rPr lang="en-US" sz="2400" dirty="0" smtClean="0">
                <a:latin typeface="Calibri"/>
                <a:cs typeface="Calibri"/>
              </a:rPr>
              <a:t>Can use distinct feature</a:t>
            </a:r>
            <a:r>
              <a:rPr lang="en-US" sz="2400" dirty="0">
                <a:latin typeface="Calibri"/>
                <a:cs typeface="Calibri"/>
              </a:rPr>
              <a:t>-sets </a:t>
            </a:r>
            <a:r>
              <a:rPr lang="en-US" sz="2400" dirty="0" smtClean="0">
                <a:latin typeface="Calibri"/>
                <a:cs typeface="Calibri"/>
              </a:rPr>
              <a:t>appropriate </a:t>
            </a:r>
            <a:r>
              <a:rPr lang="en-US" sz="2400" dirty="0">
                <a:latin typeface="Calibri"/>
                <a:cs typeface="Calibri"/>
              </a:rPr>
              <a:t>for each task</a:t>
            </a:r>
            <a:r>
              <a:rPr lang="en-US" sz="2400" dirty="0" smtClean="0">
                <a:latin typeface="Calibri"/>
                <a:cs typeface="Calibri"/>
              </a:rPr>
              <a:t>.</a:t>
            </a:r>
            <a:endParaRPr lang="en-US" sz="2400" dirty="0">
              <a:latin typeface="Calibri"/>
              <a:cs typeface="Calibri"/>
            </a:endParaRPr>
          </a:p>
        </p:txBody>
      </p:sp>
      <p:sp>
        <p:nvSpPr>
          <p:cNvPr id="5325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63A600D-5103-8D45-A2C3-1551A77309D9}" type="slidenum">
              <a:rPr lang="en-US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304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467600" cy="533400"/>
          </a:xfrm>
        </p:spPr>
        <p:txBody>
          <a:bodyPr/>
          <a:lstStyle/>
          <a:p>
            <a:r>
              <a:rPr lang="en-US" dirty="0" smtClean="0"/>
              <a:t>Automated Content Extraction (ACE)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451523"/>
            <a:ext cx="8343900" cy="36628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24000" y="666750"/>
            <a:ext cx="7715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/>
              <a:t>17 sub-relations of 6 relations from 2008 </a:t>
            </a:r>
            <a:r>
              <a:rPr lang="en-US" sz="1800" dirty="0"/>
              <a:t>“Relation Extraction Task</a:t>
            </a:r>
            <a:r>
              <a:rPr lang="en-US" sz="1800" dirty="0" smtClean="0"/>
              <a:t>”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00246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209550"/>
            <a:ext cx="7467600" cy="742950"/>
          </a:xfrm>
        </p:spPr>
        <p:txBody>
          <a:bodyPr/>
          <a:lstStyle/>
          <a:p>
            <a:r>
              <a:rPr lang="en-US" dirty="0"/>
              <a:t>Relation Extraction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76350"/>
            <a:ext cx="8534400" cy="53340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sz="2800" dirty="0" smtClean="0"/>
              <a:t>Classify the relation </a:t>
            </a:r>
            <a:r>
              <a:rPr lang="en-US" sz="2800" dirty="0"/>
              <a:t>between </a:t>
            </a:r>
            <a:r>
              <a:rPr lang="en-US" sz="2800" dirty="0" smtClean="0"/>
              <a:t>two entities </a:t>
            </a:r>
            <a:r>
              <a:rPr lang="en-US" sz="2800" dirty="0"/>
              <a:t>in a </a:t>
            </a:r>
            <a:r>
              <a:rPr lang="en-US" sz="2800" dirty="0" smtClean="0"/>
              <a:t>sentence</a:t>
            </a:r>
            <a:endParaRPr lang="en-US" sz="2800" dirty="0"/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457200" y="2121753"/>
            <a:ext cx="8001000" cy="830997"/>
          </a:xfrm>
          <a:prstGeom prst="rect">
            <a:avLst/>
          </a:prstGeom>
          <a:solidFill>
            <a:srgbClr val="BA9359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 dirty="0">
                <a:solidFill>
                  <a:srgbClr val="0000FF"/>
                </a:solidFill>
                <a:latin typeface="Calibri"/>
                <a:cs typeface="Calibri"/>
              </a:rPr>
              <a:t>American Airlines</a:t>
            </a:r>
            <a:r>
              <a:rPr lang="en-US" i="1" dirty="0">
                <a:solidFill>
                  <a:srgbClr val="000000"/>
                </a:solidFill>
                <a:latin typeface="Calibri"/>
                <a:cs typeface="Calibri"/>
              </a:rPr>
              <a:t>, a unit of AMR, immediately matched the move, spokesman </a:t>
            </a:r>
            <a:r>
              <a:rPr lang="en-US" b="1" i="1" dirty="0">
                <a:solidFill>
                  <a:srgbClr val="0000FF"/>
                </a:solidFill>
                <a:latin typeface="Calibri"/>
                <a:cs typeface="Calibri"/>
              </a:rPr>
              <a:t>Tim Wagner </a:t>
            </a:r>
            <a:r>
              <a:rPr lang="en-US" i="1" dirty="0">
                <a:solidFill>
                  <a:srgbClr val="000000"/>
                </a:solidFill>
                <a:latin typeface="Calibri"/>
                <a:cs typeface="Calibri"/>
              </a:rPr>
              <a:t>said.</a:t>
            </a:r>
            <a:endParaRPr lang="en-US" dirty="0"/>
          </a:p>
        </p:txBody>
      </p:sp>
      <p:sp>
        <p:nvSpPr>
          <p:cNvPr id="7182" name="AutoShape 14"/>
          <p:cNvSpPr>
            <a:spLocks noChangeArrowheads="1"/>
          </p:cNvSpPr>
          <p:nvPr/>
        </p:nvSpPr>
        <p:spPr bwMode="auto">
          <a:xfrm>
            <a:off x="152400" y="4324350"/>
            <a:ext cx="1828800" cy="685800"/>
          </a:xfrm>
          <a:prstGeom prst="homePlate">
            <a:avLst>
              <a:gd name="adj" fmla="val 0"/>
            </a:avLst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2000" b="1" dirty="0" smtClean="0"/>
              <a:t>SUBSIDIARY</a:t>
            </a:r>
            <a:endParaRPr lang="en-US" sz="2000" b="1" dirty="0"/>
          </a:p>
        </p:txBody>
      </p:sp>
      <p:sp>
        <p:nvSpPr>
          <p:cNvPr id="7184" name="AutoShape 16"/>
          <p:cNvSpPr>
            <a:spLocks noChangeArrowheads="1"/>
          </p:cNvSpPr>
          <p:nvPr/>
        </p:nvSpPr>
        <p:spPr bwMode="auto">
          <a:xfrm>
            <a:off x="228600" y="3333750"/>
            <a:ext cx="1447800" cy="685800"/>
          </a:xfrm>
          <a:prstGeom prst="homePlate">
            <a:avLst>
              <a:gd name="adj" fmla="val 0"/>
            </a:avLst>
          </a:prstGeom>
          <a:solidFill>
            <a:srgbClr val="99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2000" b="1" dirty="0" smtClean="0"/>
              <a:t>FAMILY</a:t>
            </a:r>
            <a:endParaRPr lang="en-US" sz="2000" b="1" dirty="0"/>
          </a:p>
        </p:txBody>
      </p:sp>
      <p:sp>
        <p:nvSpPr>
          <p:cNvPr id="7185" name="AutoShape 17"/>
          <p:cNvSpPr>
            <a:spLocks noChangeArrowheads="1"/>
          </p:cNvSpPr>
          <p:nvPr/>
        </p:nvSpPr>
        <p:spPr bwMode="auto">
          <a:xfrm>
            <a:off x="6781800" y="3105150"/>
            <a:ext cx="1981200" cy="685800"/>
          </a:xfrm>
          <a:prstGeom prst="homePlate">
            <a:avLst>
              <a:gd name="adj" fmla="val 0"/>
            </a:avLst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2000" b="1" dirty="0" smtClean="0"/>
              <a:t>EMPLOYMENT</a:t>
            </a:r>
            <a:endParaRPr lang="en-US" sz="2000" b="1" dirty="0"/>
          </a:p>
        </p:txBody>
      </p:sp>
      <p:sp>
        <p:nvSpPr>
          <p:cNvPr id="7187" name="AutoShape 19"/>
          <p:cNvSpPr>
            <a:spLocks noChangeArrowheads="1"/>
          </p:cNvSpPr>
          <p:nvPr/>
        </p:nvSpPr>
        <p:spPr bwMode="auto">
          <a:xfrm>
            <a:off x="6096000" y="3333750"/>
            <a:ext cx="609600" cy="685800"/>
          </a:xfrm>
          <a:prstGeom prst="homePlate">
            <a:avLst>
              <a:gd name="adj" fmla="val 746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2000" b="1" dirty="0"/>
              <a:t>NIL</a:t>
            </a:r>
          </a:p>
        </p:txBody>
      </p:sp>
      <p:sp>
        <p:nvSpPr>
          <p:cNvPr id="29" name="AutoShape 17"/>
          <p:cNvSpPr>
            <a:spLocks noChangeArrowheads="1"/>
          </p:cNvSpPr>
          <p:nvPr/>
        </p:nvSpPr>
        <p:spPr bwMode="auto">
          <a:xfrm>
            <a:off x="2209800" y="4324350"/>
            <a:ext cx="1447800" cy="685800"/>
          </a:xfrm>
          <a:prstGeom prst="homePlate">
            <a:avLst>
              <a:gd name="adj" fmla="val 0"/>
            </a:avLst>
          </a:prstGeom>
          <a:solidFill>
            <a:srgbClr val="FFFF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2000" b="1" dirty="0" smtClean="0"/>
              <a:t>FOUNDER</a:t>
            </a:r>
            <a:endParaRPr lang="en-US" sz="2000" b="1" dirty="0"/>
          </a:p>
        </p:txBody>
      </p:sp>
      <p:sp>
        <p:nvSpPr>
          <p:cNvPr id="30" name="AutoShape 17"/>
          <p:cNvSpPr>
            <a:spLocks noChangeArrowheads="1"/>
          </p:cNvSpPr>
          <p:nvPr/>
        </p:nvSpPr>
        <p:spPr bwMode="auto">
          <a:xfrm>
            <a:off x="1752600" y="3486150"/>
            <a:ext cx="1219200" cy="685800"/>
          </a:xfrm>
          <a:prstGeom prst="homePlate">
            <a:avLst>
              <a:gd name="adj" fmla="val 0"/>
            </a:avLst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2000" b="1" dirty="0" smtClean="0"/>
              <a:t>CITIZEN</a:t>
            </a:r>
            <a:endParaRPr lang="en-US" sz="2000" b="1" dirty="0"/>
          </a:p>
        </p:txBody>
      </p:sp>
      <p:sp>
        <p:nvSpPr>
          <p:cNvPr id="31" name="AutoShape 16"/>
          <p:cNvSpPr>
            <a:spLocks noChangeArrowheads="1"/>
          </p:cNvSpPr>
          <p:nvPr/>
        </p:nvSpPr>
        <p:spPr bwMode="auto">
          <a:xfrm>
            <a:off x="6172200" y="4171950"/>
            <a:ext cx="1600200" cy="685800"/>
          </a:xfrm>
          <a:prstGeom prst="homePlate">
            <a:avLst>
              <a:gd name="adj" fmla="val 0"/>
            </a:avLst>
          </a:prstGeom>
          <a:solidFill>
            <a:srgbClr val="99CC0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2000" b="1" dirty="0" smtClean="0"/>
              <a:t>INVENTOR</a:t>
            </a:r>
            <a:endParaRPr lang="en-US" sz="2000" b="1" dirty="0"/>
          </a:p>
        </p:txBody>
      </p:sp>
      <p:sp>
        <p:nvSpPr>
          <p:cNvPr id="32" name="AutoShape 17"/>
          <p:cNvSpPr>
            <a:spLocks noChangeArrowheads="1"/>
          </p:cNvSpPr>
          <p:nvPr/>
        </p:nvSpPr>
        <p:spPr bwMode="auto">
          <a:xfrm>
            <a:off x="7912100" y="3943350"/>
            <a:ext cx="1219200" cy="685800"/>
          </a:xfrm>
          <a:prstGeom prst="homePlate">
            <a:avLst>
              <a:gd name="adj" fmla="val 0"/>
            </a:avLst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3200" b="1" dirty="0" smtClean="0"/>
              <a:t>…</a:t>
            </a:r>
            <a:endParaRPr lang="en-US" sz="3200" b="1" dirty="0"/>
          </a:p>
        </p:txBody>
      </p:sp>
      <p:sp>
        <p:nvSpPr>
          <p:cNvPr id="17" name="Rounded Rectangle 16"/>
          <p:cNvSpPr/>
          <p:nvPr/>
        </p:nvSpPr>
        <p:spPr bwMode="auto">
          <a:xfrm>
            <a:off x="685800" y="2114550"/>
            <a:ext cx="2362200" cy="457200"/>
          </a:xfrm>
          <a:prstGeom prst="roundRect">
            <a:avLst/>
          </a:prstGeom>
          <a:noFill/>
          <a:ln w="57150" cap="flat" cmpd="sng" algn="ctr">
            <a:solidFill>
              <a:srgbClr val="A4001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36" name="Rounded Rectangle 35"/>
          <p:cNvSpPr/>
          <p:nvPr/>
        </p:nvSpPr>
        <p:spPr bwMode="auto">
          <a:xfrm>
            <a:off x="4495800" y="2495550"/>
            <a:ext cx="1600200" cy="457200"/>
          </a:xfrm>
          <a:prstGeom prst="roundRect">
            <a:avLst/>
          </a:prstGeom>
          <a:noFill/>
          <a:ln w="57150" cap="flat" cmpd="sng" algn="ctr">
            <a:solidFill>
              <a:srgbClr val="A4001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3008895" y="1943100"/>
            <a:ext cx="626424" cy="381000"/>
          </a:xfrm>
          <a:custGeom>
            <a:avLst/>
            <a:gdLst>
              <a:gd name="connsiteX0" fmla="*/ 39105 w 626424"/>
              <a:gd name="connsiteY0" fmla="*/ 330200 h 381000"/>
              <a:gd name="connsiteX1" fmla="*/ 39105 w 626424"/>
              <a:gd name="connsiteY1" fmla="*/ 266700 h 381000"/>
              <a:gd name="connsiteX2" fmla="*/ 445505 w 626424"/>
              <a:gd name="connsiteY2" fmla="*/ 0 h 381000"/>
              <a:gd name="connsiteX3" fmla="*/ 445505 w 626424"/>
              <a:gd name="connsiteY3" fmla="*/ 0 h 381000"/>
              <a:gd name="connsiteX4" fmla="*/ 623305 w 626424"/>
              <a:gd name="connsiteY4" fmla="*/ 114300 h 381000"/>
              <a:gd name="connsiteX5" fmla="*/ 559805 w 626424"/>
              <a:gd name="connsiteY5" fmla="*/ 3810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6424" h="381000">
                <a:moveTo>
                  <a:pt x="39105" y="330200"/>
                </a:moveTo>
                <a:cubicBezTo>
                  <a:pt x="5238" y="325966"/>
                  <a:pt x="-28628" y="321733"/>
                  <a:pt x="39105" y="266700"/>
                </a:cubicBezTo>
                <a:cubicBezTo>
                  <a:pt x="106838" y="211667"/>
                  <a:pt x="445505" y="0"/>
                  <a:pt x="445505" y="0"/>
                </a:cubicBezTo>
                <a:lnTo>
                  <a:pt x="445505" y="0"/>
                </a:lnTo>
                <a:cubicBezTo>
                  <a:pt x="475138" y="19050"/>
                  <a:pt x="604255" y="50800"/>
                  <a:pt x="623305" y="114300"/>
                </a:cubicBezTo>
                <a:cubicBezTo>
                  <a:pt x="642355" y="177800"/>
                  <a:pt x="568272" y="342900"/>
                  <a:pt x="559805" y="381000"/>
                </a:cubicBezTo>
              </a:path>
            </a:pathLst>
          </a:custGeom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" pitchFamily="-65" charset="0"/>
            </a:endParaRPr>
          </a:p>
        </p:txBody>
      </p:sp>
      <p:cxnSp>
        <p:nvCxnSpPr>
          <p:cNvPr id="7168" name="Straight Connector 7167"/>
          <p:cNvCxnSpPr/>
          <p:nvPr/>
        </p:nvCxnSpPr>
        <p:spPr bwMode="auto">
          <a:xfrm>
            <a:off x="1524000" y="2571750"/>
            <a:ext cx="3009900" cy="17526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57150" cap="flat" cmpd="sng" algn="ctr">
            <a:solidFill>
              <a:srgbClr val="A4001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7174" name="Straight Connector 7173"/>
          <p:cNvCxnSpPr/>
          <p:nvPr/>
        </p:nvCxnSpPr>
        <p:spPr bwMode="auto">
          <a:xfrm flipH="1">
            <a:off x="4953000" y="2952750"/>
            <a:ext cx="342900" cy="1600200"/>
          </a:xfrm>
          <a:prstGeom prst="line">
            <a:avLst/>
          </a:prstGeom>
          <a:gradFill rotWithShape="0">
            <a:gsLst>
              <a:gs pos="0">
                <a:srgbClr val="A50021"/>
              </a:gs>
              <a:gs pos="100000">
                <a:schemeClr val="tx1"/>
              </a:gs>
            </a:gsLst>
            <a:lin ang="0" scaled="1"/>
          </a:gradFill>
          <a:ln w="57150" cap="flat" cmpd="sng" algn="ctr">
            <a:solidFill>
              <a:srgbClr val="A4001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pic>
        <p:nvPicPr>
          <p:cNvPr id="15" name="Picture 14" descr="200px-Gtk-dialog-question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3943350"/>
            <a:ext cx="1035050" cy="103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905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2" grpId="0" animBg="1"/>
      <p:bldP spid="7184" grpId="0" animBg="1"/>
      <p:bldP spid="7185" grpId="0" animBg="1"/>
      <p:bldP spid="7187" grpId="0" animBg="1"/>
      <p:bldP spid="29" grpId="0" animBg="1"/>
      <p:bldP spid="30" grpId="0" animBg="1"/>
      <p:bldP spid="31" grpId="0" animBg="1"/>
      <p:bldP spid="32" grpId="0" animBg="1"/>
      <p:bldP spid="17" grpId="0" animBg="1"/>
      <p:bldP spid="3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133350"/>
            <a:ext cx="7467600" cy="742950"/>
          </a:xfrm>
        </p:spPr>
        <p:txBody>
          <a:bodyPr/>
          <a:lstStyle/>
          <a:p>
            <a:r>
              <a:rPr lang="en-US" dirty="0" smtClean="0"/>
              <a:t>Word Features for Relation Extraction</a:t>
            </a:r>
            <a:endParaRPr lang="en-US" dirty="0"/>
          </a:p>
        </p:txBody>
      </p:sp>
      <p:sp>
        <p:nvSpPr>
          <p:cNvPr id="6451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657350"/>
            <a:ext cx="8839200" cy="3409950"/>
          </a:xfrm>
        </p:spPr>
        <p:txBody>
          <a:bodyPr/>
          <a:lstStyle/>
          <a:p>
            <a:r>
              <a:rPr lang="en-US" dirty="0">
                <a:latin typeface="Calibri"/>
                <a:cs typeface="Calibri"/>
              </a:rPr>
              <a:t>Headwords of M1 and M2, and combination</a:t>
            </a:r>
          </a:p>
          <a:p>
            <a:pPr marL="800100" lvl="2" indent="0">
              <a:lnSpc>
                <a:spcPct val="80000"/>
              </a:lnSpc>
              <a:buNone/>
            </a:pPr>
            <a:r>
              <a:rPr lang="en-US" dirty="0" smtClean="0">
                <a:solidFill>
                  <a:srgbClr val="0000FF"/>
                </a:solidFill>
                <a:latin typeface="Calibri"/>
                <a:cs typeface="Calibri"/>
              </a:rPr>
              <a:t>Airlines             Wagner               Airlines-Wagner</a:t>
            </a:r>
          </a:p>
          <a:p>
            <a:r>
              <a:rPr lang="en-US" dirty="0" smtClean="0">
                <a:latin typeface="Calibri"/>
                <a:cs typeface="Calibri"/>
              </a:rPr>
              <a:t>Bag </a:t>
            </a:r>
            <a:r>
              <a:rPr lang="en-US" dirty="0">
                <a:latin typeface="Calibri"/>
                <a:cs typeface="Calibri"/>
              </a:rPr>
              <a:t>of words and bigrams in M1 and </a:t>
            </a:r>
            <a:r>
              <a:rPr lang="en-US" dirty="0" smtClean="0">
                <a:latin typeface="Calibri"/>
                <a:cs typeface="Calibri"/>
              </a:rPr>
              <a:t>M2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0000FF"/>
                </a:solidFill>
                <a:latin typeface="Calibri"/>
                <a:cs typeface="Calibri"/>
              </a:rPr>
              <a:t>          {American, Airlines, Tim, Wagner, American Airlines, Tim Wagner}</a:t>
            </a:r>
            <a:endParaRPr lang="en-US" sz="2000" dirty="0">
              <a:solidFill>
                <a:srgbClr val="0000FF"/>
              </a:solidFill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Words or bigrams in </a:t>
            </a:r>
            <a:r>
              <a:rPr lang="en-US" dirty="0" smtClean="0">
                <a:latin typeface="Calibri"/>
                <a:cs typeface="Calibri"/>
              </a:rPr>
              <a:t>particular positions left </a:t>
            </a:r>
            <a:r>
              <a:rPr lang="en-US" dirty="0">
                <a:latin typeface="Calibri"/>
                <a:cs typeface="Calibri"/>
              </a:rPr>
              <a:t>and right </a:t>
            </a:r>
            <a:r>
              <a:rPr lang="en-US" dirty="0" smtClean="0">
                <a:latin typeface="Calibri"/>
                <a:cs typeface="Calibri"/>
              </a:rPr>
              <a:t>of M1/M2</a:t>
            </a:r>
            <a:endParaRPr lang="en-US" dirty="0">
              <a:latin typeface="Calibri"/>
              <a:cs typeface="Calibri"/>
            </a:endParaRPr>
          </a:p>
          <a:p>
            <a:pPr marL="800100" lvl="2" indent="0">
              <a:buNone/>
            </a:pPr>
            <a:r>
              <a:rPr lang="en-US" i="1" dirty="0" smtClean="0">
                <a:latin typeface="Calibri"/>
                <a:cs typeface="Calibri"/>
              </a:rPr>
              <a:t>M2: -1 </a:t>
            </a:r>
            <a:r>
              <a:rPr lang="en-US" i="1" dirty="0" smtClean="0">
                <a:solidFill>
                  <a:srgbClr val="0000FF"/>
                </a:solidFill>
                <a:latin typeface="Calibri"/>
                <a:cs typeface="Calibri"/>
              </a:rPr>
              <a:t>spokesman</a:t>
            </a:r>
          </a:p>
          <a:p>
            <a:pPr marL="800100" lvl="2" indent="0">
              <a:buNone/>
            </a:pPr>
            <a:r>
              <a:rPr lang="en-US" i="1" dirty="0" smtClean="0">
                <a:latin typeface="Calibri"/>
                <a:cs typeface="Calibri"/>
              </a:rPr>
              <a:t>M2: +1 </a:t>
            </a:r>
            <a:r>
              <a:rPr lang="en-US" i="1" dirty="0" smtClean="0">
                <a:solidFill>
                  <a:srgbClr val="0000FF"/>
                </a:solidFill>
                <a:latin typeface="Calibri"/>
                <a:cs typeface="Calibri"/>
              </a:rPr>
              <a:t>said</a:t>
            </a:r>
            <a:endParaRPr lang="en-US" i="1" dirty="0">
              <a:solidFill>
                <a:srgbClr val="0000FF"/>
              </a:solidFill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Bag of words or bigrams between the two </a:t>
            </a:r>
            <a:r>
              <a:rPr lang="en-US" dirty="0" smtClean="0">
                <a:latin typeface="Calibri"/>
                <a:cs typeface="Calibri"/>
              </a:rPr>
              <a:t>entities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rgbClr val="0000FF"/>
                </a:solidFill>
                <a:latin typeface="Calibri"/>
                <a:cs typeface="Calibri"/>
              </a:rPr>
              <a:t>{a, AMR, of, immediately, matched, move, spokesman, the, unit}</a:t>
            </a:r>
            <a:endParaRPr lang="en-US" dirty="0">
              <a:solidFill>
                <a:srgbClr val="0000FF"/>
              </a:solidFill>
              <a:latin typeface="Calibri"/>
              <a:cs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6200" y="1123950"/>
            <a:ext cx="9187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1" dirty="0">
                <a:solidFill>
                  <a:srgbClr val="0000FF"/>
                </a:solidFill>
                <a:latin typeface="Calibri"/>
                <a:cs typeface="Calibri"/>
              </a:rPr>
              <a:t>American Airlines</a:t>
            </a:r>
            <a:r>
              <a:rPr lang="en-US" sz="1800" i="1" dirty="0">
                <a:solidFill>
                  <a:srgbClr val="000000"/>
                </a:solidFill>
                <a:latin typeface="Calibri"/>
                <a:cs typeface="Calibri"/>
              </a:rPr>
              <a:t>, a unit of AMR, immediately matched the move, spokesman </a:t>
            </a:r>
            <a:r>
              <a:rPr lang="en-US" sz="1800" b="1" i="1" dirty="0">
                <a:solidFill>
                  <a:srgbClr val="0000FF"/>
                </a:solidFill>
                <a:latin typeface="Calibri"/>
                <a:cs typeface="Calibri"/>
              </a:rPr>
              <a:t>Tim Wagner </a:t>
            </a:r>
            <a:r>
              <a:rPr lang="en-US" sz="1800" i="1" dirty="0">
                <a:solidFill>
                  <a:srgbClr val="000000"/>
                </a:solidFill>
                <a:latin typeface="Calibri"/>
                <a:cs typeface="Calibri"/>
              </a:rPr>
              <a:t>said</a:t>
            </a:r>
            <a:endParaRPr lang="en-US" sz="1800" dirty="0">
              <a:latin typeface="+mn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52550"/>
            <a:ext cx="1158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+mn-lt"/>
              </a:rPr>
              <a:t>Mention 1</a:t>
            </a:r>
            <a:endParaRPr lang="en-US" sz="1800" dirty="0"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27859" y="1352550"/>
            <a:ext cx="1158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+mn-lt"/>
              </a:rPr>
              <a:t>Mention 2</a:t>
            </a:r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99426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Named </a:t>
            </a:r>
            <a:r>
              <a:rPr lang="en-US" dirty="0"/>
              <a:t>Entity Type and Mention </a:t>
            </a:r>
            <a:r>
              <a:rPr lang="en-US" dirty="0" smtClean="0"/>
              <a:t>Level</a:t>
            </a:r>
            <a:br>
              <a:rPr lang="en-US" dirty="0" smtClean="0"/>
            </a:br>
            <a:r>
              <a:rPr lang="en-US" dirty="0" smtClean="0"/>
              <a:t>Features for Relation Extraction</a:t>
            </a:r>
            <a:endParaRPr lang="en-US" dirty="0"/>
          </a:p>
        </p:txBody>
      </p:sp>
      <p:sp>
        <p:nvSpPr>
          <p:cNvPr id="6451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962150"/>
            <a:ext cx="8534400" cy="3028950"/>
          </a:xfrm>
        </p:spPr>
        <p:txBody>
          <a:bodyPr/>
          <a:lstStyle/>
          <a:p>
            <a:r>
              <a:rPr lang="en-US" dirty="0">
                <a:latin typeface="Calibri"/>
                <a:cs typeface="Calibri"/>
              </a:rPr>
              <a:t>Named-entity </a:t>
            </a:r>
            <a:r>
              <a:rPr lang="en-US" dirty="0" smtClean="0">
                <a:latin typeface="Calibri"/>
                <a:cs typeface="Calibri"/>
              </a:rPr>
              <a:t>types</a:t>
            </a:r>
          </a:p>
          <a:p>
            <a:pPr lvl="1"/>
            <a:r>
              <a:rPr lang="en-US" dirty="0" smtClean="0">
                <a:latin typeface="Calibri"/>
                <a:cs typeface="Calibri"/>
              </a:rPr>
              <a:t>M1:  </a:t>
            </a:r>
            <a:r>
              <a:rPr lang="en-US" dirty="0" smtClean="0">
                <a:solidFill>
                  <a:srgbClr val="0000FF"/>
                </a:solidFill>
                <a:latin typeface="Calibri"/>
                <a:cs typeface="Calibri"/>
              </a:rPr>
              <a:t>ORG</a:t>
            </a:r>
          </a:p>
          <a:p>
            <a:pPr lvl="1"/>
            <a:r>
              <a:rPr lang="en-US" dirty="0" smtClean="0">
                <a:latin typeface="Calibri"/>
                <a:cs typeface="Calibri"/>
              </a:rPr>
              <a:t>M2:  </a:t>
            </a:r>
            <a:r>
              <a:rPr lang="en-US" dirty="0" smtClean="0">
                <a:solidFill>
                  <a:srgbClr val="0000FF"/>
                </a:solidFill>
                <a:latin typeface="Calibri"/>
                <a:cs typeface="Calibri"/>
              </a:rPr>
              <a:t>PERSON</a:t>
            </a:r>
            <a:endParaRPr lang="en-US" dirty="0">
              <a:solidFill>
                <a:srgbClr val="0000FF"/>
              </a:solidFill>
              <a:latin typeface="Calibri"/>
              <a:cs typeface="Calibri"/>
            </a:endParaRPr>
          </a:p>
          <a:p>
            <a:r>
              <a:rPr lang="en-US" dirty="0" smtClean="0">
                <a:latin typeface="Calibri"/>
                <a:cs typeface="Calibri"/>
              </a:rPr>
              <a:t>Concatenation </a:t>
            </a:r>
            <a:r>
              <a:rPr lang="en-US" dirty="0">
                <a:latin typeface="Calibri"/>
                <a:cs typeface="Calibri"/>
              </a:rPr>
              <a:t>of </a:t>
            </a:r>
            <a:r>
              <a:rPr lang="en-US" dirty="0" smtClean="0">
                <a:latin typeface="Calibri"/>
                <a:cs typeface="Calibri"/>
              </a:rPr>
              <a:t>the two named-entity types</a:t>
            </a:r>
          </a:p>
          <a:p>
            <a:pPr lvl="1"/>
            <a:r>
              <a:rPr lang="en-US" dirty="0" smtClean="0">
                <a:solidFill>
                  <a:srgbClr val="0000FF"/>
                </a:solidFill>
                <a:latin typeface="Calibri"/>
                <a:cs typeface="Calibri"/>
              </a:rPr>
              <a:t>ORG-PERSON</a:t>
            </a:r>
            <a:endParaRPr lang="en-US" dirty="0">
              <a:solidFill>
                <a:srgbClr val="0000FF"/>
              </a:solidFill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Entity Level of M1 and M2 </a:t>
            </a:r>
            <a:r>
              <a:rPr lang="en-US" dirty="0" smtClean="0">
                <a:latin typeface="Calibri"/>
                <a:cs typeface="Calibri"/>
              </a:rPr>
              <a:t> (NAME, NOMINAL, PRONOUN)</a:t>
            </a:r>
            <a:endParaRPr lang="en-US" dirty="0">
              <a:latin typeface="Calibri"/>
              <a:cs typeface="Calibri"/>
            </a:endParaRPr>
          </a:p>
          <a:p>
            <a:pPr lvl="1"/>
            <a:r>
              <a:rPr lang="en-US" dirty="0" smtClean="0">
                <a:latin typeface="Calibri"/>
                <a:cs typeface="Calibri"/>
              </a:rPr>
              <a:t>M1: </a:t>
            </a:r>
            <a:r>
              <a:rPr lang="en-US" dirty="0" smtClean="0">
                <a:solidFill>
                  <a:srgbClr val="0000FF"/>
                </a:solidFill>
                <a:latin typeface="Calibri"/>
                <a:cs typeface="Calibri"/>
              </a:rPr>
              <a:t>NAME		[it  </a:t>
            </a:r>
            <a:r>
              <a:rPr lang="en-US" dirty="0" smtClean="0">
                <a:latin typeface="Calibri"/>
                <a:cs typeface="Calibri"/>
              </a:rPr>
              <a:t>or</a:t>
            </a:r>
            <a:r>
              <a:rPr lang="en-US" dirty="0" smtClean="0">
                <a:solidFill>
                  <a:srgbClr val="0000FF"/>
                </a:solidFill>
                <a:latin typeface="Calibri"/>
                <a:cs typeface="Calibri"/>
              </a:rPr>
              <a:t> he </a:t>
            </a:r>
            <a:r>
              <a:rPr lang="en-US" dirty="0" smtClean="0">
                <a:solidFill>
                  <a:srgbClr val="000000"/>
                </a:solidFill>
                <a:latin typeface="Calibri"/>
                <a:cs typeface="Calibri"/>
              </a:rPr>
              <a:t>would be </a:t>
            </a:r>
            <a:r>
              <a:rPr lang="en-US" dirty="0" smtClean="0">
                <a:solidFill>
                  <a:srgbClr val="0000FF"/>
                </a:solidFill>
                <a:latin typeface="Calibri"/>
                <a:cs typeface="Calibri"/>
              </a:rPr>
              <a:t>PRONOUN]</a:t>
            </a:r>
          </a:p>
          <a:p>
            <a:pPr lvl="1"/>
            <a:r>
              <a:rPr lang="en-US" dirty="0" smtClean="0">
                <a:latin typeface="Calibri"/>
                <a:cs typeface="Calibri"/>
              </a:rPr>
              <a:t>M2: </a:t>
            </a:r>
            <a:r>
              <a:rPr lang="en-US" dirty="0" smtClean="0">
                <a:solidFill>
                  <a:srgbClr val="0000FF"/>
                </a:solidFill>
                <a:latin typeface="Calibri"/>
                <a:cs typeface="Calibri"/>
              </a:rPr>
              <a:t>NAME		[the company  </a:t>
            </a:r>
            <a:r>
              <a:rPr lang="en-US" dirty="0" smtClean="0">
                <a:solidFill>
                  <a:srgbClr val="000000"/>
                </a:solidFill>
                <a:latin typeface="Calibri"/>
                <a:cs typeface="Calibri"/>
              </a:rPr>
              <a:t>would be </a:t>
            </a:r>
            <a:r>
              <a:rPr lang="en-US" dirty="0" smtClean="0">
                <a:solidFill>
                  <a:srgbClr val="0000FF"/>
                </a:solidFill>
                <a:latin typeface="Calibri"/>
                <a:cs typeface="Calibri"/>
              </a:rPr>
              <a:t>NOMINAL]</a:t>
            </a:r>
            <a:endParaRPr lang="en-US" dirty="0">
              <a:solidFill>
                <a:srgbClr val="0000FF"/>
              </a:solidFill>
              <a:latin typeface="Calibri"/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" y="1288018"/>
            <a:ext cx="9187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1" dirty="0">
                <a:solidFill>
                  <a:srgbClr val="0000FF"/>
                </a:solidFill>
                <a:latin typeface="Calibri"/>
                <a:cs typeface="Calibri"/>
              </a:rPr>
              <a:t>American Airlines</a:t>
            </a:r>
            <a:r>
              <a:rPr lang="en-US" sz="1800" i="1" dirty="0">
                <a:solidFill>
                  <a:srgbClr val="000000"/>
                </a:solidFill>
                <a:latin typeface="Calibri"/>
                <a:cs typeface="Calibri"/>
              </a:rPr>
              <a:t>, a unit of AMR, immediately matched the move, spokesman </a:t>
            </a:r>
            <a:r>
              <a:rPr lang="en-US" sz="1800" b="1" i="1" dirty="0">
                <a:solidFill>
                  <a:srgbClr val="0000FF"/>
                </a:solidFill>
                <a:latin typeface="Calibri"/>
                <a:cs typeface="Calibri"/>
              </a:rPr>
              <a:t>Tim Wagner </a:t>
            </a:r>
            <a:r>
              <a:rPr lang="en-US" sz="1800" i="1" dirty="0">
                <a:solidFill>
                  <a:srgbClr val="000000"/>
                </a:solidFill>
                <a:latin typeface="Calibri"/>
                <a:cs typeface="Calibri"/>
              </a:rPr>
              <a:t>said</a:t>
            </a:r>
            <a:endParaRPr lang="en-US" sz="1800" dirty="0"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516618"/>
            <a:ext cx="1158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+mn-lt"/>
              </a:rPr>
              <a:t>Mention 1</a:t>
            </a:r>
            <a:endParaRPr lang="en-US" sz="1800" dirty="0"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27859" y="1516618"/>
            <a:ext cx="1158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+mn-lt"/>
              </a:rPr>
              <a:t>Mention 2</a:t>
            </a:r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92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Features for Relation Extraction</a:t>
            </a:r>
          </a:p>
        </p:txBody>
      </p:sp>
      <p:sp>
        <p:nvSpPr>
          <p:cNvPr id="64516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04800" y="1962150"/>
            <a:ext cx="8534400" cy="3028950"/>
          </a:xfrm>
        </p:spPr>
        <p:txBody>
          <a:bodyPr/>
          <a:lstStyle/>
          <a:p>
            <a:r>
              <a:rPr lang="en-US" dirty="0" smtClean="0">
                <a:cs typeface="Calibri"/>
              </a:rPr>
              <a:t>Base </a:t>
            </a:r>
            <a:r>
              <a:rPr lang="en-US" dirty="0">
                <a:cs typeface="Calibri"/>
              </a:rPr>
              <a:t>syntactic chunk sequence from one to the </a:t>
            </a:r>
            <a:r>
              <a:rPr lang="en-US" dirty="0" smtClean="0">
                <a:cs typeface="Calibri"/>
              </a:rPr>
              <a:t>other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rgbClr val="0000FF"/>
                </a:solidFill>
                <a:cs typeface="Calibri"/>
              </a:rPr>
              <a:t>NP     NP    PP   VP    NP    NP</a:t>
            </a:r>
          </a:p>
          <a:p>
            <a:r>
              <a:rPr lang="en-US" dirty="0">
                <a:cs typeface="Calibri"/>
              </a:rPr>
              <a:t>Constituent path through the tree from one to the other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00FF"/>
                </a:solidFill>
                <a:cs typeface="Calibri"/>
              </a:rPr>
              <a:t>NP   </a:t>
            </a:r>
            <a:r>
              <a:rPr lang="en-US" dirty="0">
                <a:solidFill>
                  <a:srgbClr val="0000FF"/>
                </a:solidFill>
                <a:latin typeface="Wingdings"/>
                <a:ea typeface="Wingdings"/>
                <a:cs typeface="Wingdings"/>
                <a:sym typeface="Wingdings"/>
              </a:rPr>
              <a:t> </a:t>
            </a:r>
            <a:r>
              <a:rPr lang="en-US" dirty="0">
                <a:solidFill>
                  <a:srgbClr val="0000FF"/>
                </a:solidFill>
                <a:cs typeface="Calibri"/>
              </a:rPr>
              <a:t>NP   </a:t>
            </a:r>
            <a:r>
              <a:rPr lang="en-US" dirty="0">
                <a:solidFill>
                  <a:srgbClr val="0000FF"/>
                </a:solidFill>
                <a:latin typeface="Wingdings"/>
                <a:ea typeface="Wingdings"/>
                <a:cs typeface="Wingdings"/>
                <a:sym typeface="Wingdings"/>
              </a:rPr>
              <a:t></a:t>
            </a:r>
            <a:r>
              <a:rPr lang="en-US" dirty="0">
                <a:solidFill>
                  <a:srgbClr val="0000FF"/>
                </a:solidFill>
                <a:cs typeface="Calibri"/>
              </a:rPr>
              <a:t>    S    </a:t>
            </a:r>
            <a:r>
              <a:rPr lang="en-US" dirty="0">
                <a:solidFill>
                  <a:srgbClr val="0000FF"/>
                </a:solidFill>
                <a:latin typeface="Wingdings"/>
                <a:ea typeface="Wingdings"/>
                <a:cs typeface="Wingdings"/>
                <a:sym typeface="Wingdings"/>
              </a:rPr>
              <a:t> </a:t>
            </a:r>
            <a:r>
              <a:rPr lang="en-US" dirty="0">
                <a:solidFill>
                  <a:srgbClr val="0000FF"/>
                </a:solidFill>
                <a:cs typeface="Calibri"/>
              </a:rPr>
              <a:t>S    </a:t>
            </a:r>
            <a:r>
              <a:rPr lang="en-US" dirty="0">
                <a:solidFill>
                  <a:srgbClr val="0000FF"/>
                </a:solidFill>
                <a:latin typeface="Wingdings"/>
                <a:ea typeface="Wingdings"/>
                <a:cs typeface="Wingdings"/>
                <a:sym typeface="Wingdings"/>
              </a:rPr>
              <a:t> </a:t>
            </a:r>
            <a:r>
              <a:rPr lang="en-US" dirty="0" smtClean="0">
                <a:solidFill>
                  <a:srgbClr val="0000FF"/>
                </a:solidFill>
                <a:cs typeface="Calibri"/>
              </a:rPr>
              <a:t>NP</a:t>
            </a:r>
            <a:endParaRPr lang="en-US" dirty="0">
              <a:solidFill>
                <a:srgbClr val="0000FF"/>
              </a:solidFill>
              <a:cs typeface="Calibri"/>
            </a:endParaRPr>
          </a:p>
          <a:p>
            <a:r>
              <a:rPr lang="en-US" dirty="0">
                <a:cs typeface="Calibri"/>
              </a:rPr>
              <a:t>Dependency </a:t>
            </a:r>
            <a:r>
              <a:rPr lang="en-US" dirty="0" smtClean="0">
                <a:cs typeface="Calibri"/>
              </a:rPr>
              <a:t>path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00FF"/>
                </a:solidFill>
                <a:cs typeface="Calibri"/>
              </a:rPr>
              <a:t>         Airlines    matched      Wagner   said</a:t>
            </a:r>
            <a:endParaRPr lang="en-US" dirty="0">
              <a:solidFill>
                <a:srgbClr val="0000FF"/>
              </a:solidFill>
              <a:cs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200" y="1288018"/>
            <a:ext cx="9187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1" dirty="0">
                <a:solidFill>
                  <a:srgbClr val="0000FF"/>
                </a:solidFill>
                <a:latin typeface="Calibri"/>
                <a:cs typeface="Calibri"/>
              </a:rPr>
              <a:t>American Airlines</a:t>
            </a:r>
            <a:r>
              <a:rPr lang="en-US" sz="1800" i="1" dirty="0">
                <a:solidFill>
                  <a:srgbClr val="000000"/>
                </a:solidFill>
                <a:latin typeface="Calibri"/>
                <a:cs typeface="Calibri"/>
              </a:rPr>
              <a:t>, a unit of AMR, immediately matched the move, spokesman </a:t>
            </a:r>
            <a:r>
              <a:rPr lang="en-US" sz="1800" b="1" i="1" dirty="0">
                <a:solidFill>
                  <a:srgbClr val="0000FF"/>
                </a:solidFill>
                <a:latin typeface="Calibri"/>
                <a:cs typeface="Calibri"/>
              </a:rPr>
              <a:t>Tim Wagner </a:t>
            </a:r>
            <a:r>
              <a:rPr lang="en-US" sz="1800" i="1" dirty="0">
                <a:solidFill>
                  <a:srgbClr val="000000"/>
                </a:solidFill>
                <a:latin typeface="Calibri"/>
                <a:cs typeface="Calibri"/>
              </a:rPr>
              <a:t>said</a:t>
            </a:r>
            <a:endParaRPr lang="en-US" sz="1800" dirty="0"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1516618"/>
            <a:ext cx="1158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+mn-lt"/>
              </a:rPr>
              <a:t>Mention 1</a:t>
            </a:r>
            <a:endParaRPr lang="en-US" sz="1800" dirty="0"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27859" y="1516618"/>
            <a:ext cx="1158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latin typeface="+mn-lt"/>
              </a:rPr>
              <a:t>Mention 2</a:t>
            </a:r>
            <a:endParaRPr 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1451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Gazeteer</a:t>
            </a:r>
            <a:r>
              <a:rPr lang="en-US" dirty="0" smtClean="0"/>
              <a:t> </a:t>
            </a:r>
            <a:r>
              <a:rPr lang="en-US" dirty="0"/>
              <a:t>and trigger </a:t>
            </a:r>
            <a:r>
              <a:rPr lang="en-US" dirty="0" smtClean="0"/>
              <a:t>word features for relation extraction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Trigger list for family: kinship terms</a:t>
            </a:r>
            <a:endParaRPr lang="en-US" dirty="0"/>
          </a:p>
          <a:p>
            <a:pPr lvl="1"/>
            <a:r>
              <a:rPr lang="en-US" dirty="0" smtClean="0">
                <a:solidFill>
                  <a:srgbClr val="0000FF"/>
                </a:solidFill>
              </a:rPr>
              <a:t>parent</a:t>
            </a:r>
            <a:r>
              <a:rPr lang="en-US" dirty="0">
                <a:solidFill>
                  <a:srgbClr val="0000FF"/>
                </a:solidFill>
              </a:rPr>
              <a:t>, wife, </a:t>
            </a:r>
            <a:r>
              <a:rPr lang="en-US" dirty="0" smtClean="0">
                <a:solidFill>
                  <a:srgbClr val="0000FF"/>
                </a:solidFill>
              </a:rPr>
              <a:t>husband, </a:t>
            </a:r>
            <a:r>
              <a:rPr lang="en-US" dirty="0">
                <a:solidFill>
                  <a:srgbClr val="0000FF"/>
                </a:solidFill>
              </a:rPr>
              <a:t>grandparent, </a:t>
            </a:r>
            <a:r>
              <a:rPr lang="en-US" dirty="0" smtClean="0">
                <a:solidFill>
                  <a:srgbClr val="0000FF"/>
                </a:solidFill>
              </a:rPr>
              <a:t>etc. </a:t>
            </a:r>
            <a:r>
              <a:rPr lang="en-US" dirty="0" smtClean="0"/>
              <a:t>[from </a:t>
            </a:r>
            <a:r>
              <a:rPr lang="en-US" dirty="0" err="1" smtClean="0"/>
              <a:t>WordNet</a:t>
            </a:r>
            <a:r>
              <a:rPr lang="en-US" dirty="0" smtClean="0"/>
              <a:t>]</a:t>
            </a:r>
            <a:endParaRPr lang="en-US" dirty="0"/>
          </a:p>
          <a:p>
            <a:r>
              <a:rPr lang="en-US" dirty="0" err="1" smtClean="0"/>
              <a:t>Gazeteer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Lists of useful geo or geopolitical words</a:t>
            </a:r>
          </a:p>
          <a:p>
            <a:pPr lvl="2"/>
            <a:r>
              <a:rPr lang="en-US" dirty="0" smtClean="0"/>
              <a:t>Country </a:t>
            </a:r>
            <a:r>
              <a:rPr lang="en-US" dirty="0"/>
              <a:t>name </a:t>
            </a:r>
            <a:r>
              <a:rPr lang="en-US" dirty="0" smtClean="0"/>
              <a:t>list</a:t>
            </a:r>
          </a:p>
          <a:p>
            <a:pPr lvl="2"/>
            <a:r>
              <a:rPr lang="en-US" dirty="0" smtClean="0"/>
              <a:t>Other sub-entities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99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Classifiers for supervised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Now you can use any classifier you like</a:t>
            </a:r>
          </a:p>
          <a:p>
            <a:pPr lvl="1"/>
            <a:r>
              <a:rPr lang="en-US" sz="2400" dirty="0" err="1" smtClean="0"/>
              <a:t>MaxEnt</a:t>
            </a:r>
            <a:endParaRPr lang="en-US" sz="2400" dirty="0"/>
          </a:p>
          <a:p>
            <a:pPr lvl="1"/>
            <a:r>
              <a:rPr lang="en-US" sz="2400" dirty="0"/>
              <a:t>Naïve Bayes</a:t>
            </a:r>
          </a:p>
          <a:p>
            <a:pPr lvl="1"/>
            <a:r>
              <a:rPr lang="en-US" sz="2400" dirty="0"/>
              <a:t>SVM</a:t>
            </a:r>
          </a:p>
          <a:p>
            <a:pPr lvl="1"/>
            <a:r>
              <a:rPr lang="en-US" sz="2400" dirty="0" smtClean="0"/>
              <a:t>...</a:t>
            </a:r>
          </a:p>
          <a:p>
            <a:r>
              <a:rPr lang="en-US" dirty="0" smtClean="0"/>
              <a:t>Train it on the training set, tune on the </a:t>
            </a:r>
            <a:r>
              <a:rPr lang="en-US" dirty="0" err="1" smtClean="0"/>
              <a:t>dev</a:t>
            </a:r>
            <a:r>
              <a:rPr lang="en-US" dirty="0" smtClean="0"/>
              <a:t> set, test on the test set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40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Evaluation of Supervised Relation Extraction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76350"/>
            <a:ext cx="8686800" cy="3790950"/>
          </a:xfrm>
        </p:spPr>
        <p:txBody>
          <a:bodyPr/>
          <a:lstStyle/>
          <a:p>
            <a:r>
              <a:rPr lang="en-US" sz="2800" dirty="0" smtClean="0"/>
              <a:t>Compute P/R/F</a:t>
            </a:r>
            <a:r>
              <a:rPr lang="en-US" sz="2800" baseline="-25000" dirty="0" smtClean="0"/>
              <a:t>1</a:t>
            </a:r>
            <a:r>
              <a:rPr lang="en-US" sz="2800" dirty="0" smtClean="0"/>
              <a:t> for each relation</a:t>
            </a:r>
          </a:p>
          <a:p>
            <a:pPr lvl="1"/>
            <a:endParaRPr lang="en-US" dirty="0" smtClean="0"/>
          </a:p>
          <a:p>
            <a:endParaRPr lang="en-US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33</a:t>
            </a:fld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2219827"/>
              </p:ext>
            </p:extLst>
          </p:nvPr>
        </p:nvGraphicFramePr>
        <p:xfrm>
          <a:off x="1219200" y="2114550"/>
          <a:ext cx="4412876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Equation" r:id="rId3" imgW="2273300" imgH="431800" progId="Equation.3">
                  <p:embed/>
                </p:oleObj>
              </mc:Choice>
              <mc:Fallback>
                <p:oleObj name="Equation" r:id="rId3" imgW="2273300" imgH="431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9200" y="2114550"/>
                        <a:ext cx="4412876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4373870"/>
              </p:ext>
            </p:extLst>
          </p:nvPr>
        </p:nvGraphicFramePr>
        <p:xfrm>
          <a:off x="1219200" y="3409950"/>
          <a:ext cx="443753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Equation" r:id="rId5" imgW="2286000" imgH="431800" progId="Equation.3">
                  <p:embed/>
                </p:oleObj>
              </mc:Choice>
              <mc:Fallback>
                <p:oleObj name="Equation" r:id="rId5" imgW="2286000" imgH="431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19200" y="3409950"/>
                        <a:ext cx="443753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1693539"/>
              </p:ext>
            </p:extLst>
          </p:nvPr>
        </p:nvGraphicFramePr>
        <p:xfrm>
          <a:off x="6553200" y="2571750"/>
          <a:ext cx="1563329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Equation" r:id="rId7" imgW="673100" imgH="393700" progId="Equation.3">
                  <p:embed/>
                </p:oleObj>
              </mc:Choice>
              <mc:Fallback>
                <p:oleObj name="Equation" r:id="rId7" imgW="673100" imgH="3937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553200" y="2571750"/>
                        <a:ext cx="1563329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4105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Summary: Supervised Relation Extraction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428750"/>
            <a:ext cx="8153400" cy="3943350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 smtClean="0"/>
              <a:t>+</a:t>
            </a:r>
            <a:r>
              <a:rPr lang="en-US" sz="2800" dirty="0" smtClean="0"/>
              <a:t>  Can </a:t>
            </a:r>
            <a:r>
              <a:rPr lang="en-US" sz="2800" dirty="0"/>
              <a:t>get high accuracies with enough hand-labeled training </a:t>
            </a:r>
            <a:r>
              <a:rPr lang="en-US" sz="2800" dirty="0" smtClean="0"/>
              <a:t>data, if test similar enough to training</a:t>
            </a:r>
            <a:endParaRPr lang="en-US" sz="2800" dirty="0"/>
          </a:p>
          <a:p>
            <a:pPr marL="0" indent="0">
              <a:buNone/>
            </a:pPr>
            <a:r>
              <a:rPr lang="en-US" sz="3600" b="1" dirty="0" smtClean="0"/>
              <a:t>- </a:t>
            </a:r>
            <a:r>
              <a:rPr lang="en-US" sz="2800" dirty="0" smtClean="0"/>
              <a:t>  </a:t>
            </a:r>
            <a:r>
              <a:rPr lang="en-US" sz="2800" dirty="0"/>
              <a:t>L</a:t>
            </a:r>
            <a:r>
              <a:rPr lang="en-US" sz="2800" dirty="0" smtClean="0"/>
              <a:t>abeling a large training set is expensive</a:t>
            </a:r>
          </a:p>
          <a:p>
            <a:pPr marL="0" indent="0">
              <a:buNone/>
            </a:pPr>
            <a:r>
              <a:rPr lang="en-US" sz="3600" b="1" dirty="0" smtClean="0"/>
              <a:t>- </a:t>
            </a:r>
            <a:r>
              <a:rPr lang="en-US" sz="2800" dirty="0" smtClean="0"/>
              <a:t>  Supervised models are brittle, don’t generalize well to different genres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656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 smtClean="0">
                <a:latin typeface="Calibri (Headings)"/>
                <a:cs typeface="Calibri (Headings)"/>
              </a:rPr>
              <a:t>Relation Extraction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 smtClean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Supervised relation extraction</a:t>
            </a:r>
            <a:endParaRPr lang="en-US" sz="3600" dirty="0">
              <a:solidFill>
                <a:srgbClr val="A4001D"/>
              </a:solidFill>
              <a:latin typeface="Calibri"/>
              <a:ea typeface="ＭＳ Ｐゴシック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0688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 smtClean="0">
                <a:latin typeface="Calibri (Headings)"/>
                <a:cs typeface="Calibri (Headings)"/>
              </a:rPr>
              <a:t>Relation Extraction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 smtClean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Semi-supervised and unsupervised relation extraction</a:t>
            </a:r>
            <a:endParaRPr lang="en-US" sz="3600" dirty="0">
              <a:solidFill>
                <a:srgbClr val="A4001D"/>
              </a:solidFill>
              <a:latin typeface="Calibri"/>
              <a:ea typeface="ＭＳ Ｐゴシック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64820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Seed-based or bootstrapping </a:t>
            </a:r>
            <a:r>
              <a:rPr lang="en-US" dirty="0"/>
              <a:t>a</a:t>
            </a:r>
            <a:r>
              <a:rPr lang="en-US" dirty="0" smtClean="0"/>
              <a:t>pproaches to relation extraction</a:t>
            </a:r>
            <a:endParaRPr lang="en-US" dirty="0"/>
          </a:p>
        </p:txBody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52550"/>
            <a:ext cx="8763000" cy="3333750"/>
          </a:xfrm>
        </p:spPr>
        <p:txBody>
          <a:bodyPr/>
          <a:lstStyle/>
          <a:p>
            <a:r>
              <a:rPr lang="en-US" sz="2800" dirty="0" smtClean="0"/>
              <a:t>No training set? Maybe you have:</a:t>
            </a:r>
            <a:endParaRPr lang="en-US" sz="2800" dirty="0"/>
          </a:p>
          <a:p>
            <a:pPr lvl="1"/>
            <a:r>
              <a:rPr lang="en-US" sz="2400" dirty="0" smtClean="0"/>
              <a:t>A few seed </a:t>
            </a:r>
            <a:r>
              <a:rPr lang="en-US" sz="2400" dirty="0"/>
              <a:t>tuples </a:t>
            </a:r>
            <a:r>
              <a:rPr lang="en-US" sz="2400" dirty="0" smtClean="0"/>
              <a:t> or</a:t>
            </a:r>
            <a:endParaRPr lang="en-US" sz="2400" dirty="0"/>
          </a:p>
          <a:p>
            <a:pPr lvl="1"/>
            <a:r>
              <a:rPr lang="en-US" sz="2400" dirty="0" smtClean="0"/>
              <a:t>A few high-precision patterns</a:t>
            </a:r>
          </a:p>
          <a:p>
            <a:r>
              <a:rPr lang="en-US" sz="2800" dirty="0" smtClean="0"/>
              <a:t>Can </a:t>
            </a:r>
            <a:r>
              <a:rPr lang="en-US" sz="2800" dirty="0"/>
              <a:t>you use those seeds to do something useful?</a:t>
            </a:r>
          </a:p>
          <a:p>
            <a:pPr lvl="1"/>
            <a:r>
              <a:rPr lang="en-US" sz="2400" dirty="0" smtClean="0"/>
              <a:t>Bootstrapping: use the seeds to directly learn to populate </a:t>
            </a:r>
            <a:r>
              <a:rPr lang="en-US" sz="2400" dirty="0"/>
              <a:t>a </a:t>
            </a:r>
            <a:r>
              <a:rPr lang="en-US" sz="2400" dirty="0" smtClean="0"/>
              <a:t>relation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4323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Relation Bootstrapping (Hearst 1992)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800" dirty="0" smtClean="0"/>
              <a:t>Gather a set of seed pairs that have relation R</a:t>
            </a:r>
          </a:p>
          <a:p>
            <a:r>
              <a:rPr lang="en-US" sz="2800" dirty="0" smtClean="0"/>
              <a:t>Iterate:</a:t>
            </a:r>
          </a:p>
          <a:p>
            <a:pPr marL="857250" lvl="1" indent="-514350">
              <a:buFont typeface="+mj-lt"/>
              <a:buAutoNum type="arabicPeriod"/>
            </a:pPr>
            <a:r>
              <a:rPr lang="en-US" sz="2800" dirty="0" smtClean="0"/>
              <a:t>Find sentences with these pairs</a:t>
            </a:r>
          </a:p>
          <a:p>
            <a:pPr marL="857250" lvl="1" indent="-514350">
              <a:buFont typeface="+mj-lt"/>
              <a:buAutoNum type="arabicPeriod"/>
            </a:pPr>
            <a:r>
              <a:rPr lang="en-US" sz="2800" dirty="0" smtClean="0"/>
              <a:t>Look at the context between or around the pair and </a:t>
            </a:r>
            <a:r>
              <a:rPr lang="en-US" sz="2800" dirty="0"/>
              <a:t>g</a:t>
            </a:r>
            <a:r>
              <a:rPr lang="en-US" sz="2800" dirty="0" smtClean="0"/>
              <a:t>eneralize the context to create patterns</a:t>
            </a:r>
          </a:p>
          <a:p>
            <a:pPr marL="857250" lvl="1" indent="-514350">
              <a:buFont typeface="+mj-lt"/>
              <a:buAutoNum type="arabicPeriod"/>
            </a:pPr>
            <a:r>
              <a:rPr lang="en-US" sz="2800" dirty="0" smtClean="0"/>
              <a:t>Use the patterns for </a:t>
            </a:r>
            <a:r>
              <a:rPr lang="en-US" sz="2800" dirty="0" err="1" smtClean="0"/>
              <a:t>grep</a:t>
            </a:r>
            <a:r>
              <a:rPr lang="en-US" sz="2800" dirty="0" smtClean="0"/>
              <a:t> for more pairs</a:t>
            </a:r>
          </a:p>
          <a:p>
            <a:pPr marL="342900" lvl="1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0127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Bootstrapping </a:t>
            </a:r>
          </a:p>
        </p:txBody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76350"/>
            <a:ext cx="8534400" cy="3505200"/>
          </a:xfrm>
        </p:spPr>
        <p:txBody>
          <a:bodyPr/>
          <a:lstStyle/>
          <a:p>
            <a:r>
              <a:rPr lang="en-US" sz="2400" dirty="0"/>
              <a:t>&lt;Mark Twain, Elmira&gt;  </a:t>
            </a:r>
            <a:r>
              <a:rPr lang="en-US" sz="2400" dirty="0">
                <a:solidFill>
                  <a:srgbClr val="008000"/>
                </a:solidFill>
              </a:rPr>
              <a:t>Seed tuple</a:t>
            </a:r>
            <a:endParaRPr lang="en-US" sz="2400" dirty="0"/>
          </a:p>
          <a:p>
            <a:pPr lvl="1"/>
            <a:r>
              <a:rPr lang="en-US" dirty="0" err="1"/>
              <a:t>Grep</a:t>
            </a:r>
            <a:r>
              <a:rPr lang="en-US" dirty="0"/>
              <a:t> (</a:t>
            </a:r>
            <a:r>
              <a:rPr lang="en-US" dirty="0" err="1"/>
              <a:t>google</a:t>
            </a:r>
            <a:r>
              <a:rPr lang="en-US" dirty="0" smtClean="0"/>
              <a:t>) for the environments of the seed tuple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“Mark Twain is buried in Elmira, NY.”</a:t>
            </a:r>
          </a:p>
          <a:p>
            <a:pPr marL="800100" lvl="2" indent="0">
              <a:buNone/>
            </a:pPr>
            <a:r>
              <a:rPr lang="en-US" dirty="0">
                <a:solidFill>
                  <a:srgbClr val="FF8000"/>
                </a:solidFill>
              </a:rPr>
              <a:t>X is buried in Y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“The grave of Mark Twain is in Elmira”</a:t>
            </a:r>
          </a:p>
          <a:p>
            <a:pPr marL="800100" lvl="2" indent="0">
              <a:buNone/>
            </a:pPr>
            <a:r>
              <a:rPr lang="en-US" dirty="0">
                <a:solidFill>
                  <a:srgbClr val="FF8000"/>
                </a:solidFill>
              </a:rPr>
              <a:t>The grave of X is in Y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“Elmira is Mark Twain’s final resting place”</a:t>
            </a:r>
          </a:p>
          <a:p>
            <a:pPr marL="800100" lvl="2" indent="0">
              <a:buNone/>
            </a:pPr>
            <a:r>
              <a:rPr lang="en-US" dirty="0">
                <a:solidFill>
                  <a:srgbClr val="FF8000"/>
                </a:solidFill>
              </a:rPr>
              <a:t>Y is X’s final resting place.</a:t>
            </a:r>
          </a:p>
          <a:p>
            <a:r>
              <a:rPr lang="en-US" sz="2400" dirty="0"/>
              <a:t>Use those patterns to </a:t>
            </a:r>
            <a:r>
              <a:rPr lang="en-US" sz="2400" dirty="0" err="1"/>
              <a:t>grep</a:t>
            </a:r>
            <a:r>
              <a:rPr lang="en-US" sz="2400" dirty="0"/>
              <a:t> for new </a:t>
            </a:r>
            <a:r>
              <a:rPr lang="en-US" sz="2400" dirty="0" smtClean="0"/>
              <a:t>tuples</a:t>
            </a:r>
          </a:p>
          <a:p>
            <a:r>
              <a:rPr lang="en-US" dirty="0" smtClean="0"/>
              <a:t>Iterate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57324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467600" cy="590550"/>
          </a:xfrm>
        </p:spPr>
        <p:txBody>
          <a:bodyPr/>
          <a:lstStyle/>
          <a:p>
            <a:r>
              <a:rPr lang="en-US" i="1" dirty="0" err="1" smtClean="0"/>
              <a:t>Dipre</a:t>
            </a:r>
            <a:r>
              <a:rPr lang="en-US" dirty="0" smtClean="0"/>
              <a:t>: Extract &lt;</a:t>
            </a:r>
            <a:r>
              <a:rPr lang="en-US" dirty="0" err="1" smtClean="0"/>
              <a:t>author,book</a:t>
            </a:r>
            <a:r>
              <a:rPr lang="en-US" dirty="0" smtClean="0"/>
              <a:t>&gt; pairs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047750"/>
            <a:ext cx="8686800" cy="3333750"/>
          </a:xfrm>
        </p:spPr>
        <p:txBody>
          <a:bodyPr/>
          <a:lstStyle/>
          <a:p>
            <a:r>
              <a:rPr lang="en-US" sz="2000" dirty="0" smtClean="0"/>
              <a:t>Start </a:t>
            </a:r>
            <a:r>
              <a:rPr lang="en-US" sz="2000" dirty="0"/>
              <a:t>with </a:t>
            </a:r>
            <a:r>
              <a:rPr lang="en-US" sz="2000" dirty="0" smtClean="0"/>
              <a:t>5 seeds: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>
              <a:buNone/>
            </a:pPr>
            <a:endParaRPr lang="en-US" sz="1800" dirty="0"/>
          </a:p>
          <a:p>
            <a:r>
              <a:rPr lang="en-US" sz="2000" dirty="0" smtClean="0"/>
              <a:t>Find Instances:</a:t>
            </a:r>
            <a:endParaRPr lang="en-US" sz="2000" dirty="0"/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The Comedy of Errors</a:t>
            </a:r>
            <a:r>
              <a:rPr lang="en-US" sz="1400" dirty="0">
                <a:solidFill>
                  <a:srgbClr val="000000"/>
                </a:solidFill>
              </a:rPr>
              <a:t>, by </a:t>
            </a:r>
            <a:r>
              <a:rPr lang="en-US" sz="1400" dirty="0">
                <a:solidFill>
                  <a:srgbClr val="0000FF"/>
                </a:solidFill>
              </a:rPr>
              <a:t> William Shakespeare</a:t>
            </a:r>
            <a:r>
              <a:rPr lang="en-US" sz="1400" dirty="0">
                <a:solidFill>
                  <a:srgbClr val="000000"/>
                </a:solidFill>
              </a:rPr>
              <a:t>, was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The Comedy of Errors</a:t>
            </a:r>
            <a:r>
              <a:rPr lang="en-US" sz="1400" dirty="0">
                <a:solidFill>
                  <a:srgbClr val="000000"/>
                </a:solidFill>
              </a:rPr>
              <a:t>, by  </a:t>
            </a:r>
            <a:r>
              <a:rPr lang="en-US" sz="1400" dirty="0">
                <a:solidFill>
                  <a:srgbClr val="0000FF"/>
                </a:solidFill>
              </a:rPr>
              <a:t>William Shakespeare</a:t>
            </a:r>
            <a:r>
              <a:rPr lang="en-US" sz="1400" dirty="0">
                <a:solidFill>
                  <a:srgbClr val="000000"/>
                </a:solidFill>
              </a:rPr>
              <a:t>, is</a:t>
            </a:r>
          </a:p>
          <a:p>
            <a:pPr marL="457200" lvl="1" indent="0">
              <a:buNone/>
            </a:pPr>
            <a:r>
              <a:rPr lang="en-US" sz="1400" dirty="0" smtClean="0">
                <a:solidFill>
                  <a:srgbClr val="0000FF"/>
                </a:solidFill>
              </a:rPr>
              <a:t>The </a:t>
            </a:r>
            <a:r>
              <a:rPr lang="en-US" sz="1400" dirty="0">
                <a:solidFill>
                  <a:srgbClr val="0000FF"/>
                </a:solidFill>
              </a:rPr>
              <a:t>Comedy of Errors</a:t>
            </a:r>
            <a:r>
              <a:rPr lang="en-US" sz="1400" dirty="0">
                <a:solidFill>
                  <a:srgbClr val="000000"/>
                </a:solidFill>
              </a:rPr>
              <a:t>, one of </a:t>
            </a:r>
            <a:r>
              <a:rPr lang="en-US" sz="1400" dirty="0">
                <a:solidFill>
                  <a:srgbClr val="0000FF"/>
                </a:solidFill>
              </a:rPr>
              <a:t>William Shakespeare</a:t>
            </a:r>
            <a:r>
              <a:rPr lang="en-US" sz="1400" dirty="0">
                <a:solidFill>
                  <a:srgbClr val="000000"/>
                </a:solidFill>
              </a:rPr>
              <a:t>'s earliest attempts</a:t>
            </a:r>
          </a:p>
          <a:p>
            <a:pPr marL="457200" lvl="1" indent="0">
              <a:buNone/>
            </a:pPr>
            <a:r>
              <a:rPr lang="en-US" sz="1400" dirty="0">
                <a:solidFill>
                  <a:srgbClr val="0000FF"/>
                </a:solidFill>
              </a:rPr>
              <a:t>The Comedy of Errors</a:t>
            </a:r>
            <a:r>
              <a:rPr lang="en-US" sz="1400" dirty="0">
                <a:solidFill>
                  <a:srgbClr val="000000"/>
                </a:solidFill>
              </a:rPr>
              <a:t>, one of </a:t>
            </a:r>
            <a:r>
              <a:rPr lang="en-US" sz="1400" dirty="0">
                <a:solidFill>
                  <a:srgbClr val="0000FF"/>
                </a:solidFill>
              </a:rPr>
              <a:t>William Shakespeare</a:t>
            </a:r>
            <a:r>
              <a:rPr lang="en-US" sz="1400" dirty="0">
                <a:solidFill>
                  <a:srgbClr val="000000"/>
                </a:solidFill>
              </a:rPr>
              <a:t>'s most</a:t>
            </a:r>
          </a:p>
          <a:p>
            <a:r>
              <a:rPr lang="en-US" sz="2000" dirty="0" smtClean="0"/>
              <a:t>Extract patterns (group by middle, take longest common prefix/suffix</a:t>
            </a:r>
            <a:r>
              <a:rPr lang="en-US" dirty="0" smtClean="0"/>
              <a:t>)</a:t>
            </a:r>
            <a:endParaRPr lang="en-US" sz="2400" dirty="0"/>
          </a:p>
          <a:p>
            <a:pPr marL="457200" lvl="1" indent="0">
              <a:buNone/>
            </a:pPr>
            <a:r>
              <a:rPr lang="en-US" dirty="0" smtClean="0">
                <a:solidFill>
                  <a:srgbClr val="0000FF"/>
                </a:solidFill>
                <a:latin typeface="Courier"/>
                <a:cs typeface="Courier"/>
              </a:rPr>
              <a:t>?x </a:t>
            </a:r>
            <a:r>
              <a:rPr lang="en-US" dirty="0" smtClean="0">
                <a:latin typeface="Courier"/>
                <a:cs typeface="Courier"/>
              </a:rPr>
              <a:t>,</a:t>
            </a:r>
            <a:r>
              <a:rPr lang="en-US" dirty="0">
                <a:latin typeface="Courier"/>
                <a:cs typeface="Courier"/>
              </a:rPr>
              <a:t> </a:t>
            </a:r>
            <a:r>
              <a:rPr lang="en-US" dirty="0" smtClean="0">
                <a:latin typeface="Courier"/>
                <a:cs typeface="Courier"/>
              </a:rPr>
              <a:t>by </a:t>
            </a:r>
            <a:r>
              <a:rPr lang="en-US" dirty="0" smtClean="0">
                <a:solidFill>
                  <a:srgbClr val="0000FF"/>
                </a:solidFill>
                <a:latin typeface="Courier"/>
                <a:cs typeface="Courier"/>
              </a:rPr>
              <a:t>?y</a:t>
            </a:r>
            <a:r>
              <a:rPr lang="en-US" b="1" dirty="0" smtClean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b="1" dirty="0" smtClean="0">
                <a:latin typeface="Courier"/>
                <a:cs typeface="Courier"/>
              </a:rPr>
              <a:t>,           </a:t>
            </a:r>
            <a:r>
              <a:rPr lang="en-US" dirty="0" smtClean="0">
                <a:solidFill>
                  <a:srgbClr val="0000FF"/>
                </a:solidFill>
                <a:latin typeface="Courier"/>
                <a:cs typeface="Courier"/>
              </a:rPr>
              <a:t>?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x </a:t>
            </a:r>
            <a:r>
              <a:rPr lang="en-US" dirty="0">
                <a:latin typeface="Courier"/>
                <a:cs typeface="Courier"/>
              </a:rPr>
              <a:t>, </a:t>
            </a:r>
            <a:r>
              <a:rPr lang="en-US" dirty="0" smtClean="0">
                <a:latin typeface="Courier"/>
                <a:cs typeface="Courier"/>
              </a:rPr>
              <a:t>one of </a:t>
            </a:r>
            <a:r>
              <a:rPr lang="en-US" dirty="0" smtClean="0">
                <a:solidFill>
                  <a:srgbClr val="0000FF"/>
                </a:solidFill>
                <a:latin typeface="Courier"/>
                <a:cs typeface="Courier"/>
              </a:rPr>
              <a:t>?</a:t>
            </a:r>
            <a:r>
              <a:rPr lang="en-US" dirty="0">
                <a:solidFill>
                  <a:srgbClr val="0000FF"/>
                </a:solidFill>
                <a:latin typeface="Courier"/>
                <a:cs typeface="Courier"/>
              </a:rPr>
              <a:t>y</a:t>
            </a:r>
            <a:r>
              <a:rPr lang="en-US" b="1" dirty="0">
                <a:solidFill>
                  <a:srgbClr val="0000FF"/>
                </a:solidFill>
                <a:latin typeface="Courier"/>
                <a:cs typeface="Courier"/>
              </a:rPr>
              <a:t> </a:t>
            </a:r>
            <a:r>
              <a:rPr lang="en-US" b="1" dirty="0" smtClean="0">
                <a:latin typeface="Courier"/>
                <a:cs typeface="Courier"/>
              </a:rPr>
              <a:t>‘s   </a:t>
            </a:r>
          </a:p>
          <a:p>
            <a:r>
              <a:rPr lang="en-US" sz="2000" dirty="0" smtClean="0">
                <a:latin typeface="Calibri"/>
                <a:cs typeface="Calibri"/>
              </a:rPr>
              <a:t>Now iterate, finding new seeds that match the pattern</a:t>
            </a:r>
            <a:endParaRPr lang="en-US" sz="2000" dirty="0">
              <a:latin typeface="Calibri"/>
              <a:cs typeface="Calibri"/>
            </a:endParaRPr>
          </a:p>
          <a:p>
            <a:pPr marL="457200" lvl="1" indent="0">
              <a:buNone/>
            </a:pPr>
            <a:endParaRPr lang="en-US" b="1" dirty="0" smtClean="0">
              <a:latin typeface="Courier"/>
              <a:cs typeface="Couri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09800" y="694551"/>
            <a:ext cx="6705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/>
              <a:t>Brin</a:t>
            </a:r>
            <a:r>
              <a:rPr lang="en-US" sz="1200" dirty="0" smtClean="0"/>
              <a:t>, Sergei. 1998. Extracting Patterns and Relations from the World Wide Web.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858652"/>
              </p:ext>
            </p:extLst>
          </p:nvPr>
        </p:nvGraphicFramePr>
        <p:xfrm>
          <a:off x="3200400" y="1098550"/>
          <a:ext cx="4800600" cy="13332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60000"/>
                        </a:lnSpc>
                      </a:pPr>
                      <a:r>
                        <a:rPr lang="en-US" sz="1400" dirty="0" smtClean="0"/>
                        <a:t>Author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60000"/>
                        </a:lnSpc>
                      </a:pPr>
                      <a:r>
                        <a:rPr lang="en-US" sz="1400" dirty="0" smtClean="0"/>
                        <a:t>Book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700">
                <a:tc>
                  <a:txBody>
                    <a:bodyPr/>
                    <a:lstStyle/>
                    <a:p>
                      <a:pPr>
                        <a:lnSpc>
                          <a:spcPct val="60000"/>
                        </a:lnSpc>
                      </a:pPr>
                      <a:r>
                        <a:rPr lang="en-US" sz="1400" dirty="0" smtClean="0"/>
                        <a:t>Isaac Asimov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60000"/>
                        </a:lnSpc>
                      </a:pPr>
                      <a:r>
                        <a:rPr lang="en-US" sz="1400" dirty="0" smtClean="0"/>
                        <a:t>The Robots</a:t>
                      </a:r>
                      <a:r>
                        <a:rPr lang="en-US" sz="1400" baseline="0" dirty="0" smtClean="0"/>
                        <a:t> of Dawn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700">
                <a:tc>
                  <a:txBody>
                    <a:bodyPr/>
                    <a:lstStyle/>
                    <a:p>
                      <a:pPr>
                        <a:lnSpc>
                          <a:spcPct val="60000"/>
                        </a:lnSpc>
                      </a:pPr>
                      <a:r>
                        <a:rPr lang="en-US" sz="1400" dirty="0" smtClean="0"/>
                        <a:t>David </a:t>
                      </a:r>
                      <a:r>
                        <a:rPr lang="en-US" sz="1400" dirty="0" err="1" smtClean="0"/>
                        <a:t>Brin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60000"/>
                        </a:lnSpc>
                      </a:pPr>
                      <a:r>
                        <a:rPr lang="en-US" sz="1400" dirty="0" err="1" smtClean="0"/>
                        <a:t>Startide</a:t>
                      </a:r>
                      <a:r>
                        <a:rPr lang="en-US" sz="1400" dirty="0" smtClean="0"/>
                        <a:t> Rising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700">
                <a:tc>
                  <a:txBody>
                    <a:bodyPr/>
                    <a:lstStyle/>
                    <a:p>
                      <a:pPr>
                        <a:lnSpc>
                          <a:spcPct val="60000"/>
                        </a:lnSpc>
                      </a:pPr>
                      <a:r>
                        <a:rPr lang="en-US" sz="1400" dirty="0" smtClean="0"/>
                        <a:t>James </a:t>
                      </a:r>
                      <a:r>
                        <a:rPr lang="en-US" sz="1400" dirty="0" err="1" smtClean="0"/>
                        <a:t>Gleick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60000"/>
                        </a:lnSpc>
                      </a:pPr>
                      <a:r>
                        <a:rPr lang="en-US" sz="1400" dirty="0" smtClean="0"/>
                        <a:t>Chaos: Making a New Science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5991">
                <a:tc>
                  <a:txBody>
                    <a:bodyPr/>
                    <a:lstStyle/>
                    <a:p>
                      <a:pPr>
                        <a:lnSpc>
                          <a:spcPct val="60000"/>
                        </a:lnSpc>
                      </a:pPr>
                      <a:r>
                        <a:rPr lang="en-US" sz="1400" dirty="0" smtClean="0"/>
                        <a:t>Charles Dickens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60000"/>
                        </a:lnSpc>
                      </a:pPr>
                      <a:r>
                        <a:rPr lang="en-US" sz="1400" dirty="0" smtClean="0"/>
                        <a:t>Great Expectations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60000"/>
                        </a:lnSpc>
                      </a:pPr>
                      <a:r>
                        <a:rPr lang="en-US" sz="1400" dirty="0" smtClean="0"/>
                        <a:t>William Shakespeare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60000"/>
                        </a:lnSpc>
                      </a:pPr>
                      <a:r>
                        <a:rPr lang="en-US" sz="1400" dirty="0" smtClean="0"/>
                        <a:t>The Comedy of Errors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022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1447800" y="-19050"/>
            <a:ext cx="3810000" cy="685800"/>
          </a:xfrm>
        </p:spPr>
        <p:txBody>
          <a:bodyPr/>
          <a:lstStyle/>
          <a:p>
            <a:r>
              <a:rPr lang="en-US" sz="3800" dirty="0"/>
              <a:t/>
            </a:r>
            <a:br>
              <a:rPr lang="en-US" sz="3800" dirty="0"/>
            </a:br>
            <a:r>
              <a:rPr lang="en-US" sz="3800" dirty="0" smtClean="0"/>
              <a:t>Snowball</a:t>
            </a:r>
            <a:endParaRPr lang="en-US" sz="3800" dirty="0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81000" y="1200150"/>
            <a:ext cx="8610600" cy="2667000"/>
          </a:xfrm>
        </p:spPr>
        <p:txBody>
          <a:bodyPr/>
          <a:lstStyle/>
          <a:p>
            <a:r>
              <a:rPr lang="en-US" dirty="0" smtClean="0">
                <a:latin typeface="Calibri"/>
                <a:cs typeface="Calibri"/>
              </a:rPr>
              <a:t>Similar iterative algorithm</a:t>
            </a:r>
          </a:p>
          <a:p>
            <a:endParaRPr lang="en-US" dirty="0">
              <a:latin typeface="Calibri"/>
              <a:cs typeface="Calibri"/>
            </a:endParaRPr>
          </a:p>
          <a:p>
            <a:endParaRPr lang="en-US" dirty="0" smtClean="0">
              <a:latin typeface="Calibri"/>
              <a:cs typeface="Calibri"/>
            </a:endParaRPr>
          </a:p>
          <a:p>
            <a:pPr>
              <a:lnSpc>
                <a:spcPct val="110000"/>
              </a:lnSpc>
            </a:pPr>
            <a:r>
              <a:rPr lang="en-US" dirty="0" smtClean="0">
                <a:latin typeface="Calibri"/>
                <a:cs typeface="Calibri"/>
              </a:rPr>
              <a:t>Group instances w/similar prefix, middle, suffix, extract patterns</a:t>
            </a:r>
          </a:p>
          <a:p>
            <a:pPr lvl="1">
              <a:lnSpc>
                <a:spcPct val="110000"/>
              </a:lnSpc>
            </a:pPr>
            <a:r>
              <a:rPr lang="en-US" dirty="0" smtClean="0">
                <a:latin typeface="Calibri"/>
                <a:cs typeface="Calibri"/>
              </a:rPr>
              <a:t>But require </a:t>
            </a:r>
            <a:r>
              <a:rPr lang="en-US" dirty="0">
                <a:latin typeface="Calibri"/>
                <a:cs typeface="Calibri"/>
              </a:rPr>
              <a:t>that X and Y be named </a:t>
            </a:r>
            <a:r>
              <a:rPr lang="en-US" dirty="0" smtClean="0">
                <a:latin typeface="Calibri"/>
                <a:cs typeface="Calibri"/>
              </a:rPr>
              <a:t>entities</a:t>
            </a:r>
          </a:p>
          <a:p>
            <a:pPr lvl="1"/>
            <a:r>
              <a:rPr lang="en-US" dirty="0" smtClean="0">
                <a:latin typeface="Calibri"/>
                <a:cs typeface="Calibri"/>
              </a:rPr>
              <a:t>And compute a confidence for each pattern</a:t>
            </a:r>
            <a:endParaRPr lang="en-US" dirty="0">
              <a:latin typeface="Calibri"/>
              <a:cs typeface="Calibri"/>
            </a:endParaRPr>
          </a:p>
        </p:txBody>
      </p:sp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3562350" y="3964285"/>
            <a:ext cx="3600450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dirty="0" smtClean="0">
                <a:latin typeface="Courier"/>
                <a:ea typeface="Arial" charset="0"/>
                <a:cs typeface="Courier"/>
              </a:rPr>
              <a:t>{’s, in,</a:t>
            </a:r>
            <a:r>
              <a:rPr lang="en-US" sz="2000" dirty="0">
                <a:latin typeface="Courier"/>
                <a:ea typeface="Arial" charset="0"/>
                <a:cs typeface="Courier"/>
              </a:rPr>
              <a:t> </a:t>
            </a:r>
            <a:r>
              <a:rPr lang="en-US" sz="2000" dirty="0" smtClean="0">
                <a:latin typeface="Courier"/>
                <a:ea typeface="Arial" charset="0"/>
                <a:cs typeface="Courier"/>
              </a:rPr>
              <a:t>headquarters}</a:t>
            </a:r>
            <a:endParaRPr lang="en-US" sz="2000" dirty="0">
              <a:latin typeface="Courier"/>
              <a:ea typeface="Arial" charset="0"/>
              <a:cs typeface="Courier"/>
            </a:endParaRPr>
          </a:p>
        </p:txBody>
      </p:sp>
      <p:sp>
        <p:nvSpPr>
          <p:cNvPr id="70668" name="Rectangle 12"/>
          <p:cNvSpPr>
            <a:spLocks noChangeArrowheads="1"/>
          </p:cNvSpPr>
          <p:nvPr/>
        </p:nvSpPr>
        <p:spPr bwMode="auto">
          <a:xfrm>
            <a:off x="3181350" y="4556264"/>
            <a:ext cx="1924050" cy="40011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dirty="0" smtClean="0">
                <a:latin typeface="Courier"/>
                <a:ea typeface="Arial" charset="0"/>
                <a:cs typeface="Courier"/>
              </a:rPr>
              <a:t>{in, based}</a:t>
            </a:r>
            <a:endParaRPr lang="en-US" sz="2000" dirty="0">
              <a:latin typeface="Courier"/>
              <a:ea typeface="Arial" charset="0"/>
              <a:cs typeface="Courier"/>
            </a:endParaRPr>
          </a:p>
        </p:txBody>
      </p:sp>
      <p:sp>
        <p:nvSpPr>
          <p:cNvPr id="70670" name="Text Box 14"/>
          <p:cNvSpPr txBox="1">
            <a:spLocks noChangeArrowheads="1"/>
          </p:cNvSpPr>
          <p:nvPr/>
        </p:nvSpPr>
        <p:spPr bwMode="auto">
          <a:xfrm>
            <a:off x="5181600" y="4533840"/>
            <a:ext cx="2075007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dirty="0">
                <a:solidFill>
                  <a:srgbClr val="FF0000"/>
                </a:solidFill>
                <a:latin typeface="Tahoma" charset="0"/>
                <a:ea typeface="Arial" charset="0"/>
                <a:cs typeface="Arial" charset="0"/>
              </a:rPr>
              <a:t>ORGANIZATION</a:t>
            </a:r>
          </a:p>
        </p:txBody>
      </p:sp>
      <p:sp>
        <p:nvSpPr>
          <p:cNvPr id="70672" name="Text Box 16"/>
          <p:cNvSpPr txBox="1">
            <a:spLocks noChangeArrowheads="1"/>
          </p:cNvSpPr>
          <p:nvPr/>
        </p:nvSpPr>
        <p:spPr bwMode="auto">
          <a:xfrm>
            <a:off x="1428750" y="4533840"/>
            <a:ext cx="1466850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dirty="0">
                <a:solidFill>
                  <a:srgbClr val="0000FF"/>
                </a:solidFill>
                <a:latin typeface="Tahoma" charset="0"/>
                <a:ea typeface="Arial" charset="0"/>
                <a:cs typeface="Arial" charset="0"/>
              </a:rPr>
              <a:t>LOCATION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69874"/>
              </p:ext>
            </p:extLst>
          </p:nvPr>
        </p:nvGraphicFramePr>
        <p:xfrm>
          <a:off x="4572000" y="1428750"/>
          <a:ext cx="4267200" cy="1048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384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Organization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Location of Headquarters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Microsoft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Redmond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Exxon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Irving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IBM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1600" dirty="0" smtClean="0"/>
                        <a:t>Armonk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124200" y="590550"/>
            <a:ext cx="6019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E. </a:t>
            </a:r>
            <a:r>
              <a:rPr lang="en-US" sz="1400" dirty="0" err="1" smtClean="0"/>
              <a:t>Agichtein</a:t>
            </a:r>
            <a:r>
              <a:rPr lang="en-US" sz="1400" dirty="0" smtClean="0"/>
              <a:t> </a:t>
            </a:r>
            <a:r>
              <a:rPr lang="en-US" sz="1400" dirty="0"/>
              <a:t>and </a:t>
            </a:r>
            <a:r>
              <a:rPr lang="en-US" sz="1400" dirty="0" smtClean="0"/>
              <a:t>L. </a:t>
            </a:r>
            <a:r>
              <a:rPr lang="en-US" sz="1400" dirty="0" err="1" smtClean="0"/>
              <a:t>Gravano</a:t>
            </a:r>
            <a:r>
              <a:rPr lang="en-US" sz="1400" dirty="0" smtClean="0"/>
              <a:t> </a:t>
            </a:r>
            <a:r>
              <a:rPr lang="en-US" sz="1400" dirty="0"/>
              <a:t>2000. Snowball: Extracting Relations </a:t>
            </a:r>
            <a:endParaRPr lang="en-US" sz="1400" dirty="0" smtClean="0"/>
          </a:p>
          <a:p>
            <a:r>
              <a:rPr lang="en-US" sz="1400" dirty="0" smtClean="0"/>
              <a:t>from </a:t>
            </a:r>
            <a:r>
              <a:rPr lang="en-US" sz="1400" dirty="0"/>
              <a:t>Large Plain-Text </a:t>
            </a:r>
            <a:r>
              <a:rPr lang="en-US" sz="1400" dirty="0" smtClean="0"/>
              <a:t>Collections. ICDL </a:t>
            </a:r>
            <a:endParaRPr lang="en-US" sz="1400" dirty="0">
              <a:latin typeface="+mn-lt"/>
            </a:endParaRPr>
          </a:p>
        </p:txBody>
      </p:sp>
      <p:sp>
        <p:nvSpPr>
          <p:cNvPr id="25" name="Text Box 14"/>
          <p:cNvSpPr txBox="1">
            <a:spLocks noChangeArrowheads="1"/>
          </p:cNvSpPr>
          <p:nvPr/>
        </p:nvSpPr>
        <p:spPr bwMode="auto">
          <a:xfrm>
            <a:off x="1447800" y="3964285"/>
            <a:ext cx="2075007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dirty="0">
                <a:solidFill>
                  <a:srgbClr val="FF0000"/>
                </a:solidFill>
                <a:latin typeface="Tahoma" charset="0"/>
                <a:ea typeface="Arial" charset="0"/>
                <a:cs typeface="Arial" charset="0"/>
              </a:rPr>
              <a:t>ORGANIZATION</a:t>
            </a:r>
          </a:p>
        </p:txBody>
      </p:sp>
      <p:sp>
        <p:nvSpPr>
          <p:cNvPr id="28" name="Text Box 16"/>
          <p:cNvSpPr txBox="1">
            <a:spLocks noChangeArrowheads="1"/>
          </p:cNvSpPr>
          <p:nvPr/>
        </p:nvSpPr>
        <p:spPr bwMode="auto">
          <a:xfrm>
            <a:off x="7372350" y="3964285"/>
            <a:ext cx="1466850" cy="40011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20000"/>
              </a:spcBef>
            </a:pPr>
            <a:r>
              <a:rPr lang="en-US" sz="2000" dirty="0">
                <a:solidFill>
                  <a:srgbClr val="0000FF"/>
                </a:solidFill>
                <a:latin typeface="Tahoma" charset="0"/>
                <a:ea typeface="Arial" charset="0"/>
                <a:cs typeface="Arial" charset="0"/>
              </a:rPr>
              <a:t>LOCATION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38885"/>
            <a:ext cx="57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.69</a:t>
            </a:r>
            <a:endParaRPr lang="en-US" dirty="0">
              <a:latin typeface="+mn-l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8446" y="4472285"/>
            <a:ext cx="574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n-lt"/>
              </a:rPr>
              <a:t>.75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8143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7150"/>
            <a:ext cx="7467600" cy="742950"/>
          </a:xfrm>
        </p:spPr>
        <p:txBody>
          <a:bodyPr/>
          <a:lstStyle/>
          <a:p>
            <a:r>
              <a:rPr lang="en-US" dirty="0" smtClean="0"/>
              <a:t>Unsupervised relation extraction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686800" cy="3333750"/>
          </a:xfrm>
        </p:spPr>
        <p:txBody>
          <a:bodyPr/>
          <a:lstStyle/>
          <a:p>
            <a:r>
              <a:rPr lang="en-US" dirty="0" smtClean="0"/>
              <a:t>Open Information Extraction: </a:t>
            </a:r>
          </a:p>
          <a:p>
            <a:pPr lvl="1"/>
            <a:r>
              <a:rPr lang="en-US" dirty="0" smtClean="0"/>
              <a:t>extract relations from the web with no training data, no list of relations</a:t>
            </a:r>
          </a:p>
          <a:p>
            <a:endParaRPr lang="en-US" sz="1600" dirty="0" smtClean="0"/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Use parsed data to train a “trustworthy tuple” classifier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Single-pass extract all relations between NPs, keep if trustworthy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Assessor ranks relations based on text redundancy</a:t>
            </a:r>
            <a:endParaRPr lang="en-US" dirty="0"/>
          </a:p>
          <a:p>
            <a:pPr marL="685800" lvl="2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00FF"/>
                </a:solidFill>
              </a:rPr>
              <a:t>(FCI, specializes in, software development) </a:t>
            </a:r>
            <a:endParaRPr lang="en-US" dirty="0" smtClean="0">
              <a:solidFill>
                <a:srgbClr val="0000FF"/>
              </a:solidFill>
            </a:endParaRPr>
          </a:p>
          <a:p>
            <a:pPr marL="685800" lvl="2" indent="0">
              <a:buNone/>
            </a:pPr>
            <a:r>
              <a:rPr lang="en-US" dirty="0">
                <a:solidFill>
                  <a:srgbClr val="0000FF"/>
                </a:solidFill>
              </a:rPr>
              <a:t>(Tesla</a:t>
            </a:r>
            <a:r>
              <a:rPr lang="en-US" dirty="0" smtClean="0">
                <a:solidFill>
                  <a:srgbClr val="0000FF"/>
                </a:solidFill>
              </a:rPr>
              <a:t>, invented</a:t>
            </a:r>
            <a:r>
              <a:rPr lang="en-US" dirty="0">
                <a:solidFill>
                  <a:srgbClr val="0000FF"/>
                </a:solidFill>
              </a:rPr>
              <a:t>, coil transformer)</a:t>
            </a:r>
            <a:endParaRPr lang="en-US" dirty="0" smtClean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162800" y="4800600"/>
            <a:ext cx="1981200" cy="342900"/>
          </a:xfrm>
        </p:spPr>
        <p:txBody>
          <a:bodyPr/>
          <a:lstStyle/>
          <a:p>
            <a:fld id="{10F35DC5-7E65-8247-99AB-4E984F8A921E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48001" y="819150"/>
            <a:ext cx="6019799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+mn-lt"/>
              </a:rPr>
              <a:t>M</a:t>
            </a:r>
            <a:r>
              <a:rPr lang="en-US" sz="1600" dirty="0">
                <a:latin typeface="+mn-lt"/>
              </a:rPr>
              <a:t>. </a:t>
            </a:r>
            <a:r>
              <a:rPr lang="en-US" sz="1600" dirty="0" err="1">
                <a:latin typeface="+mn-lt"/>
              </a:rPr>
              <a:t>Banko</a:t>
            </a:r>
            <a:r>
              <a:rPr lang="en-US" sz="1600" dirty="0">
                <a:latin typeface="+mn-lt"/>
              </a:rPr>
              <a:t>, M. </a:t>
            </a:r>
            <a:r>
              <a:rPr lang="en-US" sz="1600" dirty="0" err="1">
                <a:latin typeface="+mn-lt"/>
              </a:rPr>
              <a:t>Cararella</a:t>
            </a:r>
            <a:r>
              <a:rPr lang="en-US" sz="1600" dirty="0">
                <a:latin typeface="+mn-lt"/>
              </a:rPr>
              <a:t>, S. </a:t>
            </a:r>
            <a:r>
              <a:rPr lang="en-US" sz="1600" dirty="0" err="1">
                <a:latin typeface="+mn-lt"/>
              </a:rPr>
              <a:t>Soderland</a:t>
            </a:r>
            <a:r>
              <a:rPr lang="en-US" sz="1600" dirty="0">
                <a:latin typeface="+mn-lt"/>
              </a:rPr>
              <a:t>, M. </a:t>
            </a:r>
            <a:r>
              <a:rPr lang="en-US" sz="1600" dirty="0" err="1">
                <a:latin typeface="+mn-lt"/>
              </a:rPr>
              <a:t>Broadhead</a:t>
            </a:r>
            <a:r>
              <a:rPr lang="en-US" sz="1600" dirty="0" smtClean="0">
                <a:latin typeface="+mn-lt"/>
              </a:rPr>
              <a:t>, and </a:t>
            </a:r>
            <a:r>
              <a:rPr lang="en-US" sz="1600" dirty="0">
                <a:latin typeface="+mn-lt"/>
              </a:rPr>
              <a:t>O. </a:t>
            </a:r>
            <a:r>
              <a:rPr lang="en-US" sz="1600" dirty="0" err="1">
                <a:latin typeface="+mn-lt"/>
              </a:rPr>
              <a:t>Etzioni</a:t>
            </a:r>
            <a:r>
              <a:rPr lang="en-US" sz="1600" dirty="0">
                <a:latin typeface="+mn-lt"/>
              </a:rPr>
              <a:t>. 2007. Open information </a:t>
            </a:r>
            <a:r>
              <a:rPr lang="en-US" sz="1600" dirty="0" smtClean="0">
                <a:latin typeface="+mn-lt"/>
              </a:rPr>
              <a:t>extraction from </a:t>
            </a:r>
            <a:r>
              <a:rPr lang="en-US" sz="1600" dirty="0">
                <a:latin typeface="+mn-lt"/>
              </a:rPr>
              <a:t>the web. </a:t>
            </a:r>
            <a:r>
              <a:rPr lang="en-US" sz="1600" dirty="0" smtClean="0">
                <a:latin typeface="+mn-lt"/>
              </a:rPr>
              <a:t>IJCAI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27609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3350"/>
            <a:ext cx="7467600" cy="990600"/>
          </a:xfrm>
        </p:spPr>
        <p:txBody>
          <a:bodyPr/>
          <a:lstStyle/>
          <a:p>
            <a:r>
              <a:rPr lang="en-US" dirty="0" smtClean="0"/>
              <a:t>Evaluation of Semi-supervised and</a:t>
            </a:r>
            <a:br>
              <a:rPr lang="en-US" dirty="0" smtClean="0"/>
            </a:br>
            <a:r>
              <a:rPr lang="en-US" dirty="0" smtClean="0"/>
              <a:t>Unsupervised Relation Extraction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76350"/>
            <a:ext cx="8686800" cy="3790950"/>
          </a:xfrm>
        </p:spPr>
        <p:txBody>
          <a:bodyPr/>
          <a:lstStyle/>
          <a:p>
            <a:r>
              <a:rPr lang="en-US" sz="2000" dirty="0" smtClean="0"/>
              <a:t>Since it extracts totally new relations from the web </a:t>
            </a:r>
          </a:p>
          <a:p>
            <a:pPr lvl="1"/>
            <a:r>
              <a:rPr lang="en-US" sz="1800" dirty="0" smtClean="0"/>
              <a:t>There is no gold set of correct instances of relations!</a:t>
            </a:r>
          </a:p>
          <a:p>
            <a:pPr lvl="2"/>
            <a:r>
              <a:rPr lang="en-US" sz="1800" dirty="0" smtClean="0"/>
              <a:t>Can’t compute precision (don’t know which ones are correct)</a:t>
            </a:r>
          </a:p>
          <a:p>
            <a:pPr lvl="2"/>
            <a:r>
              <a:rPr lang="en-US" sz="1800" dirty="0" smtClean="0"/>
              <a:t>Can’t compute recall (don’t know which ones were missed)</a:t>
            </a:r>
          </a:p>
          <a:p>
            <a:r>
              <a:rPr lang="en-US" sz="2000" dirty="0" smtClean="0"/>
              <a:t>Instead, we can approximate precision (only)</a:t>
            </a:r>
          </a:p>
          <a:p>
            <a:pPr lvl="1"/>
            <a:r>
              <a:rPr lang="en-US" sz="1800" dirty="0" smtClean="0"/>
              <a:t> </a:t>
            </a:r>
            <a:r>
              <a:rPr lang="en-US" sz="1800" dirty="0"/>
              <a:t>D</a:t>
            </a:r>
            <a:r>
              <a:rPr lang="en-US" sz="1800" dirty="0" smtClean="0"/>
              <a:t>raw a random sample of relations from output, check precision manually</a:t>
            </a:r>
          </a:p>
          <a:p>
            <a:pPr lvl="1"/>
            <a:endParaRPr lang="en-US" sz="2400" dirty="0" smtClean="0"/>
          </a:p>
          <a:p>
            <a:r>
              <a:rPr lang="en-US" sz="2000" dirty="0"/>
              <a:t>C</a:t>
            </a:r>
            <a:r>
              <a:rPr lang="en-US" sz="2000" dirty="0" smtClean="0"/>
              <a:t>an also compute precision at different levels of recall.</a:t>
            </a:r>
          </a:p>
          <a:p>
            <a:pPr lvl="1">
              <a:lnSpc>
                <a:spcPct val="80000"/>
              </a:lnSpc>
            </a:pPr>
            <a:r>
              <a:rPr lang="en-US" sz="1800" dirty="0" smtClean="0"/>
              <a:t>Precision for top 1000 new relations, top 10,000 new relations, top 100,000</a:t>
            </a:r>
          </a:p>
          <a:p>
            <a:pPr lvl="1">
              <a:lnSpc>
                <a:spcPct val="80000"/>
              </a:lnSpc>
            </a:pPr>
            <a:r>
              <a:rPr lang="en-US" sz="1800" dirty="0" smtClean="0"/>
              <a:t>In each case taking a random sample of that set</a:t>
            </a:r>
          </a:p>
          <a:p>
            <a:r>
              <a:rPr lang="en-US" sz="2000" dirty="0" smtClean="0"/>
              <a:t>But no way to evaluate recall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43</a:t>
            </a:fld>
            <a:endParaRPr lang="en-US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452581"/>
              </p:ext>
            </p:extLst>
          </p:nvPr>
        </p:nvGraphicFramePr>
        <p:xfrm>
          <a:off x="2438401" y="3333750"/>
          <a:ext cx="3733800" cy="5161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Equation" r:id="rId3" imgW="3124200" imgH="431800" progId="Equation.3">
                  <p:embed/>
                </p:oleObj>
              </mc:Choice>
              <mc:Fallback>
                <p:oleObj name="Equation" r:id="rId3" imgW="3124200" imgH="431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38401" y="3333750"/>
                        <a:ext cx="3733800" cy="5161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4105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/>
          <p:cNvSpPr>
            <a:spLocks noGrp="1" noChangeArrowheads="1"/>
          </p:cNvSpPr>
          <p:nvPr>
            <p:ph type="ctrTitle"/>
          </p:nvPr>
        </p:nvSpPr>
        <p:spPr>
          <a:xfrm>
            <a:off x="3962400" y="133350"/>
            <a:ext cx="4800600" cy="1905000"/>
          </a:xfrm>
        </p:spPr>
        <p:txBody>
          <a:bodyPr/>
          <a:lstStyle/>
          <a:p>
            <a:r>
              <a:rPr lang="en-US" sz="4000" dirty="0" smtClean="0">
                <a:latin typeface="Calibri (Headings)"/>
                <a:cs typeface="Calibri (Headings)"/>
              </a:rPr>
              <a:t>Relation Extraction</a:t>
            </a:r>
            <a:endParaRPr lang="en-US" sz="4000" dirty="0">
              <a:latin typeface="Calibri (Headings)"/>
              <a:ea typeface="ＭＳ Ｐゴシック" charset="0"/>
              <a:cs typeface="Calibri (Headings)"/>
            </a:endParaRP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Times" charset="0"/>
              <a:buNone/>
            </a:pPr>
            <a:r>
              <a:rPr lang="en-US" sz="3600" dirty="0" smtClean="0">
                <a:solidFill>
                  <a:srgbClr val="A4001D"/>
                </a:solidFill>
                <a:latin typeface="Calibri"/>
                <a:ea typeface="ＭＳ Ｐゴシック" charset="0"/>
                <a:cs typeface="Calibri"/>
              </a:rPr>
              <a:t>Semi-supervised and unsupervised relation extraction</a:t>
            </a:r>
            <a:endParaRPr lang="en-US" sz="3600" dirty="0">
              <a:solidFill>
                <a:srgbClr val="A4001D"/>
              </a:solidFill>
              <a:latin typeface="Calibri"/>
              <a:ea typeface="ＭＳ Ｐゴシック" charset="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52471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LP-jurafsky">
  <a:themeElements>
    <a:clrScheme name="NLP Class">
      <a:dk1>
        <a:sysClr val="windowText" lastClr="000000"/>
      </a:dk1>
      <a:lt1>
        <a:sysClr val="window" lastClr="FFFFFF"/>
      </a:lt1>
      <a:dk2>
        <a:srgbClr val="605435"/>
      </a:dk2>
      <a:lt2>
        <a:srgbClr val="E7D19A"/>
      </a:lt2>
      <a:accent1>
        <a:srgbClr val="A4001D"/>
      </a:accent1>
      <a:accent2>
        <a:srgbClr val="2584BB"/>
      </a:accent2>
      <a:accent3>
        <a:srgbClr val="BB57BE"/>
      </a:accent3>
      <a:accent4>
        <a:srgbClr val="177245"/>
      </a:accent4>
      <a:accent5>
        <a:srgbClr val="35ACA2"/>
      </a:accent5>
      <a:accent6>
        <a:srgbClr val="FF8700"/>
      </a:accent6>
      <a:hlink>
        <a:srgbClr val="EF8E1C"/>
      </a:hlink>
      <a:folHlink>
        <a:srgbClr val="FEC60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40000"/>
            <a:lumOff val="60000"/>
          </a:schemeClr>
        </a:solidFill>
        <a:ln w="9525" cap="flat" cmpd="sng" algn="ctr">
          <a:noFill/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A50021"/>
            </a:gs>
            <a:gs pos="100000">
              <a:schemeClr val="tx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800" dirty="0">
            <a:latin typeface="+mn-lt"/>
          </a:defRPr>
        </a:defPPr>
      </a:lstStyle>
    </a:txDef>
  </a:objectDefaults>
  <a:extraClrSchemeLst>
    <a:extraClrScheme>
      <a:clrScheme name="nlp-lucida-schem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NLP-jurafsky.potx</Template>
  <TotalTime>24585</TotalTime>
  <Words>1900</Words>
  <Application>Microsoft Office PowerPoint</Application>
  <PresentationFormat>On-screen Show (16:9)</PresentationFormat>
  <Paragraphs>371</Paragraphs>
  <Slides>44</Slides>
  <Notes>20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6" baseType="lpstr">
      <vt:lpstr>ＭＳ Ｐゴシック</vt:lpstr>
      <vt:lpstr>Arial</vt:lpstr>
      <vt:lpstr>Calibri</vt:lpstr>
      <vt:lpstr>Calibri (Body)</vt:lpstr>
      <vt:lpstr>Calibri (Headings)</vt:lpstr>
      <vt:lpstr>Courier</vt:lpstr>
      <vt:lpstr>Lucida Sans</vt:lpstr>
      <vt:lpstr>Tahoma</vt:lpstr>
      <vt:lpstr>Times</vt:lpstr>
      <vt:lpstr>Wingdings</vt:lpstr>
      <vt:lpstr>NLP-jurafsky</vt:lpstr>
      <vt:lpstr>Equation</vt:lpstr>
      <vt:lpstr>Relation Extraction</vt:lpstr>
      <vt:lpstr>Extracting relations from text</vt:lpstr>
      <vt:lpstr>Extracting Relation Triples from Text</vt:lpstr>
      <vt:lpstr>Why Relation Extraction?</vt:lpstr>
      <vt:lpstr>Automated Content Extraction (ACE)</vt:lpstr>
      <vt:lpstr>Automated Content Extraction (ACE)</vt:lpstr>
      <vt:lpstr>UMLS: Unified Medical Language System</vt:lpstr>
      <vt:lpstr>Databases of Wikipedia Relations</vt:lpstr>
      <vt:lpstr>Relation databases  that draw from Wikipedia</vt:lpstr>
      <vt:lpstr>Ontological relations</vt:lpstr>
      <vt:lpstr>How to build relation extractors</vt:lpstr>
      <vt:lpstr>Relation Extraction</vt:lpstr>
      <vt:lpstr>Relation Extraction</vt:lpstr>
      <vt:lpstr>Rules for extracting IS-A relation</vt:lpstr>
      <vt:lpstr>Rules for extracting IS-A relation</vt:lpstr>
      <vt:lpstr>Hearst’s Patterns for extracting IS-A relations</vt:lpstr>
      <vt:lpstr>Extracting Richer Relations Using Rules</vt:lpstr>
      <vt:lpstr>Named Entities aren’t quite enough. Which relations hold between 2 entities?</vt:lpstr>
      <vt:lpstr>What relations hold between 2 entities?</vt:lpstr>
      <vt:lpstr>Extracting Richer Relations Using Rules and Named Entities</vt:lpstr>
      <vt:lpstr>Hand-built patterns for relations</vt:lpstr>
      <vt:lpstr>Relation Extraction</vt:lpstr>
      <vt:lpstr>Relation Extraction</vt:lpstr>
      <vt:lpstr>Supervised machine learning for relations</vt:lpstr>
      <vt:lpstr>How to do classification in supervised relation extraction</vt:lpstr>
      <vt:lpstr>Automated Content Extraction (ACE)</vt:lpstr>
      <vt:lpstr>Relation Extraction</vt:lpstr>
      <vt:lpstr>Word Features for Relation Extraction</vt:lpstr>
      <vt:lpstr>Named Entity Type and Mention Level Features for Relation Extraction</vt:lpstr>
      <vt:lpstr>Parse Features for Relation Extraction</vt:lpstr>
      <vt:lpstr>Gazeteer and trigger word features for relation extraction</vt:lpstr>
      <vt:lpstr>Classifiers for supervised methods</vt:lpstr>
      <vt:lpstr>Evaluation of Supervised Relation Extraction</vt:lpstr>
      <vt:lpstr>Summary: Supervised Relation Extraction</vt:lpstr>
      <vt:lpstr>Relation Extraction</vt:lpstr>
      <vt:lpstr>Relation Extraction</vt:lpstr>
      <vt:lpstr>Seed-based or bootstrapping approaches to relation extraction</vt:lpstr>
      <vt:lpstr>Relation Bootstrapping (Hearst 1992)</vt:lpstr>
      <vt:lpstr>Bootstrapping </vt:lpstr>
      <vt:lpstr>Dipre: Extract &lt;author,book&gt; pairs</vt:lpstr>
      <vt:lpstr> Snowball</vt:lpstr>
      <vt:lpstr>Unsupervised relation extraction</vt:lpstr>
      <vt:lpstr>Evaluation of Semi-supervised and Unsupervised Relation Extraction</vt:lpstr>
      <vt:lpstr>Relation Extraction</vt:lpstr>
    </vt:vector>
  </TitlesOfParts>
  <Company>Stanford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Extraction</dc:title>
  <dc:creator>Christopher Manning</dc:creator>
  <cp:lastModifiedBy>yasaman.boreshban@gmail.com</cp:lastModifiedBy>
  <cp:revision>511</cp:revision>
  <cp:lastPrinted>2009-04-20T16:46:08Z</cp:lastPrinted>
  <dcterms:created xsi:type="dcterms:W3CDTF">2010-04-19T15:31:24Z</dcterms:created>
  <dcterms:modified xsi:type="dcterms:W3CDTF">2021-05-01T00:22:39Z</dcterms:modified>
</cp:coreProperties>
</file>