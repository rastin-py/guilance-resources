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25"/>
  </p:notesMasterIdLst>
  <p:handoutMasterIdLst>
    <p:handoutMasterId r:id="rId26"/>
  </p:handoutMasterIdLst>
  <p:sldIdLst>
    <p:sldId id="384" r:id="rId2"/>
    <p:sldId id="386" r:id="rId3"/>
    <p:sldId id="435" r:id="rId4"/>
    <p:sldId id="387" r:id="rId5"/>
    <p:sldId id="388" r:id="rId6"/>
    <p:sldId id="389" r:id="rId7"/>
    <p:sldId id="436" r:id="rId8"/>
    <p:sldId id="432" r:id="rId9"/>
    <p:sldId id="433" r:id="rId10"/>
    <p:sldId id="394" r:id="rId11"/>
    <p:sldId id="395" r:id="rId12"/>
    <p:sldId id="396" r:id="rId13"/>
    <p:sldId id="397" r:id="rId14"/>
    <p:sldId id="438" r:id="rId15"/>
    <p:sldId id="437" r:id="rId16"/>
    <p:sldId id="439" r:id="rId17"/>
    <p:sldId id="399" r:id="rId18"/>
    <p:sldId id="441" r:id="rId19"/>
    <p:sldId id="409" r:id="rId20"/>
    <p:sldId id="444" r:id="rId21"/>
    <p:sldId id="445" r:id="rId22"/>
    <p:sldId id="401" r:id="rId23"/>
    <p:sldId id="440" r:id="rId24"/>
  </p:sldIdLst>
  <p:sldSz cx="9144000" cy="6858000" type="screen4x3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06" autoAdjust="0"/>
    <p:restoredTop sz="86867" autoAdjust="0"/>
  </p:normalViewPr>
  <p:slideViewPr>
    <p:cSldViewPr>
      <p:cViewPr varScale="1">
        <p:scale>
          <a:sx n="60" d="100"/>
          <a:sy n="60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4879CE-B44A-CF4D-A6DB-5D1A00B378D5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4879CE-B44A-CF4D-A6DB-5D1A00B378D5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Use Fed raises interest rates example.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12A2420-0B1C-5841-91A4-3B4F106448A7}" type="slidenum">
              <a:rPr lang="en-US" sz="1200"/>
              <a:pPr eaLnBrk="1" hangingPunct="1"/>
              <a:t>6</a:t>
            </a:fld>
            <a:endParaRPr 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12A2420-0B1C-5841-91A4-3B4F106448A7}" type="slidenum">
              <a:rPr lang="en-US" sz="1200"/>
              <a:pPr eaLnBrk="1" hangingPunct="1"/>
              <a:t>7</a:t>
            </a:fld>
            <a:endParaRPr 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B1C31DD-2627-8044-9A02-2C0BA0C76F4F}" type="slidenum">
              <a:rPr lang="en-US" sz="1200"/>
              <a:pPr eaLnBrk="1" hangingPunct="1"/>
              <a:t>10</a:t>
            </a:fld>
            <a:endParaRPr 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03BC1F5B-8973-6F49-8D2A-785D3A7E8D3E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0F217101-A38A-C947-A07E-D9D935C59DF7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BD9E31C-8927-AA4E-B63D-46FAD0720079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89984A0C-85B8-344F-BCE7-5A0F9EA09180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15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DBCA5B83-BEAB-104E-8541-EA8A900CB548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No constraints, just exponential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2^n</a:t>
            </a:r>
          </a:p>
          <a:p>
            <a:pPr eaLnBrk="1" hangingPunct="1"/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But normally assuming nesting: at its monthly meeting could modify “for $27 a share or “its acquisition” or “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aproved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”, but not “by 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Roay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Trustco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Ltd.” or “of Toronto</a:t>
            </a:r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DBCA5B83-BEAB-104E-8541-EA8A900CB548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No constraints, just exponential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2^n</a:t>
            </a:r>
          </a:p>
          <a:p>
            <a:pPr eaLnBrk="1" hangingPunct="1"/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But normally assuming nesting: at its monthly meeting could modify “for $27 a share or “its acquisition” or “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aproved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”, but not “by 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Roay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Trustco</a:t>
            </a:r>
            <a:r>
              <a:rPr lang="en-US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Ltd.” or “of Toronto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911E041C-91FD-6D45-A6EA-41AF94559249}" type="slidenum">
              <a:rPr lang="en-US" sz="1200"/>
              <a:pPr eaLnBrk="1" hangingPunct="1"/>
              <a:t>20</a:t>
            </a:fld>
            <a:endParaRPr lang="en-US" sz="12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911E041C-91FD-6D45-A6EA-41AF94559249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45E1DC06-EAE4-FD4F-B8BD-DE8FAC8087D4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23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681037"/>
            <a:ext cx="3890964" cy="1731963"/>
          </a:xfrm>
        </p:spPr>
        <p:txBody>
          <a:bodyPr/>
          <a:lstStyle>
            <a:lvl1pPr algn="ctr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3835400"/>
            <a:ext cx="3886200" cy="22352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 sz="3600">
                <a:solidFill>
                  <a:srgbClr val="A5002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6273800"/>
            <a:ext cx="12192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62738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260136" y="304800"/>
            <a:ext cx="3473664" cy="6255910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6273800"/>
            <a:ext cx="765174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44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3246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38862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8862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324600"/>
            <a:ext cx="3429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71637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311400"/>
            <a:ext cx="4040188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425" y="1671637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7425" y="2311400"/>
            <a:ext cx="4041775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905000"/>
            <a:ext cx="3008313" cy="1162051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3124201"/>
            <a:ext cx="3008313" cy="30019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381000"/>
            <a:ext cx="211455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619125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1"/>
            <a:ext cx="85344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76701"/>
            <a:ext cx="85344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304800"/>
            <a:ext cx="739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52600"/>
            <a:ext cx="85344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0" y="6248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248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195" y="304800"/>
            <a:ext cx="1059656" cy="1066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323" y="11667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A4001D"/>
                </a:solidFill>
                <a:latin typeface="+mn-lt"/>
              </a:rPr>
              <a:t>Christopher Manning</a:t>
            </a:r>
            <a:endParaRPr lang="en-US" sz="1100" dirty="0">
              <a:solidFill>
                <a:srgbClr val="A4001D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2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Two views of syntactic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26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557587"/>
            <a:ext cx="2454275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views of linguistic structure: </a:t>
            </a:r>
            <a:br>
              <a:rPr lang="en-US" smtClean="0"/>
            </a:br>
            <a:r>
              <a:rPr lang="en-US" smtClean="0"/>
              <a:t>1. Constituency (phrase structure)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Phrase structure organizes words into nested constituents.</a:t>
            </a:r>
          </a:p>
          <a:p>
            <a:r>
              <a:rPr lang="en-US" dirty="0" smtClean="0"/>
              <a:t>How do we know what is a </a:t>
            </a:r>
            <a:r>
              <a:rPr lang="en-US" dirty="0" smtClean="0">
                <a:solidFill>
                  <a:srgbClr val="A4001D"/>
                </a:solidFill>
              </a:rPr>
              <a:t>constituent</a:t>
            </a:r>
            <a:r>
              <a:rPr lang="en-US" dirty="0" smtClean="0"/>
              <a:t>?  (Not that linguists don’t argue about some cases.)</a:t>
            </a:r>
          </a:p>
          <a:p>
            <a:pPr lvl="1"/>
            <a:r>
              <a:rPr lang="en-US" dirty="0" smtClean="0"/>
              <a:t>Distribution: a constituent behaves as a unit that can appear in different places:</a:t>
            </a:r>
          </a:p>
          <a:p>
            <a:pPr lvl="2"/>
            <a:r>
              <a:rPr lang="en-US" dirty="0" smtClean="0"/>
              <a:t>John talked [to the children] [about drugs].</a:t>
            </a:r>
          </a:p>
          <a:p>
            <a:pPr lvl="2"/>
            <a:r>
              <a:rPr lang="en-US" dirty="0" smtClean="0"/>
              <a:t>John talked [about drugs] [to the children].</a:t>
            </a:r>
          </a:p>
          <a:p>
            <a:pPr lvl="2"/>
            <a:r>
              <a:rPr lang="en-US" dirty="0" smtClean="0"/>
              <a:t>*John talked drugs to the children about</a:t>
            </a:r>
          </a:p>
          <a:p>
            <a:pPr lvl="1"/>
            <a:r>
              <a:rPr lang="en-US" dirty="0" smtClean="0"/>
              <a:t>Substitution/expansion/pro-forms:</a:t>
            </a:r>
          </a:p>
          <a:p>
            <a:pPr lvl="2"/>
            <a:r>
              <a:rPr lang="en-US" dirty="0" smtClean="0"/>
              <a:t>I sat [on the box/right on top of the box/there].</a:t>
            </a:r>
          </a:p>
          <a:p>
            <a:pPr lvl="1"/>
            <a:r>
              <a:rPr lang="en-US" dirty="0" smtClean="0"/>
              <a:t>Coordination, regular internal structure, no intrusion,                   fragments, semantics,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87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views of linguistic structure: </a:t>
            </a:r>
            <a:br>
              <a:rPr lang="en-US" smtClean="0"/>
            </a:br>
            <a:r>
              <a:rPr lang="en-US" smtClean="0"/>
              <a:t>1. Constituency (phrase structure)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Phrase structure organizes words into nested constituents.</a:t>
            </a:r>
          </a:p>
          <a:p>
            <a:r>
              <a:rPr lang="en-US" dirty="0" smtClean="0"/>
              <a:t>How do we know what is a </a:t>
            </a:r>
            <a:r>
              <a:rPr lang="en-US" dirty="0" smtClean="0">
                <a:solidFill>
                  <a:srgbClr val="A4001D"/>
                </a:solidFill>
              </a:rPr>
              <a:t>constituent</a:t>
            </a:r>
            <a:r>
              <a:rPr lang="en-US" dirty="0" smtClean="0"/>
              <a:t>?  (Not that linguists don’t argue about some cases.)</a:t>
            </a:r>
          </a:p>
          <a:p>
            <a:pPr lvl="1"/>
            <a:r>
              <a:rPr lang="en-US" dirty="0" smtClean="0"/>
              <a:t>Distribution: a constituent behaves as a unit that can appear in different places:</a:t>
            </a:r>
          </a:p>
          <a:p>
            <a:pPr lvl="2"/>
            <a:r>
              <a:rPr lang="en-US" dirty="0" smtClean="0"/>
              <a:t>John talked [to the children] [about drugs].</a:t>
            </a:r>
          </a:p>
          <a:p>
            <a:pPr lvl="2"/>
            <a:r>
              <a:rPr lang="en-US" dirty="0" smtClean="0"/>
              <a:t>John talked [about drugs] [to the children].</a:t>
            </a:r>
          </a:p>
          <a:p>
            <a:pPr lvl="2"/>
            <a:r>
              <a:rPr lang="en-US" dirty="0" smtClean="0"/>
              <a:t>*John talked drugs to the children about</a:t>
            </a:r>
          </a:p>
          <a:p>
            <a:pPr lvl="1"/>
            <a:r>
              <a:rPr lang="en-US" dirty="0" smtClean="0"/>
              <a:t>Substitution/expansion/pro-forms:</a:t>
            </a:r>
          </a:p>
          <a:p>
            <a:pPr lvl="2"/>
            <a:r>
              <a:rPr lang="en-US" dirty="0" smtClean="0"/>
              <a:t>I sat [on the box/right on top of the box/there].</a:t>
            </a:r>
          </a:p>
          <a:p>
            <a:pPr lvl="1"/>
            <a:r>
              <a:rPr lang="en-US" dirty="0" smtClean="0"/>
              <a:t>Coordination, regular internal structure, no intrusion,                   fragments, semantics,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4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300"/>
            <a:ext cx="9144000" cy="636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60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Headed phrase structure</a:t>
            </a:r>
          </a:p>
        </p:txBody>
      </p:sp>
      <p:sp>
        <p:nvSpPr>
          <p:cNvPr id="108546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VP </a:t>
            </a: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 … VB*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NP  … NN*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ADJP  … JJ*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ADVP  … RB* …</a:t>
            </a:r>
          </a:p>
          <a:p>
            <a:endParaRPr lang="en-US" dirty="0">
              <a:ea typeface="ＭＳ Ｐゴシック" charset="0"/>
              <a:cs typeface="ＭＳ Ｐゴシック" charset="0"/>
              <a:sym typeface="Symbol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SBAR(Q)  S|SINV|SQ  … NP VP …</a:t>
            </a:r>
          </a:p>
          <a:p>
            <a:endParaRPr lang="en-US" dirty="0">
              <a:ea typeface="ＭＳ Ｐゴシック" charset="0"/>
              <a:cs typeface="ＭＳ Ｐゴシック" charset="0"/>
              <a:sym typeface="Symbol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Plus minor phrase types:</a:t>
            </a:r>
          </a:p>
          <a:p>
            <a:pPr lvl="1"/>
            <a:r>
              <a:rPr lang="en-US" dirty="0">
                <a:ea typeface="ＭＳ Ｐゴシック" charset="0"/>
                <a:sym typeface="Symbol" charset="0"/>
              </a:rPr>
              <a:t>QP (quantifier phrase in NP), CONJP (multi word constructions: </a:t>
            </a:r>
            <a:r>
              <a:rPr lang="en-US" i="1" dirty="0">
                <a:ea typeface="ＭＳ Ｐゴシック" charset="0"/>
                <a:sym typeface="Symbol" charset="0"/>
              </a:rPr>
              <a:t>as well as</a:t>
            </a:r>
            <a:r>
              <a:rPr lang="en-US" dirty="0">
                <a:ea typeface="ＭＳ Ｐゴシック" charset="0"/>
                <a:sym typeface="Symbol" charset="0"/>
              </a:rPr>
              <a:t>), INTJ (interjections), etc.</a:t>
            </a:r>
            <a:endParaRPr lang="en-US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7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views of linguistic structure: </a:t>
            </a:r>
            <a:br>
              <a:rPr lang="en-US" smtClean="0"/>
            </a:br>
            <a:r>
              <a:rPr lang="en-US" smtClean="0"/>
              <a:t>2. Dependency structure</a:t>
            </a:r>
            <a:endParaRPr 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Dependency structure shows which words depend on (modify or are arguments of) which other words.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dirty="0"/>
          </a:p>
        </p:txBody>
      </p:sp>
      <p:sp>
        <p:nvSpPr>
          <p:cNvPr id="20483" name="Text Box 7"/>
          <p:cNvSpPr txBox="1">
            <a:spLocks noChangeArrowheads="1"/>
          </p:cNvSpPr>
          <p:nvPr/>
        </p:nvSpPr>
        <p:spPr bwMode="auto">
          <a:xfrm>
            <a:off x="636588" y="5391150"/>
            <a:ext cx="58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84" name="Text Box 8"/>
          <p:cNvSpPr txBox="1">
            <a:spLocks noChangeArrowheads="1"/>
          </p:cNvSpPr>
          <p:nvPr/>
        </p:nvSpPr>
        <p:spPr bwMode="auto">
          <a:xfrm>
            <a:off x="1101725" y="539115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boy</a:t>
            </a:r>
            <a:endParaRPr lang="en-US"/>
          </a:p>
        </p:txBody>
      </p:sp>
      <p:sp>
        <p:nvSpPr>
          <p:cNvPr id="20485" name="Text Box 9"/>
          <p:cNvSpPr txBox="1">
            <a:spLocks noChangeArrowheads="1"/>
          </p:cNvSpPr>
          <p:nvPr/>
        </p:nvSpPr>
        <p:spPr bwMode="auto">
          <a:xfrm>
            <a:off x="1584325" y="5391150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put</a:t>
            </a:r>
            <a:endParaRPr lang="en-US"/>
          </a:p>
        </p:txBody>
      </p:sp>
      <p:sp>
        <p:nvSpPr>
          <p:cNvPr id="20486" name="Text Box 10"/>
          <p:cNvSpPr txBox="1">
            <a:spLocks noChangeArrowheads="1"/>
          </p:cNvSpPr>
          <p:nvPr/>
        </p:nvSpPr>
        <p:spPr bwMode="auto">
          <a:xfrm>
            <a:off x="2047875" y="53911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87" name="Text Box 11"/>
          <p:cNvSpPr txBox="1">
            <a:spLocks noChangeArrowheads="1"/>
          </p:cNvSpPr>
          <p:nvPr/>
        </p:nvSpPr>
        <p:spPr bwMode="auto">
          <a:xfrm>
            <a:off x="2489200" y="5391150"/>
            <a:ext cx="102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tortoise</a:t>
            </a:r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384550" y="5391150"/>
            <a:ext cx="45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on</a:t>
            </a:r>
            <a:endParaRPr lang="en-US"/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3700463" y="5386388"/>
            <a:ext cx="534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90" name="Text Box 14"/>
          <p:cNvSpPr txBox="1">
            <a:spLocks noChangeArrowheads="1"/>
          </p:cNvSpPr>
          <p:nvPr/>
        </p:nvSpPr>
        <p:spPr bwMode="auto">
          <a:xfrm>
            <a:off x="4137025" y="5373688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rug</a:t>
            </a:r>
            <a:endParaRPr lang="en-US"/>
          </a:p>
        </p:txBody>
      </p:sp>
      <p:cxnSp>
        <p:nvCxnSpPr>
          <p:cNvPr id="20491" name="AutoShape 15"/>
          <p:cNvCxnSpPr>
            <a:cxnSpLocks noChangeShapeType="1"/>
            <a:stCxn id="20484" idx="0"/>
            <a:endCxn id="20483" idx="0"/>
          </p:cNvCxnSpPr>
          <p:nvPr/>
        </p:nvCxnSpPr>
        <p:spPr bwMode="auto">
          <a:xfrm rot="-5400000" flipH="1" flipV="1">
            <a:off x="1160463" y="5162550"/>
            <a:ext cx="1588" cy="458787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6"/>
          <p:cNvCxnSpPr>
            <a:cxnSpLocks noChangeShapeType="1"/>
            <a:stCxn id="20485" idx="0"/>
            <a:endCxn id="20484" idx="0"/>
          </p:cNvCxnSpPr>
          <p:nvPr/>
        </p:nvCxnSpPr>
        <p:spPr bwMode="auto">
          <a:xfrm rot="-5400000" flipH="1" flipV="1">
            <a:off x="1624806" y="5156994"/>
            <a:ext cx="1588" cy="469900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7"/>
          <p:cNvCxnSpPr>
            <a:cxnSpLocks noChangeShapeType="1"/>
            <a:stCxn id="20485" idx="0"/>
            <a:endCxn id="20487" idx="0"/>
          </p:cNvCxnSpPr>
          <p:nvPr/>
        </p:nvCxnSpPr>
        <p:spPr bwMode="auto">
          <a:xfrm rot="5400000" flipH="1" flipV="1">
            <a:off x="2431257" y="4820443"/>
            <a:ext cx="12700" cy="1141413"/>
          </a:xfrm>
          <a:prstGeom prst="curvedConnector3">
            <a:avLst>
              <a:gd name="adj1" fmla="val 31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8"/>
          <p:cNvCxnSpPr>
            <a:cxnSpLocks noChangeShapeType="1"/>
            <a:stCxn id="20485" idx="0"/>
            <a:endCxn id="20488" idx="0"/>
          </p:cNvCxnSpPr>
          <p:nvPr/>
        </p:nvCxnSpPr>
        <p:spPr bwMode="auto">
          <a:xfrm rot="5400000" flipH="1" flipV="1">
            <a:off x="2736057" y="4515643"/>
            <a:ext cx="12700" cy="1751013"/>
          </a:xfrm>
          <a:prstGeom prst="curvedConnector3">
            <a:avLst>
              <a:gd name="adj1" fmla="val 49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9"/>
          <p:cNvCxnSpPr>
            <a:cxnSpLocks noChangeShapeType="1"/>
            <a:stCxn id="20488" idx="0"/>
            <a:endCxn id="20490" idx="0"/>
          </p:cNvCxnSpPr>
          <p:nvPr/>
        </p:nvCxnSpPr>
        <p:spPr bwMode="auto">
          <a:xfrm rot="-5400000">
            <a:off x="4010026" y="4976812"/>
            <a:ext cx="17462" cy="811213"/>
          </a:xfrm>
          <a:prstGeom prst="curvedConnector3">
            <a:avLst>
              <a:gd name="adj1" fmla="val 2636361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20"/>
          <p:cNvCxnSpPr>
            <a:cxnSpLocks noChangeShapeType="1"/>
            <a:stCxn id="20490" idx="0"/>
            <a:endCxn id="20489" idx="0"/>
          </p:cNvCxnSpPr>
          <p:nvPr/>
        </p:nvCxnSpPr>
        <p:spPr bwMode="auto">
          <a:xfrm rot="-5400000" flipH="1" flipV="1">
            <a:off x="4190207" y="5152231"/>
            <a:ext cx="12700" cy="455613"/>
          </a:xfrm>
          <a:prstGeom prst="curvedConnector3">
            <a:avLst>
              <a:gd name="adj1" fmla="val -18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21"/>
          <p:cNvCxnSpPr>
            <a:cxnSpLocks noChangeShapeType="1"/>
            <a:stCxn id="20487" idx="0"/>
            <a:endCxn id="20486" idx="0"/>
          </p:cNvCxnSpPr>
          <p:nvPr/>
        </p:nvCxnSpPr>
        <p:spPr bwMode="auto">
          <a:xfrm rot="16200000" flipV="1">
            <a:off x="2659063" y="5048250"/>
            <a:ext cx="12700" cy="685800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8" name="Text Box 37"/>
          <p:cNvSpPr txBox="1">
            <a:spLocks noChangeArrowheads="1"/>
          </p:cNvSpPr>
          <p:nvPr/>
        </p:nvSpPr>
        <p:spPr bwMode="auto">
          <a:xfrm>
            <a:off x="8150225" y="5119688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rug</a:t>
            </a:r>
            <a:endParaRPr lang="en-US"/>
          </a:p>
        </p:txBody>
      </p:sp>
      <p:sp>
        <p:nvSpPr>
          <p:cNvPr id="20499" name="Text Box 38"/>
          <p:cNvSpPr txBox="1">
            <a:spLocks noChangeArrowheads="1"/>
          </p:cNvSpPr>
          <p:nvPr/>
        </p:nvSpPr>
        <p:spPr bwMode="auto">
          <a:xfrm>
            <a:off x="7750175" y="55816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0" name="Text Box 39"/>
          <p:cNvSpPr txBox="1">
            <a:spLocks noChangeArrowheads="1"/>
          </p:cNvSpPr>
          <p:nvPr/>
        </p:nvSpPr>
        <p:spPr bwMode="auto">
          <a:xfrm>
            <a:off x="6289675" y="52260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1" name="Text Box 40"/>
          <p:cNvSpPr txBox="1">
            <a:spLocks noChangeArrowheads="1"/>
          </p:cNvSpPr>
          <p:nvPr/>
        </p:nvSpPr>
        <p:spPr bwMode="auto">
          <a:xfrm>
            <a:off x="7524750" y="4730750"/>
            <a:ext cx="45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on</a:t>
            </a:r>
            <a:endParaRPr lang="en-US"/>
          </a:p>
        </p:txBody>
      </p:sp>
      <p:sp>
        <p:nvSpPr>
          <p:cNvPr id="20502" name="Line 41"/>
          <p:cNvSpPr>
            <a:spLocks noChangeShapeType="1"/>
          </p:cNvSpPr>
          <p:nvPr/>
        </p:nvSpPr>
        <p:spPr bwMode="auto">
          <a:xfrm>
            <a:off x="7797800" y="5054600"/>
            <a:ext cx="635000" cy="12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42"/>
          <p:cNvSpPr>
            <a:spLocks noChangeShapeType="1"/>
          </p:cNvSpPr>
          <p:nvPr/>
        </p:nvSpPr>
        <p:spPr bwMode="auto">
          <a:xfrm flipH="1">
            <a:off x="8026400" y="54483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Text Box 43"/>
          <p:cNvSpPr txBox="1">
            <a:spLocks noChangeArrowheads="1"/>
          </p:cNvSpPr>
          <p:nvPr/>
        </p:nvSpPr>
        <p:spPr bwMode="auto">
          <a:xfrm>
            <a:off x="6515100" y="4756150"/>
            <a:ext cx="102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tortoise</a:t>
            </a:r>
            <a:endParaRPr lang="en-US"/>
          </a:p>
        </p:txBody>
      </p:sp>
      <p:sp>
        <p:nvSpPr>
          <p:cNvPr id="20505" name="Text Box 44"/>
          <p:cNvSpPr txBox="1">
            <a:spLocks noChangeArrowheads="1"/>
          </p:cNvSpPr>
          <p:nvPr/>
        </p:nvSpPr>
        <p:spPr bwMode="auto">
          <a:xfrm>
            <a:off x="6207125" y="4260850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put</a:t>
            </a:r>
            <a:endParaRPr lang="en-US"/>
          </a:p>
        </p:txBody>
      </p:sp>
      <p:sp>
        <p:nvSpPr>
          <p:cNvPr id="20506" name="Text Box 45"/>
          <p:cNvSpPr txBox="1">
            <a:spLocks noChangeArrowheads="1"/>
          </p:cNvSpPr>
          <p:nvPr/>
        </p:nvSpPr>
        <p:spPr bwMode="auto">
          <a:xfrm>
            <a:off x="5788025" y="473075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boy</a:t>
            </a:r>
            <a:endParaRPr lang="en-US"/>
          </a:p>
        </p:txBody>
      </p:sp>
      <p:sp>
        <p:nvSpPr>
          <p:cNvPr id="20507" name="Text Box 46"/>
          <p:cNvSpPr txBox="1">
            <a:spLocks noChangeArrowheads="1"/>
          </p:cNvSpPr>
          <p:nvPr/>
        </p:nvSpPr>
        <p:spPr bwMode="auto">
          <a:xfrm>
            <a:off x="5411788" y="5187950"/>
            <a:ext cx="58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8" name="Line 47"/>
          <p:cNvSpPr>
            <a:spLocks noChangeShapeType="1"/>
          </p:cNvSpPr>
          <p:nvPr/>
        </p:nvSpPr>
        <p:spPr bwMode="auto">
          <a:xfrm flipH="1">
            <a:off x="6565900" y="51054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Line 48"/>
          <p:cNvSpPr>
            <a:spLocks noChangeShapeType="1"/>
          </p:cNvSpPr>
          <p:nvPr/>
        </p:nvSpPr>
        <p:spPr bwMode="auto">
          <a:xfrm flipH="1">
            <a:off x="5664200" y="50673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Line 49"/>
          <p:cNvSpPr>
            <a:spLocks noChangeShapeType="1"/>
          </p:cNvSpPr>
          <p:nvPr/>
        </p:nvSpPr>
        <p:spPr bwMode="auto">
          <a:xfrm flipH="1">
            <a:off x="6083300" y="46482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1" name="Line 50"/>
          <p:cNvSpPr>
            <a:spLocks noChangeShapeType="1"/>
          </p:cNvSpPr>
          <p:nvPr/>
        </p:nvSpPr>
        <p:spPr bwMode="auto">
          <a:xfrm>
            <a:off x="6502400" y="4660900"/>
            <a:ext cx="635000" cy="12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2" name="Line 51"/>
          <p:cNvSpPr>
            <a:spLocks noChangeShapeType="1"/>
          </p:cNvSpPr>
          <p:nvPr/>
        </p:nvSpPr>
        <p:spPr bwMode="auto">
          <a:xfrm>
            <a:off x="6502400" y="4635500"/>
            <a:ext cx="1244600" cy="165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views of linguistic structure: </a:t>
            </a:r>
            <a:br>
              <a:rPr lang="en-US" smtClean="0"/>
            </a:br>
            <a:r>
              <a:rPr lang="en-US" smtClean="0"/>
              <a:t>2. Dependency structure</a:t>
            </a:r>
            <a:endParaRPr 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Dependency structure shows which words depend on (modify or are arguments of) which other words.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sz="3600" i="1" dirty="0" smtClean="0"/>
              <a:t>The  boy  put  the  tortoise  on  the  rug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4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Two views of syntactic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2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Parsing: The rise of data and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2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Pre 1990 (“Classical”) NLP Parsing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82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Wrote symbolic grammar (CFG or often richer) and lexicon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 smtClean="0">
                <a:ea typeface="ＭＳ Ｐゴシック" charset="0"/>
              </a:rPr>
              <a:t>S </a:t>
            </a:r>
            <a:r>
              <a:rPr lang="en-US" dirty="0" smtClean="0">
                <a:ea typeface="ＭＳ Ｐゴシック" charset="0"/>
                <a:sym typeface="Symbol" charset="0"/>
              </a:rPr>
              <a:t> NP VP			NN  </a:t>
            </a:r>
            <a:r>
              <a:rPr lang="en-US" i="1" dirty="0" smtClean="0">
                <a:ea typeface="ＭＳ Ｐゴシック" charset="0"/>
                <a:sym typeface="Symbol" charset="0"/>
              </a:rPr>
              <a:t>interest</a:t>
            </a:r>
            <a:endParaRPr lang="en-US" dirty="0" smtClean="0">
              <a:ea typeface="ＭＳ Ｐゴシック" charset="0"/>
              <a:sym typeface="Symbol" charset="0"/>
            </a:endParaRP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 smtClean="0">
                <a:ea typeface="ＭＳ Ｐゴシック" charset="0"/>
                <a:sym typeface="Symbol" charset="0"/>
              </a:rPr>
              <a:t>NP  (DT) NN		NNS  </a:t>
            </a:r>
            <a:r>
              <a:rPr lang="en-US" i="1" dirty="0" smtClean="0">
                <a:ea typeface="ＭＳ Ｐゴシック" charset="0"/>
                <a:sym typeface="Symbol" charset="0"/>
              </a:rPr>
              <a:t>rates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 smtClean="0">
                <a:ea typeface="ＭＳ Ｐゴシック" charset="0"/>
                <a:sym typeface="Symbol" charset="0"/>
              </a:rPr>
              <a:t>NP  NN NNS		NNS  </a:t>
            </a:r>
            <a:r>
              <a:rPr lang="en-US" i="1" dirty="0" smtClean="0">
                <a:ea typeface="ＭＳ Ｐゴシック" charset="0"/>
                <a:sym typeface="Symbol" charset="0"/>
              </a:rPr>
              <a:t>raises</a:t>
            </a:r>
            <a:endParaRPr lang="en-US" dirty="0" smtClean="0">
              <a:ea typeface="ＭＳ Ｐゴシック" charset="0"/>
              <a:sym typeface="Symbol" charset="0"/>
            </a:endParaRP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 smtClean="0">
                <a:ea typeface="ＭＳ Ｐゴシック" charset="0"/>
                <a:sym typeface="Symbol" charset="0"/>
              </a:rPr>
              <a:t>NP  NNP			VBP  </a:t>
            </a:r>
            <a:r>
              <a:rPr lang="en-US" i="1" dirty="0" smtClean="0">
                <a:ea typeface="ＭＳ Ｐゴシック" charset="0"/>
                <a:sym typeface="Symbol" charset="0"/>
              </a:rPr>
              <a:t>interest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 smtClean="0">
                <a:ea typeface="ＭＳ Ｐゴシック" charset="0"/>
                <a:sym typeface="Symbol" charset="0"/>
              </a:rPr>
              <a:t>VP   V NP		VBZ  </a:t>
            </a:r>
            <a:r>
              <a:rPr lang="en-US" i="1" dirty="0" smtClean="0">
                <a:ea typeface="ＭＳ Ｐゴシック" charset="0"/>
                <a:sym typeface="Symbol" charset="0"/>
              </a:rPr>
              <a:t>rates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800" i="1" dirty="0" smtClean="0">
              <a:ea typeface="ＭＳ Ｐゴシック" charset="0"/>
              <a:sym typeface="Symbo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cs typeface="ＭＳ Ｐゴシック" charset="0"/>
                <a:sym typeface="Symbol" charset="0"/>
              </a:rPr>
              <a:t>Used grammar/proof systems to prove parses from words</a:t>
            </a:r>
          </a:p>
          <a:p>
            <a:pPr eaLnBrk="1" hangingPunct="1">
              <a:lnSpc>
                <a:spcPct val="90000"/>
              </a:lnSpc>
              <a:buFont typeface="Times" charset="0"/>
              <a:buNone/>
            </a:pPr>
            <a:endParaRPr lang="en-US" sz="700" dirty="0" smtClean="0">
              <a:ea typeface="ＭＳ Ｐゴシック" charset="0"/>
              <a:cs typeface="ＭＳ Ｐゴシック" charset="0"/>
              <a:sym typeface="Symbo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cs typeface="ＭＳ Ｐゴシック" charset="0"/>
                <a:sym typeface="Symbol" charset="0"/>
              </a:rPr>
              <a:t>This scaled very badly and didn’t give coverage. For sentence: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A4001D"/>
                </a:solidFill>
                <a:ea typeface="ＭＳ Ｐゴシック" charset="0"/>
                <a:cs typeface="ＭＳ Ｐゴシック" charset="0"/>
              </a:rPr>
              <a:t>Fed raises interest rates 0.5% in effort to control inflation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sym typeface="Symbol" charset="0"/>
              </a:rPr>
              <a:t>Minimal grammar:			</a:t>
            </a:r>
            <a:r>
              <a:rPr lang="en-US" altLang="ja-JP" dirty="0" smtClean="0">
                <a:ea typeface="ＭＳ Ｐゴシック" charset="0"/>
                <a:sym typeface="Symbol" charset="0"/>
              </a:rPr>
              <a:t>36 parses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sym typeface="Symbol" charset="0"/>
              </a:rPr>
              <a:t>Simple 10 rule grammar:		592 parses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ea typeface="ＭＳ Ｐゴシック" charset="0"/>
                <a:sym typeface="Symbol" charset="0"/>
              </a:rPr>
              <a:t>Real-size broad-coverage grammar: 	millions of parses</a:t>
            </a:r>
            <a:endParaRPr lang="en-US" i="1" dirty="0">
              <a:ea typeface="ＭＳ Ｐゴシック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00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Classical NLP Parsing:</a:t>
            </a:r>
            <a:br>
              <a:rPr lang="en-US" smtClean="0"/>
            </a:br>
            <a:r>
              <a:rPr lang="en-US" smtClean="0"/>
              <a:t>The problem and its solution</a:t>
            </a:r>
            <a:endParaRPr 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382000" cy="4673600"/>
          </a:xfrm>
        </p:spPr>
        <p:txBody>
          <a:bodyPr/>
          <a:lstStyle/>
          <a:p>
            <a:r>
              <a:rPr lang="en-US" dirty="0" smtClean="0"/>
              <a:t>Categorical constraints can be added to grammars to limit unlikely/weird parses for sentences</a:t>
            </a:r>
          </a:p>
          <a:p>
            <a:pPr lvl="1"/>
            <a:r>
              <a:rPr lang="en-US" dirty="0" smtClean="0"/>
              <a:t>But the attempt make the grammars not robust</a:t>
            </a:r>
          </a:p>
          <a:p>
            <a:pPr lvl="2"/>
            <a:r>
              <a:rPr lang="en-US" dirty="0" smtClean="0"/>
              <a:t>In traditional systems, commonly 30% of sentences in even an edited text would have </a:t>
            </a:r>
            <a:r>
              <a:rPr lang="en-US" i="1" dirty="0" smtClean="0">
                <a:solidFill>
                  <a:srgbClr val="A4001D"/>
                </a:solidFill>
              </a:rPr>
              <a:t>no</a:t>
            </a:r>
            <a:r>
              <a:rPr lang="en-US" dirty="0" smtClean="0"/>
              <a:t> parse.</a:t>
            </a:r>
          </a:p>
          <a:p>
            <a:r>
              <a:rPr lang="en-US" dirty="0" smtClean="0"/>
              <a:t>A less constrained grammar can parse more sentences</a:t>
            </a:r>
          </a:p>
          <a:p>
            <a:pPr lvl="1"/>
            <a:r>
              <a:rPr lang="en-US" dirty="0" smtClean="0"/>
              <a:t>But simple sentences end up with ever more parses with no way to choose between them</a:t>
            </a:r>
          </a:p>
          <a:p>
            <a:r>
              <a:rPr lang="en-US" dirty="0" smtClean="0"/>
              <a:t>We need mechanisms that allow us to find the most likely parse(s) for a sentence</a:t>
            </a:r>
          </a:p>
          <a:p>
            <a:pPr lvl="1"/>
            <a:r>
              <a:rPr lang="en-US" dirty="0" smtClean="0"/>
              <a:t>Statistical parsing lets us work with very loose grammars that admit millions of parses for sentences but still quickly find the best parse(s)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6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The rise of annotated data:</a:t>
            </a:r>
            <a:b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The Penn </a:t>
            </a:r>
            <a:r>
              <a:rPr lang="en-US" dirty="0" smtClean="0">
                <a:latin typeface="Lucida Sans" charset="0"/>
                <a:ea typeface="ＭＳ Ｐゴシック" charset="0"/>
                <a:cs typeface="ＭＳ Ｐゴシック" charset="0"/>
              </a:rPr>
              <a:t>Treebank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518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( (S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(NP-SBJ (DT The) (NN move))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(VP (VBD followed)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(NP (DT a) (NN round))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(PP (IN of)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(NP (JJ similar) (NNS increases))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 (IN by)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(JJ other) (NNS lenders)))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 (IN against)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(NNP Arizona) (JJ real) (NN estate) (NNS loans))))))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(, ,)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(S-ADV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(NP-SBJ (-NONE- *))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(VP (VBG reflecting)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(NP (DT a) (VBG continuing) (NN decline))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(PP-LOC (IN in)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(DT that) (NN market)))))))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(. .)))</a:t>
            </a:r>
            <a:endParaRPr lang="en-US" sz="2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52800" y="1447800"/>
            <a:ext cx="5473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4"/>
                </a:solidFill>
              </a:rPr>
              <a:t>[Marcus et al. 1993, </a:t>
            </a:r>
            <a:r>
              <a:rPr lang="en-US" sz="1800" i="1" dirty="0">
                <a:solidFill>
                  <a:schemeClr val="accent4"/>
                </a:solidFill>
              </a:rPr>
              <a:t>Computational Linguistics</a:t>
            </a:r>
            <a:r>
              <a:rPr lang="en-US" sz="1800" dirty="0">
                <a:solidFill>
                  <a:schemeClr val="accent4"/>
                </a:solidFill>
              </a:rPr>
              <a:t>]</a:t>
            </a:r>
            <a:endParaRPr lang="en-US" sz="18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681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The rise of annotated data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Starting off, building a treebank seems a lot slower and less useful than building a grammar</a:t>
            </a: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But a treebank gives us many things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Reusability of the </a:t>
            </a:r>
            <a:r>
              <a:rPr lang="en-US" dirty="0" smtClean="0">
                <a:ea typeface="ＭＳ Ｐゴシック" charset="0"/>
              </a:rPr>
              <a:t>labor</a:t>
            </a:r>
          </a:p>
          <a:p>
            <a:pPr lvl="2"/>
            <a:r>
              <a:rPr lang="en-US" dirty="0" smtClean="0">
                <a:ea typeface="ＭＳ Ｐゴシック" charset="0"/>
              </a:rPr>
              <a:t>Many parsers, POS taggers, etc.</a:t>
            </a:r>
          </a:p>
          <a:p>
            <a:pPr lvl="2"/>
            <a:r>
              <a:rPr lang="en-US" dirty="0" smtClean="0">
                <a:ea typeface="ＭＳ Ｐゴシック" charset="0"/>
              </a:rPr>
              <a:t>Valuable resource for linguistics</a:t>
            </a:r>
            <a:endParaRPr lang="en-US" dirty="0">
              <a:ea typeface="ＭＳ Ｐゴシック" charset="0"/>
            </a:endParaRPr>
          </a:p>
          <a:p>
            <a:pPr lvl="1" eaLnBrk="1" hangingPunct="1"/>
            <a:r>
              <a:rPr lang="en-US" dirty="0">
                <a:ea typeface="ＭＳ Ｐゴシック" charset="0"/>
              </a:rPr>
              <a:t>Broad coverage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Frequencies and distributional information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A way to evaluate systems</a:t>
            </a:r>
          </a:p>
        </p:txBody>
      </p:sp>
    </p:spTree>
    <p:extLst>
      <p:ext uri="{BB962C8B-B14F-4D97-AF65-F5344CB8AC3E}">
        <p14:creationId xmlns:p14="http://schemas.microsoft.com/office/powerpoint/2010/main" val="96084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parsing applications</a:t>
            </a:r>
            <a:endParaRPr lang="en-US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Statistical parsers are now robust and widely used in larger NLP applications:</a:t>
            </a:r>
          </a:p>
          <a:p>
            <a:r>
              <a:rPr lang="en-US" dirty="0" smtClean="0"/>
              <a:t>High precision question answering </a:t>
            </a:r>
            <a:r>
              <a:rPr lang="en-US" sz="2000" dirty="0">
                <a:solidFill>
                  <a:srgbClr val="177245"/>
                </a:solidFill>
              </a:rPr>
              <a:t>[</a:t>
            </a:r>
            <a:r>
              <a:rPr lang="en-US" sz="2000" dirty="0" err="1" smtClean="0">
                <a:solidFill>
                  <a:srgbClr val="177245"/>
                </a:solidFill>
              </a:rPr>
              <a:t>Pasca</a:t>
            </a:r>
            <a:r>
              <a:rPr lang="en-US" sz="2000" dirty="0" smtClean="0">
                <a:solidFill>
                  <a:srgbClr val="177245"/>
                </a:solidFill>
              </a:rPr>
              <a:t> and </a:t>
            </a:r>
            <a:r>
              <a:rPr lang="en-US" sz="2000" dirty="0" err="1" smtClean="0">
                <a:solidFill>
                  <a:srgbClr val="177245"/>
                </a:solidFill>
              </a:rPr>
              <a:t>Harabagiu</a:t>
            </a:r>
            <a:r>
              <a:rPr lang="en-US" sz="2000" dirty="0" smtClean="0">
                <a:solidFill>
                  <a:srgbClr val="177245"/>
                </a:solidFill>
              </a:rPr>
              <a:t> SIGIR 2001]</a:t>
            </a:r>
          </a:p>
          <a:p>
            <a:r>
              <a:rPr lang="en-US" dirty="0" smtClean="0"/>
              <a:t>Improving biological named entity finding </a:t>
            </a:r>
            <a:r>
              <a:rPr lang="en-US" sz="2000" dirty="0" smtClean="0">
                <a:solidFill>
                  <a:srgbClr val="177245"/>
                </a:solidFill>
              </a:rPr>
              <a:t>[Finkel et al. JNLPBA 2004]</a:t>
            </a:r>
            <a:endParaRPr lang="en-US" dirty="0" smtClean="0">
              <a:solidFill>
                <a:srgbClr val="177245"/>
              </a:solidFill>
            </a:endParaRPr>
          </a:p>
          <a:p>
            <a:r>
              <a:rPr lang="en-US" dirty="0" smtClean="0"/>
              <a:t>Syntactically based sentence compression </a:t>
            </a:r>
            <a:r>
              <a:rPr lang="en-US" sz="2000" dirty="0" smtClean="0">
                <a:solidFill>
                  <a:srgbClr val="177245"/>
                </a:solidFill>
              </a:rPr>
              <a:t>[Lin and Wilbur 2007]</a:t>
            </a:r>
            <a:endParaRPr lang="en-US" dirty="0" smtClean="0">
              <a:solidFill>
                <a:srgbClr val="177245"/>
              </a:solidFill>
            </a:endParaRPr>
          </a:p>
          <a:p>
            <a:r>
              <a:rPr lang="en-US" dirty="0" smtClean="0"/>
              <a:t>Extracting</a:t>
            </a:r>
            <a:r>
              <a:rPr lang="en-US" altLang="ja-JP" dirty="0" smtClean="0"/>
              <a:t> opinions about products </a:t>
            </a:r>
            <a:r>
              <a:rPr lang="en-US" altLang="ja-JP" sz="2000" dirty="0" smtClean="0">
                <a:solidFill>
                  <a:srgbClr val="177245"/>
                </a:solidFill>
              </a:rPr>
              <a:t>[Bloom et al. NAACL 2007]</a:t>
            </a:r>
          </a:p>
          <a:p>
            <a:r>
              <a:rPr lang="en-US" dirty="0" smtClean="0"/>
              <a:t>Improved interaction in computer games </a:t>
            </a:r>
            <a:r>
              <a:rPr lang="en-US" sz="2000" dirty="0" smtClean="0">
                <a:solidFill>
                  <a:srgbClr val="177245"/>
                </a:solidFill>
              </a:rPr>
              <a:t>[</a:t>
            </a:r>
            <a:r>
              <a:rPr lang="en-US" sz="2000" dirty="0" err="1" smtClean="0">
                <a:solidFill>
                  <a:srgbClr val="177245"/>
                </a:solidFill>
              </a:rPr>
              <a:t>Gorniak</a:t>
            </a:r>
            <a:r>
              <a:rPr lang="en-US" sz="2000" dirty="0" smtClean="0">
                <a:solidFill>
                  <a:srgbClr val="177245"/>
                </a:solidFill>
              </a:rPr>
              <a:t> and Roy 2005]</a:t>
            </a:r>
            <a:endParaRPr lang="en-US" dirty="0" smtClean="0">
              <a:solidFill>
                <a:srgbClr val="177245"/>
              </a:solidFill>
            </a:endParaRPr>
          </a:p>
          <a:p>
            <a:r>
              <a:rPr lang="en-US" dirty="0" smtClean="0"/>
              <a:t>Helping linguists find data </a:t>
            </a:r>
            <a:r>
              <a:rPr lang="en-US" sz="2000" dirty="0" smtClean="0">
                <a:solidFill>
                  <a:srgbClr val="177245"/>
                </a:solidFill>
              </a:rPr>
              <a:t>[</a:t>
            </a:r>
            <a:r>
              <a:rPr lang="en-US" sz="2000" dirty="0" err="1" smtClean="0">
                <a:solidFill>
                  <a:srgbClr val="177245"/>
                </a:solidFill>
              </a:rPr>
              <a:t>Resnik</a:t>
            </a:r>
            <a:r>
              <a:rPr lang="en-US" sz="2000" dirty="0" smtClean="0">
                <a:solidFill>
                  <a:srgbClr val="177245"/>
                </a:solidFill>
              </a:rPr>
              <a:t> et al. BLS 2005]</a:t>
            </a:r>
          </a:p>
          <a:p>
            <a:r>
              <a:rPr lang="en-US" dirty="0" smtClean="0"/>
              <a:t>Source sentence analysis for machine translation </a:t>
            </a:r>
            <a:r>
              <a:rPr lang="en-US" sz="2000" dirty="0" smtClean="0">
                <a:solidFill>
                  <a:srgbClr val="177245"/>
                </a:solidFill>
              </a:rPr>
              <a:t>[</a:t>
            </a:r>
            <a:r>
              <a:rPr lang="en-US" sz="2000" dirty="0" err="1" smtClean="0">
                <a:solidFill>
                  <a:srgbClr val="177245"/>
                </a:solidFill>
              </a:rPr>
              <a:t>Xu</a:t>
            </a:r>
            <a:r>
              <a:rPr lang="en-US" sz="2000" dirty="0" smtClean="0">
                <a:solidFill>
                  <a:srgbClr val="177245"/>
                </a:solidFill>
              </a:rPr>
              <a:t> et al. 2009]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Relation extraction systems</a:t>
            </a:r>
            <a:r>
              <a:rPr lang="en-US" sz="2000" dirty="0" smtClean="0">
                <a:solidFill>
                  <a:schemeClr val="accent4"/>
                </a:solidFill>
              </a:rPr>
              <a:t> [</a:t>
            </a:r>
            <a:r>
              <a:rPr lang="en-US" sz="2000" dirty="0" err="1" smtClean="0">
                <a:solidFill>
                  <a:schemeClr val="accent4"/>
                </a:solidFill>
              </a:rPr>
              <a:t>Fundel</a:t>
            </a:r>
            <a:r>
              <a:rPr lang="en-US" sz="2000" dirty="0" smtClean="0">
                <a:solidFill>
                  <a:schemeClr val="accent4"/>
                </a:solidFill>
              </a:rPr>
              <a:t> et al. </a:t>
            </a:r>
            <a:r>
              <a:rPr lang="en-US" sz="2000" i="1" dirty="0" smtClean="0">
                <a:solidFill>
                  <a:schemeClr val="accent4"/>
                </a:solidFill>
              </a:rPr>
              <a:t>Bioinformatics </a:t>
            </a:r>
            <a:r>
              <a:rPr lang="en-US" sz="2000" dirty="0" smtClean="0">
                <a:solidFill>
                  <a:schemeClr val="accent4"/>
                </a:solidFill>
              </a:rPr>
              <a:t>2006]</a:t>
            </a:r>
          </a:p>
        </p:txBody>
      </p:sp>
    </p:spTree>
    <p:extLst>
      <p:ext uri="{BB962C8B-B14F-4D97-AF65-F5344CB8AC3E}">
        <p14:creationId xmlns:p14="http://schemas.microsoft.com/office/powerpoint/2010/main" val="267977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Parsing: The rise of data and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3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exponential number of attachments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20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Attachment ambiguities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902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A </a:t>
            </a:r>
            <a:r>
              <a:rPr lang="en-US" dirty="0">
                <a:ea typeface="ＭＳ Ｐゴシック" charset="0"/>
                <a:cs typeface="ＭＳ Ｐゴシック" charset="0"/>
              </a:rPr>
              <a:t>key parsing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decision is how we ‘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attach’ various constituents</a:t>
            </a:r>
          </a:p>
          <a:p>
            <a:pPr lvl="1"/>
            <a:r>
              <a:rPr lang="en-US" altLang="ja-JP" dirty="0" smtClean="0">
                <a:ea typeface="ＭＳ Ｐゴシック" charset="0"/>
                <a:cs typeface="ＭＳ Ｐゴシック" charset="0"/>
              </a:rPr>
              <a:t>PPs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, adverbial or participial phrases, 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infinitives, coordinations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, etc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.</a:t>
            </a: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marL="457200" lvl="1" indent="0">
              <a:buNone/>
            </a:pPr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r>
              <a:rPr lang="en-US" sz="1600" dirty="0">
                <a:latin typeface="Lucida Sans" charset="0"/>
                <a:ea typeface="ＭＳ Ｐゴシック" charset="0"/>
                <a:cs typeface="ＭＳ Ｐゴシック" charset="0"/>
              </a:rPr>
              <a:t>Catalan </a:t>
            </a: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numbers: </a:t>
            </a:r>
            <a:r>
              <a:rPr lang="en-US" sz="1400" i="1" dirty="0" err="1" smtClean="0">
                <a:latin typeface="Lucida Sans" charset="0"/>
                <a:ea typeface="ＭＳ Ｐゴシック" charset="0"/>
              </a:rPr>
              <a:t>C</a:t>
            </a:r>
            <a:r>
              <a:rPr lang="en-US" sz="1400" i="1" baseline="-25000" dirty="0" err="1" smtClean="0">
                <a:latin typeface="Lucida Sans" charset="0"/>
                <a:ea typeface="ＭＳ Ｐゴシック" charset="0"/>
              </a:rPr>
              <a:t>n</a:t>
            </a:r>
            <a:r>
              <a:rPr lang="en-US" sz="1400" dirty="0" smtClean="0">
                <a:latin typeface="Lucida Sans" charset="0"/>
                <a:ea typeface="ＭＳ Ｐゴシック" charset="0"/>
              </a:rPr>
              <a:t> </a:t>
            </a:r>
            <a:r>
              <a:rPr lang="en-US" sz="1400" dirty="0">
                <a:latin typeface="Lucida Sans" charset="0"/>
                <a:ea typeface="ＭＳ Ｐゴシック" charset="0"/>
              </a:rPr>
              <a:t>= (2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)!/[(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+1)!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!]</a:t>
            </a:r>
          </a:p>
          <a:p>
            <a:r>
              <a:rPr lang="en-US" sz="1600" dirty="0">
                <a:latin typeface="Lucida Sans" charset="0"/>
                <a:ea typeface="ＭＳ Ｐゴシック" charset="0"/>
                <a:cs typeface="ＭＳ Ｐゴシック" charset="0"/>
              </a:rPr>
              <a:t>An exponentially growing series, which arises in many tree-like contexts:</a:t>
            </a:r>
          </a:p>
          <a:p>
            <a:pPr lvl="1"/>
            <a:r>
              <a:rPr lang="en-US" sz="1400" dirty="0">
                <a:latin typeface="Lucida Sans" charset="0"/>
                <a:ea typeface="ＭＳ Ｐゴシック" charset="0"/>
              </a:rPr>
              <a:t>E.g., the number of possible triangulations of a polygon with 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+2 sides</a:t>
            </a:r>
          </a:p>
          <a:p>
            <a:pPr lvl="2"/>
            <a:r>
              <a:rPr lang="en-US" sz="1400" dirty="0">
                <a:latin typeface="Lucida Sans" charset="0"/>
                <a:ea typeface="ＭＳ Ｐゴシック" charset="0"/>
              </a:rPr>
              <a:t>Turns up in triangulation of probabilistic graphical models….</a:t>
            </a:r>
          </a:p>
          <a:p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endParaRPr lang="en-US" i="1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" t="2003" r="2010" b="4594"/>
          <a:stretch/>
        </p:blipFill>
        <p:spPr bwMode="auto">
          <a:xfrm>
            <a:off x="304800" y="2590800"/>
            <a:ext cx="8488363" cy="2820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2362200" y="2590800"/>
            <a:ext cx="31242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678141" y="3581400"/>
            <a:ext cx="44196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419600" y="4376820"/>
            <a:ext cx="9144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3" name="Right Triangle 2"/>
          <p:cNvSpPr/>
          <p:nvPr/>
        </p:nvSpPr>
        <p:spPr bwMode="auto">
          <a:xfrm>
            <a:off x="3733800" y="3352800"/>
            <a:ext cx="304800" cy="304800"/>
          </a:xfrm>
          <a:prstGeom prst="rtTriangle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9" name="Right Triangle 8"/>
          <p:cNvSpPr/>
          <p:nvPr/>
        </p:nvSpPr>
        <p:spPr bwMode="auto">
          <a:xfrm>
            <a:off x="3581400" y="3038640"/>
            <a:ext cx="304800" cy="304800"/>
          </a:xfrm>
          <a:prstGeom prst="rtTriangle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0" name="Right Triangle 9"/>
          <p:cNvSpPr/>
          <p:nvPr/>
        </p:nvSpPr>
        <p:spPr bwMode="auto">
          <a:xfrm>
            <a:off x="5670436" y="3494060"/>
            <a:ext cx="304800" cy="304800"/>
          </a:xfrm>
          <a:prstGeom prst="rtTriangle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486400" y="3124200"/>
            <a:ext cx="13716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858000" y="3505200"/>
            <a:ext cx="13716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Attachment ambiguities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902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A </a:t>
            </a:r>
            <a:r>
              <a:rPr lang="en-US" dirty="0">
                <a:ea typeface="ＭＳ Ｐゴシック" charset="0"/>
                <a:cs typeface="ＭＳ Ｐゴシック" charset="0"/>
              </a:rPr>
              <a:t>key parsing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decision is how we ‘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attach’ various constituents</a:t>
            </a:r>
          </a:p>
          <a:p>
            <a:pPr lvl="1"/>
            <a:r>
              <a:rPr lang="en-US" altLang="ja-JP" dirty="0" smtClean="0">
                <a:ea typeface="ＭＳ Ｐゴシック" charset="0"/>
                <a:cs typeface="ＭＳ Ｐゴシック" charset="0"/>
              </a:rPr>
              <a:t>PPs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, adverbial or participial phrases, 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infinitives, coordinations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, etc</a:t>
            </a:r>
            <a:r>
              <a:rPr lang="en-US" altLang="ja-JP" dirty="0" smtClean="0">
                <a:ea typeface="ＭＳ Ｐゴシック" charset="0"/>
                <a:cs typeface="ＭＳ Ｐゴシック" charset="0"/>
              </a:rPr>
              <a:t>.</a:t>
            </a: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pPr lvl="1"/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marL="457200" lvl="1" indent="0">
              <a:buNone/>
            </a:pPr>
            <a:endParaRPr lang="en-US" altLang="ja-JP" dirty="0" smtClean="0">
              <a:ea typeface="ＭＳ Ｐゴシック" charset="0"/>
              <a:cs typeface="ＭＳ Ｐゴシック" charset="0"/>
            </a:endParaRPr>
          </a:p>
          <a:p>
            <a:r>
              <a:rPr lang="en-US" sz="1600" dirty="0">
                <a:latin typeface="Lucida Sans" charset="0"/>
                <a:ea typeface="ＭＳ Ｐゴシック" charset="0"/>
                <a:cs typeface="ＭＳ Ｐゴシック" charset="0"/>
              </a:rPr>
              <a:t>Catalan </a:t>
            </a:r>
            <a:r>
              <a:rPr lang="en-US" sz="1600" dirty="0" smtClean="0">
                <a:latin typeface="Lucida Sans" charset="0"/>
                <a:ea typeface="ＭＳ Ｐゴシック" charset="0"/>
                <a:cs typeface="ＭＳ Ｐゴシック" charset="0"/>
              </a:rPr>
              <a:t>numbers: </a:t>
            </a:r>
            <a:r>
              <a:rPr lang="en-US" sz="1400" i="1" dirty="0" err="1" smtClean="0">
                <a:latin typeface="Lucida Sans" charset="0"/>
                <a:ea typeface="ＭＳ Ｐゴシック" charset="0"/>
              </a:rPr>
              <a:t>C</a:t>
            </a:r>
            <a:r>
              <a:rPr lang="en-US" sz="1400" i="1" baseline="-25000" dirty="0" err="1" smtClean="0">
                <a:latin typeface="Lucida Sans" charset="0"/>
                <a:ea typeface="ＭＳ Ｐゴシック" charset="0"/>
              </a:rPr>
              <a:t>n</a:t>
            </a:r>
            <a:r>
              <a:rPr lang="en-US" sz="1400" dirty="0" smtClean="0">
                <a:latin typeface="Lucida Sans" charset="0"/>
                <a:ea typeface="ＭＳ Ｐゴシック" charset="0"/>
              </a:rPr>
              <a:t> </a:t>
            </a:r>
            <a:r>
              <a:rPr lang="en-US" sz="1400" dirty="0">
                <a:latin typeface="Lucida Sans" charset="0"/>
                <a:ea typeface="ＭＳ Ｐゴシック" charset="0"/>
              </a:rPr>
              <a:t>= (2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)!/[(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+1)!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!]</a:t>
            </a:r>
          </a:p>
          <a:p>
            <a:r>
              <a:rPr lang="en-US" sz="1600" dirty="0">
                <a:latin typeface="Lucida Sans" charset="0"/>
                <a:ea typeface="ＭＳ Ｐゴシック" charset="0"/>
                <a:cs typeface="ＭＳ Ｐゴシック" charset="0"/>
              </a:rPr>
              <a:t>An exponentially growing series, which arises in many tree-like contexts:</a:t>
            </a:r>
          </a:p>
          <a:p>
            <a:pPr lvl="1"/>
            <a:r>
              <a:rPr lang="en-US" sz="1400" dirty="0">
                <a:latin typeface="Lucida Sans" charset="0"/>
                <a:ea typeface="ＭＳ Ｐゴシック" charset="0"/>
              </a:rPr>
              <a:t>E.g., the number of possible triangulations of a polygon with </a:t>
            </a:r>
            <a:r>
              <a:rPr lang="en-US" sz="1400" i="1" dirty="0">
                <a:latin typeface="Lucida Sans" charset="0"/>
                <a:ea typeface="ＭＳ Ｐゴシック" charset="0"/>
              </a:rPr>
              <a:t>n</a:t>
            </a:r>
            <a:r>
              <a:rPr lang="en-US" sz="1400" dirty="0">
                <a:latin typeface="Lucida Sans" charset="0"/>
                <a:ea typeface="ＭＳ Ｐゴシック" charset="0"/>
              </a:rPr>
              <a:t>+2 sides</a:t>
            </a:r>
          </a:p>
          <a:p>
            <a:pPr lvl="2"/>
            <a:r>
              <a:rPr lang="en-US" sz="1400" dirty="0">
                <a:latin typeface="Lucida Sans" charset="0"/>
                <a:ea typeface="ＭＳ Ｐゴシック" charset="0"/>
              </a:rPr>
              <a:t>Turns up in triangulation of probabilistic graphical models….</a:t>
            </a:r>
          </a:p>
          <a:p>
            <a:endParaRPr lang="en-US" altLang="ja-JP" dirty="0"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endParaRPr lang="en-US" i="1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" t="2003" r="2010" b="4594"/>
          <a:stretch/>
        </p:blipFill>
        <p:spPr bwMode="auto">
          <a:xfrm>
            <a:off x="304800" y="2590800"/>
            <a:ext cx="8488363" cy="2820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170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Quiz Question!</a:t>
            </a: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810500" cy="4495800"/>
          </a:xfrm>
        </p:spPr>
        <p:txBody>
          <a:bodyPr/>
          <a:lstStyle/>
          <a:p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How many distinct parses does the following sentence have due to PP attachment ambiguities?</a:t>
            </a:r>
          </a:p>
          <a:p>
            <a:pPr lvl="1"/>
            <a:r>
              <a:rPr lang="en-US">
                <a:latin typeface="Lucida Sans" charset="0"/>
                <a:ea typeface="ＭＳ Ｐゴシック" charset="0"/>
              </a:rPr>
              <a:t>A PP can attach to any preceding V or N within the verb phrase, subject only to the parse still being a tree. </a:t>
            </a:r>
          </a:p>
          <a:p>
            <a:pPr lvl="2"/>
            <a:r>
              <a:rPr lang="en-US">
                <a:latin typeface="Lucida Sans" charset="0"/>
                <a:ea typeface="ＭＳ Ｐゴシック" charset="0"/>
              </a:rPr>
              <a:t>(This is equivalent to there being no crossing dependencies, where if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2</a:t>
            </a:r>
            <a:r>
              <a:rPr lang="en-US">
                <a:latin typeface="Lucida Sans" charset="0"/>
                <a:ea typeface="ＭＳ Ｐゴシック" charset="0"/>
              </a:rPr>
              <a:t> is a dependent of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1</a:t>
            </a:r>
            <a:r>
              <a:rPr lang="en-US">
                <a:latin typeface="Lucida Sans" charset="0"/>
                <a:ea typeface="ＭＳ Ｐゴシック" charset="0"/>
              </a:rPr>
              <a:t> and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3</a:t>
            </a:r>
            <a:r>
              <a:rPr lang="en-US">
                <a:latin typeface="Lucida Sans" charset="0"/>
                <a:ea typeface="ＭＳ Ｐゴシック" charset="0"/>
              </a:rPr>
              <a:t> is a dependent of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2</a:t>
            </a:r>
            <a:r>
              <a:rPr lang="en-US">
                <a:latin typeface="Lucida Sans" charset="0"/>
                <a:ea typeface="ＭＳ Ｐゴシック" charset="0"/>
              </a:rPr>
              <a:t>, then the line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2</a:t>
            </a:r>
            <a:r>
              <a:rPr lang="en-US">
                <a:latin typeface="Lucida Sans" charset="0"/>
                <a:ea typeface="ＭＳ Ｐゴシック" charset="0"/>
              </a:rPr>
              <a:t>–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3</a:t>
            </a:r>
            <a:r>
              <a:rPr lang="en-US">
                <a:latin typeface="Lucida Sans" charset="0"/>
                <a:ea typeface="ＭＳ Ｐゴシック" charset="0"/>
              </a:rPr>
              <a:t> begins at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2</a:t>
            </a:r>
            <a:r>
              <a:rPr lang="en-US">
                <a:latin typeface="Lucida Sans" charset="0"/>
                <a:ea typeface="ＭＳ Ｐゴシック" charset="0"/>
              </a:rPr>
              <a:t> under the line from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1</a:t>
            </a:r>
            <a:r>
              <a:rPr lang="en-US">
                <a:latin typeface="Lucida Sans" charset="0"/>
                <a:ea typeface="ＭＳ Ｐゴシック" charset="0"/>
              </a:rPr>
              <a:t> to </a:t>
            </a:r>
            <a:r>
              <a:rPr lang="en-US" i="1">
                <a:latin typeface="Lucida Sans" charset="0"/>
                <a:ea typeface="ＭＳ Ｐゴシック" charset="0"/>
              </a:rPr>
              <a:t>d</a:t>
            </a:r>
            <a:r>
              <a:rPr lang="en-US" baseline="-25000">
                <a:latin typeface="Lucida Sans" charset="0"/>
                <a:ea typeface="ＭＳ Ｐゴシック" charset="0"/>
              </a:rPr>
              <a:t>2</a:t>
            </a:r>
            <a:r>
              <a:rPr lang="en-US">
                <a:latin typeface="Lucida Sans" charset="0"/>
                <a:ea typeface="ＭＳ Ｐゴシック" charset="0"/>
              </a:rPr>
              <a:t>.)  </a:t>
            </a:r>
          </a:p>
          <a:p>
            <a:pPr lvl="1"/>
            <a:endParaRPr lang="en-US">
              <a:latin typeface="Lucida Sans" charset="0"/>
              <a:ea typeface="ＭＳ Ｐゴシック" charset="0"/>
            </a:endParaRPr>
          </a:p>
          <a:p>
            <a:pPr lvl="1"/>
            <a:endParaRPr lang="en-US">
              <a:latin typeface="Lucida Sans" charset="0"/>
              <a:ea typeface="ＭＳ Ｐゴシック" charset="0"/>
            </a:endParaRPr>
          </a:p>
          <a:p>
            <a:pPr algn="ctr">
              <a:buFont typeface="Times" charset="0"/>
              <a:buNone/>
            </a:pPr>
            <a:r>
              <a:rPr lang="en-US">
                <a:solidFill>
                  <a:schemeClr val="tx2"/>
                </a:solidFill>
                <a:latin typeface="Lucida Sans" charset="0"/>
                <a:ea typeface="ＭＳ Ｐゴシック" charset="0"/>
                <a:cs typeface="ＭＳ Ｐゴシック" charset="0"/>
              </a:rPr>
              <a:t>John wrote the book with a pen in the room</a:t>
            </a:r>
            <a:r>
              <a:rPr lang="en-US">
                <a:solidFill>
                  <a:srgbClr val="333399"/>
                </a:solidFill>
                <a:latin typeface="Lucida Sans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778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3981450"/>
            <a:ext cx="4249738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Two problems to solve:</a:t>
            </a:r>
            <a:br>
              <a:rPr lang="en-US" dirty="0" smtClean="0"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ea typeface="ＭＳ Ｐゴシック" charset="0"/>
                <a:cs typeface="ＭＳ Ｐゴシック" charset="0"/>
              </a:rPr>
              <a:t>1. Repeated </a:t>
            </a:r>
            <a:r>
              <a:rPr lang="en-US" dirty="0">
                <a:ea typeface="ＭＳ Ｐゴシック" charset="0"/>
                <a:cs typeface="ＭＳ Ｐゴシック" charset="0"/>
              </a:rPr>
              <a:t>work…</a:t>
            </a:r>
          </a:p>
        </p:txBody>
      </p:sp>
      <p:pic>
        <p:nvPicPr>
          <p:cNvPr id="8294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950" y="1797050"/>
            <a:ext cx="3067050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568450"/>
            <a:ext cx="31226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0" y="4244975"/>
            <a:ext cx="3937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0"/>
          <a:stretch>
            <a:fillRect/>
          </a:stretch>
        </p:blipFill>
        <p:spPr bwMode="auto">
          <a:xfrm>
            <a:off x="3116263" y="1625600"/>
            <a:ext cx="2832100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1" name="Freeform 9"/>
          <p:cNvSpPr>
            <a:spLocks/>
          </p:cNvSpPr>
          <p:nvPr/>
        </p:nvSpPr>
        <p:spPr bwMode="auto">
          <a:xfrm>
            <a:off x="1430338" y="1955800"/>
            <a:ext cx="1936750" cy="1511300"/>
          </a:xfrm>
          <a:custGeom>
            <a:avLst/>
            <a:gdLst>
              <a:gd name="T0" fmla="*/ 2147483647 w 1220"/>
              <a:gd name="T1" fmla="*/ 2147483647 h 952"/>
              <a:gd name="T2" fmla="*/ 2147483647 w 1220"/>
              <a:gd name="T3" fmla="*/ 2147483647 h 952"/>
              <a:gd name="T4" fmla="*/ 2147483647 w 1220"/>
              <a:gd name="T5" fmla="*/ 2147483647 h 952"/>
              <a:gd name="T6" fmla="*/ 2147483647 w 1220"/>
              <a:gd name="T7" fmla="*/ 2147483647 h 952"/>
              <a:gd name="T8" fmla="*/ 2147483647 w 1220"/>
              <a:gd name="T9" fmla="*/ 2147483647 h 952"/>
              <a:gd name="T10" fmla="*/ 2147483647 w 1220"/>
              <a:gd name="T11" fmla="*/ 2147483647 h 952"/>
              <a:gd name="T12" fmla="*/ 2147483647 w 1220"/>
              <a:gd name="T13" fmla="*/ 2147483647 h 952"/>
              <a:gd name="T14" fmla="*/ 2147483647 w 1220"/>
              <a:gd name="T15" fmla="*/ 2147483647 h 952"/>
              <a:gd name="T16" fmla="*/ 2147483647 w 1220"/>
              <a:gd name="T17" fmla="*/ 2147483647 h 952"/>
              <a:gd name="T18" fmla="*/ 2147483647 w 1220"/>
              <a:gd name="T19" fmla="*/ 2147483647 h 952"/>
              <a:gd name="T20" fmla="*/ 2147483647 w 1220"/>
              <a:gd name="T21" fmla="*/ 2147483647 h 952"/>
              <a:gd name="T22" fmla="*/ 2147483647 w 1220"/>
              <a:gd name="T23" fmla="*/ 2147483647 h 952"/>
              <a:gd name="T24" fmla="*/ 2147483647 w 1220"/>
              <a:gd name="T25" fmla="*/ 2147483647 h 952"/>
              <a:gd name="T26" fmla="*/ 2147483647 w 1220"/>
              <a:gd name="T27" fmla="*/ 2147483647 h 952"/>
              <a:gd name="T28" fmla="*/ 2147483647 w 1220"/>
              <a:gd name="T29" fmla="*/ 2147483647 h 952"/>
              <a:gd name="T30" fmla="*/ 2147483647 w 1220"/>
              <a:gd name="T31" fmla="*/ 2147483647 h 952"/>
              <a:gd name="T32" fmla="*/ 2147483647 w 1220"/>
              <a:gd name="T33" fmla="*/ 2147483647 h 952"/>
              <a:gd name="T34" fmla="*/ 2147483647 w 1220"/>
              <a:gd name="T35" fmla="*/ 2147483647 h 952"/>
              <a:gd name="T36" fmla="*/ 2147483647 w 1220"/>
              <a:gd name="T37" fmla="*/ 2147483647 h 952"/>
              <a:gd name="T38" fmla="*/ 2147483647 w 1220"/>
              <a:gd name="T39" fmla="*/ 2147483647 h 952"/>
              <a:gd name="T40" fmla="*/ 2147483647 w 1220"/>
              <a:gd name="T41" fmla="*/ 2147483647 h 952"/>
              <a:gd name="T42" fmla="*/ 2147483647 w 1220"/>
              <a:gd name="T43" fmla="*/ 0 h 952"/>
              <a:gd name="T44" fmla="*/ 2147483647 w 1220"/>
              <a:gd name="T45" fmla="*/ 2147483647 h 95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220"/>
              <a:gd name="T70" fmla="*/ 0 h 952"/>
              <a:gd name="T71" fmla="*/ 1220 w 1220"/>
              <a:gd name="T72" fmla="*/ 952 h 952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220" h="952">
                <a:moveTo>
                  <a:pt x="347" y="8"/>
                </a:moveTo>
                <a:cubicBezTo>
                  <a:pt x="264" y="18"/>
                  <a:pt x="180" y="22"/>
                  <a:pt x="99" y="40"/>
                </a:cubicBezTo>
                <a:cubicBezTo>
                  <a:pt x="90" y="41"/>
                  <a:pt x="73" y="96"/>
                  <a:pt x="51" y="112"/>
                </a:cubicBezTo>
                <a:cubicBezTo>
                  <a:pt x="0" y="188"/>
                  <a:pt x="22" y="237"/>
                  <a:pt x="35" y="352"/>
                </a:cubicBezTo>
                <a:cubicBezTo>
                  <a:pt x="38" y="380"/>
                  <a:pt x="57" y="404"/>
                  <a:pt x="67" y="432"/>
                </a:cubicBezTo>
                <a:cubicBezTo>
                  <a:pt x="69" y="440"/>
                  <a:pt x="75" y="456"/>
                  <a:pt x="75" y="456"/>
                </a:cubicBezTo>
                <a:cubicBezTo>
                  <a:pt x="77" y="485"/>
                  <a:pt x="76" y="515"/>
                  <a:pt x="83" y="544"/>
                </a:cubicBezTo>
                <a:cubicBezTo>
                  <a:pt x="86" y="559"/>
                  <a:pt x="125" y="594"/>
                  <a:pt x="131" y="600"/>
                </a:cubicBezTo>
                <a:cubicBezTo>
                  <a:pt x="186" y="649"/>
                  <a:pt x="248" y="694"/>
                  <a:pt x="315" y="728"/>
                </a:cubicBezTo>
                <a:cubicBezTo>
                  <a:pt x="391" y="712"/>
                  <a:pt x="444" y="743"/>
                  <a:pt x="515" y="768"/>
                </a:cubicBezTo>
                <a:cubicBezTo>
                  <a:pt x="596" y="796"/>
                  <a:pt x="683" y="806"/>
                  <a:pt x="763" y="840"/>
                </a:cubicBezTo>
                <a:cubicBezTo>
                  <a:pt x="885" y="892"/>
                  <a:pt x="835" y="878"/>
                  <a:pt x="907" y="896"/>
                </a:cubicBezTo>
                <a:cubicBezTo>
                  <a:pt x="1001" y="952"/>
                  <a:pt x="961" y="936"/>
                  <a:pt x="1123" y="928"/>
                </a:cubicBezTo>
                <a:cubicBezTo>
                  <a:pt x="1154" y="906"/>
                  <a:pt x="1169" y="890"/>
                  <a:pt x="1187" y="856"/>
                </a:cubicBezTo>
                <a:cubicBezTo>
                  <a:pt x="1181" y="642"/>
                  <a:pt x="1220" y="619"/>
                  <a:pt x="1147" y="496"/>
                </a:cubicBezTo>
                <a:cubicBezTo>
                  <a:pt x="1137" y="458"/>
                  <a:pt x="1131" y="437"/>
                  <a:pt x="1099" y="416"/>
                </a:cubicBezTo>
                <a:cubicBezTo>
                  <a:pt x="1087" y="418"/>
                  <a:pt x="1055" y="433"/>
                  <a:pt x="1043" y="416"/>
                </a:cubicBezTo>
                <a:cubicBezTo>
                  <a:pt x="1033" y="402"/>
                  <a:pt x="1037" y="381"/>
                  <a:pt x="1027" y="368"/>
                </a:cubicBezTo>
                <a:cubicBezTo>
                  <a:pt x="1011" y="346"/>
                  <a:pt x="997" y="322"/>
                  <a:pt x="979" y="304"/>
                </a:cubicBezTo>
                <a:cubicBezTo>
                  <a:pt x="949" y="274"/>
                  <a:pt x="915" y="269"/>
                  <a:pt x="883" y="248"/>
                </a:cubicBezTo>
                <a:cubicBezTo>
                  <a:pt x="853" y="203"/>
                  <a:pt x="806" y="156"/>
                  <a:pt x="755" y="144"/>
                </a:cubicBezTo>
                <a:cubicBezTo>
                  <a:pt x="681" y="70"/>
                  <a:pt x="676" y="0"/>
                  <a:pt x="555" y="0"/>
                </a:cubicBezTo>
                <a:cubicBezTo>
                  <a:pt x="485" y="0"/>
                  <a:pt x="416" y="5"/>
                  <a:pt x="347" y="8"/>
                </a:cubicBezTo>
                <a:close/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2" name="Freeform 10"/>
          <p:cNvSpPr>
            <a:spLocks/>
          </p:cNvSpPr>
          <p:nvPr/>
        </p:nvSpPr>
        <p:spPr bwMode="auto">
          <a:xfrm>
            <a:off x="4364038" y="2222500"/>
            <a:ext cx="1936750" cy="1511300"/>
          </a:xfrm>
          <a:custGeom>
            <a:avLst/>
            <a:gdLst>
              <a:gd name="T0" fmla="*/ 2147483647 w 1220"/>
              <a:gd name="T1" fmla="*/ 2147483647 h 952"/>
              <a:gd name="T2" fmla="*/ 2147483647 w 1220"/>
              <a:gd name="T3" fmla="*/ 2147483647 h 952"/>
              <a:gd name="T4" fmla="*/ 2147483647 w 1220"/>
              <a:gd name="T5" fmla="*/ 2147483647 h 952"/>
              <a:gd name="T6" fmla="*/ 2147483647 w 1220"/>
              <a:gd name="T7" fmla="*/ 2147483647 h 952"/>
              <a:gd name="T8" fmla="*/ 2147483647 w 1220"/>
              <a:gd name="T9" fmla="*/ 2147483647 h 952"/>
              <a:gd name="T10" fmla="*/ 2147483647 w 1220"/>
              <a:gd name="T11" fmla="*/ 2147483647 h 952"/>
              <a:gd name="T12" fmla="*/ 2147483647 w 1220"/>
              <a:gd name="T13" fmla="*/ 2147483647 h 952"/>
              <a:gd name="T14" fmla="*/ 2147483647 w 1220"/>
              <a:gd name="T15" fmla="*/ 2147483647 h 952"/>
              <a:gd name="T16" fmla="*/ 2147483647 w 1220"/>
              <a:gd name="T17" fmla="*/ 2147483647 h 952"/>
              <a:gd name="T18" fmla="*/ 2147483647 w 1220"/>
              <a:gd name="T19" fmla="*/ 2147483647 h 952"/>
              <a:gd name="T20" fmla="*/ 2147483647 w 1220"/>
              <a:gd name="T21" fmla="*/ 2147483647 h 952"/>
              <a:gd name="T22" fmla="*/ 2147483647 w 1220"/>
              <a:gd name="T23" fmla="*/ 2147483647 h 952"/>
              <a:gd name="T24" fmla="*/ 2147483647 w 1220"/>
              <a:gd name="T25" fmla="*/ 2147483647 h 952"/>
              <a:gd name="T26" fmla="*/ 2147483647 w 1220"/>
              <a:gd name="T27" fmla="*/ 2147483647 h 952"/>
              <a:gd name="T28" fmla="*/ 2147483647 w 1220"/>
              <a:gd name="T29" fmla="*/ 2147483647 h 952"/>
              <a:gd name="T30" fmla="*/ 2147483647 w 1220"/>
              <a:gd name="T31" fmla="*/ 2147483647 h 952"/>
              <a:gd name="T32" fmla="*/ 2147483647 w 1220"/>
              <a:gd name="T33" fmla="*/ 2147483647 h 952"/>
              <a:gd name="T34" fmla="*/ 2147483647 w 1220"/>
              <a:gd name="T35" fmla="*/ 2147483647 h 952"/>
              <a:gd name="T36" fmla="*/ 2147483647 w 1220"/>
              <a:gd name="T37" fmla="*/ 2147483647 h 952"/>
              <a:gd name="T38" fmla="*/ 2147483647 w 1220"/>
              <a:gd name="T39" fmla="*/ 2147483647 h 952"/>
              <a:gd name="T40" fmla="*/ 2147483647 w 1220"/>
              <a:gd name="T41" fmla="*/ 2147483647 h 952"/>
              <a:gd name="T42" fmla="*/ 2147483647 w 1220"/>
              <a:gd name="T43" fmla="*/ 0 h 952"/>
              <a:gd name="T44" fmla="*/ 2147483647 w 1220"/>
              <a:gd name="T45" fmla="*/ 2147483647 h 95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220"/>
              <a:gd name="T70" fmla="*/ 0 h 952"/>
              <a:gd name="T71" fmla="*/ 1220 w 1220"/>
              <a:gd name="T72" fmla="*/ 952 h 952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220" h="952">
                <a:moveTo>
                  <a:pt x="347" y="8"/>
                </a:moveTo>
                <a:cubicBezTo>
                  <a:pt x="264" y="18"/>
                  <a:pt x="180" y="22"/>
                  <a:pt x="99" y="40"/>
                </a:cubicBezTo>
                <a:cubicBezTo>
                  <a:pt x="90" y="41"/>
                  <a:pt x="73" y="96"/>
                  <a:pt x="51" y="112"/>
                </a:cubicBezTo>
                <a:cubicBezTo>
                  <a:pt x="0" y="188"/>
                  <a:pt x="22" y="237"/>
                  <a:pt x="35" y="352"/>
                </a:cubicBezTo>
                <a:cubicBezTo>
                  <a:pt x="38" y="380"/>
                  <a:pt x="57" y="404"/>
                  <a:pt x="67" y="432"/>
                </a:cubicBezTo>
                <a:cubicBezTo>
                  <a:pt x="69" y="440"/>
                  <a:pt x="75" y="456"/>
                  <a:pt x="75" y="456"/>
                </a:cubicBezTo>
                <a:cubicBezTo>
                  <a:pt x="77" y="485"/>
                  <a:pt x="76" y="515"/>
                  <a:pt x="83" y="544"/>
                </a:cubicBezTo>
                <a:cubicBezTo>
                  <a:pt x="86" y="559"/>
                  <a:pt x="125" y="594"/>
                  <a:pt x="131" y="600"/>
                </a:cubicBezTo>
                <a:cubicBezTo>
                  <a:pt x="186" y="649"/>
                  <a:pt x="248" y="694"/>
                  <a:pt x="315" y="728"/>
                </a:cubicBezTo>
                <a:cubicBezTo>
                  <a:pt x="391" y="712"/>
                  <a:pt x="444" y="743"/>
                  <a:pt x="515" y="768"/>
                </a:cubicBezTo>
                <a:cubicBezTo>
                  <a:pt x="596" y="796"/>
                  <a:pt x="683" y="806"/>
                  <a:pt x="763" y="840"/>
                </a:cubicBezTo>
                <a:cubicBezTo>
                  <a:pt x="885" y="892"/>
                  <a:pt x="835" y="878"/>
                  <a:pt x="907" y="896"/>
                </a:cubicBezTo>
                <a:cubicBezTo>
                  <a:pt x="1001" y="952"/>
                  <a:pt x="961" y="936"/>
                  <a:pt x="1123" y="928"/>
                </a:cubicBezTo>
                <a:cubicBezTo>
                  <a:pt x="1154" y="906"/>
                  <a:pt x="1169" y="890"/>
                  <a:pt x="1187" y="856"/>
                </a:cubicBezTo>
                <a:cubicBezTo>
                  <a:pt x="1181" y="642"/>
                  <a:pt x="1220" y="619"/>
                  <a:pt x="1147" y="496"/>
                </a:cubicBezTo>
                <a:cubicBezTo>
                  <a:pt x="1137" y="458"/>
                  <a:pt x="1131" y="437"/>
                  <a:pt x="1099" y="416"/>
                </a:cubicBezTo>
                <a:cubicBezTo>
                  <a:pt x="1087" y="418"/>
                  <a:pt x="1055" y="433"/>
                  <a:pt x="1043" y="416"/>
                </a:cubicBezTo>
                <a:cubicBezTo>
                  <a:pt x="1033" y="402"/>
                  <a:pt x="1037" y="381"/>
                  <a:pt x="1027" y="368"/>
                </a:cubicBezTo>
                <a:cubicBezTo>
                  <a:pt x="1011" y="346"/>
                  <a:pt x="997" y="322"/>
                  <a:pt x="979" y="304"/>
                </a:cubicBezTo>
                <a:cubicBezTo>
                  <a:pt x="949" y="274"/>
                  <a:pt x="915" y="269"/>
                  <a:pt x="883" y="248"/>
                </a:cubicBezTo>
                <a:cubicBezTo>
                  <a:pt x="853" y="203"/>
                  <a:pt x="806" y="156"/>
                  <a:pt x="755" y="144"/>
                </a:cubicBezTo>
                <a:cubicBezTo>
                  <a:pt x="681" y="70"/>
                  <a:pt x="676" y="0"/>
                  <a:pt x="555" y="0"/>
                </a:cubicBezTo>
                <a:cubicBezTo>
                  <a:pt x="485" y="0"/>
                  <a:pt x="416" y="5"/>
                  <a:pt x="347" y="8"/>
                </a:cubicBezTo>
                <a:close/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3" name="Line 11"/>
          <p:cNvSpPr>
            <a:spLocks noChangeShapeType="1"/>
          </p:cNvSpPr>
          <p:nvPr/>
        </p:nvSpPr>
        <p:spPr bwMode="auto">
          <a:xfrm flipV="1">
            <a:off x="3314700" y="3136900"/>
            <a:ext cx="1219200" cy="889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4" name="Freeform 12"/>
          <p:cNvSpPr>
            <a:spLocks/>
          </p:cNvSpPr>
          <p:nvPr/>
        </p:nvSpPr>
        <p:spPr bwMode="auto">
          <a:xfrm>
            <a:off x="6896100" y="2413000"/>
            <a:ext cx="1435100" cy="1276350"/>
          </a:xfrm>
          <a:custGeom>
            <a:avLst/>
            <a:gdLst>
              <a:gd name="T0" fmla="*/ 2147483647 w 904"/>
              <a:gd name="T1" fmla="*/ 2147483647 h 804"/>
              <a:gd name="T2" fmla="*/ 2147483647 w 904"/>
              <a:gd name="T3" fmla="*/ 2147483647 h 804"/>
              <a:gd name="T4" fmla="*/ 2147483647 w 904"/>
              <a:gd name="T5" fmla="*/ 2147483647 h 804"/>
              <a:gd name="T6" fmla="*/ 2147483647 w 904"/>
              <a:gd name="T7" fmla="*/ 2147483647 h 804"/>
              <a:gd name="T8" fmla="*/ 2147483647 w 904"/>
              <a:gd name="T9" fmla="*/ 0 h 804"/>
              <a:gd name="T10" fmla="*/ 2147483647 w 904"/>
              <a:gd name="T11" fmla="*/ 2147483647 h 804"/>
              <a:gd name="T12" fmla="*/ 2147483647 w 904"/>
              <a:gd name="T13" fmla="*/ 2147483647 h 804"/>
              <a:gd name="T14" fmla="*/ 2147483647 w 904"/>
              <a:gd name="T15" fmla="*/ 2147483647 h 804"/>
              <a:gd name="T16" fmla="*/ 2147483647 w 904"/>
              <a:gd name="T17" fmla="*/ 2147483647 h 804"/>
              <a:gd name="T18" fmla="*/ 2147483647 w 904"/>
              <a:gd name="T19" fmla="*/ 2147483647 h 804"/>
              <a:gd name="T20" fmla="*/ 0 w 904"/>
              <a:gd name="T21" fmla="*/ 2147483647 h 804"/>
              <a:gd name="T22" fmla="*/ 2147483647 w 904"/>
              <a:gd name="T23" fmla="*/ 2147483647 h 804"/>
              <a:gd name="T24" fmla="*/ 2147483647 w 904"/>
              <a:gd name="T25" fmla="*/ 2147483647 h 804"/>
              <a:gd name="T26" fmla="*/ 2147483647 w 904"/>
              <a:gd name="T27" fmla="*/ 2147483647 h 804"/>
              <a:gd name="T28" fmla="*/ 2147483647 w 904"/>
              <a:gd name="T29" fmla="*/ 2147483647 h 804"/>
              <a:gd name="T30" fmla="*/ 2147483647 w 904"/>
              <a:gd name="T31" fmla="*/ 2147483647 h 804"/>
              <a:gd name="T32" fmla="*/ 2147483647 w 904"/>
              <a:gd name="T33" fmla="*/ 2147483647 h 804"/>
              <a:gd name="T34" fmla="*/ 2147483647 w 904"/>
              <a:gd name="T35" fmla="*/ 2147483647 h 804"/>
              <a:gd name="T36" fmla="*/ 2147483647 w 904"/>
              <a:gd name="T37" fmla="*/ 2147483647 h 804"/>
              <a:gd name="T38" fmla="*/ 2147483647 w 904"/>
              <a:gd name="T39" fmla="*/ 2147483647 h 804"/>
              <a:gd name="T40" fmla="*/ 2147483647 w 904"/>
              <a:gd name="T41" fmla="*/ 2147483647 h 804"/>
              <a:gd name="T42" fmla="*/ 2147483647 w 904"/>
              <a:gd name="T43" fmla="*/ 2147483647 h 804"/>
              <a:gd name="T44" fmla="*/ 2147483647 w 904"/>
              <a:gd name="T45" fmla="*/ 2147483647 h 804"/>
              <a:gd name="T46" fmla="*/ 2147483647 w 904"/>
              <a:gd name="T47" fmla="*/ 2147483647 h 804"/>
              <a:gd name="T48" fmla="*/ 2147483647 w 904"/>
              <a:gd name="T49" fmla="*/ 2147483647 h 80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904"/>
              <a:gd name="T76" fmla="*/ 0 h 804"/>
              <a:gd name="T77" fmla="*/ 904 w 904"/>
              <a:gd name="T78" fmla="*/ 804 h 804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904" h="804">
                <a:moveTo>
                  <a:pt x="688" y="80"/>
                </a:moveTo>
                <a:cubicBezTo>
                  <a:pt x="614" y="55"/>
                  <a:pt x="656" y="65"/>
                  <a:pt x="560" y="56"/>
                </a:cubicBezTo>
                <a:cubicBezTo>
                  <a:pt x="544" y="50"/>
                  <a:pt x="523" y="51"/>
                  <a:pt x="512" y="40"/>
                </a:cubicBezTo>
                <a:cubicBezTo>
                  <a:pt x="504" y="32"/>
                  <a:pt x="499" y="18"/>
                  <a:pt x="488" y="16"/>
                </a:cubicBezTo>
                <a:cubicBezTo>
                  <a:pt x="428" y="1"/>
                  <a:pt x="365" y="6"/>
                  <a:pt x="304" y="0"/>
                </a:cubicBezTo>
                <a:cubicBezTo>
                  <a:pt x="269" y="5"/>
                  <a:pt x="233" y="4"/>
                  <a:pt x="200" y="16"/>
                </a:cubicBezTo>
                <a:cubicBezTo>
                  <a:pt x="177" y="23"/>
                  <a:pt x="170" y="80"/>
                  <a:pt x="152" y="96"/>
                </a:cubicBezTo>
                <a:cubicBezTo>
                  <a:pt x="135" y="109"/>
                  <a:pt x="113" y="116"/>
                  <a:pt x="96" y="128"/>
                </a:cubicBezTo>
                <a:cubicBezTo>
                  <a:pt x="81" y="170"/>
                  <a:pt x="72" y="211"/>
                  <a:pt x="48" y="248"/>
                </a:cubicBezTo>
                <a:cubicBezTo>
                  <a:pt x="36" y="292"/>
                  <a:pt x="30" y="340"/>
                  <a:pt x="16" y="384"/>
                </a:cubicBezTo>
                <a:cubicBezTo>
                  <a:pt x="10" y="400"/>
                  <a:pt x="0" y="432"/>
                  <a:pt x="0" y="432"/>
                </a:cubicBezTo>
                <a:cubicBezTo>
                  <a:pt x="9" y="492"/>
                  <a:pt x="1" y="563"/>
                  <a:pt x="56" y="600"/>
                </a:cubicBezTo>
                <a:cubicBezTo>
                  <a:pt x="70" y="642"/>
                  <a:pt x="53" y="608"/>
                  <a:pt x="88" y="640"/>
                </a:cubicBezTo>
                <a:cubicBezTo>
                  <a:pt x="145" y="691"/>
                  <a:pt x="162" y="715"/>
                  <a:pt x="240" y="728"/>
                </a:cubicBezTo>
                <a:cubicBezTo>
                  <a:pt x="309" y="739"/>
                  <a:pt x="426" y="771"/>
                  <a:pt x="504" y="776"/>
                </a:cubicBezTo>
                <a:cubicBezTo>
                  <a:pt x="575" y="780"/>
                  <a:pt x="648" y="781"/>
                  <a:pt x="720" y="784"/>
                </a:cubicBezTo>
                <a:cubicBezTo>
                  <a:pt x="763" y="794"/>
                  <a:pt x="786" y="804"/>
                  <a:pt x="840" y="784"/>
                </a:cubicBezTo>
                <a:cubicBezTo>
                  <a:pt x="851" y="779"/>
                  <a:pt x="849" y="762"/>
                  <a:pt x="856" y="752"/>
                </a:cubicBezTo>
                <a:cubicBezTo>
                  <a:pt x="865" y="735"/>
                  <a:pt x="877" y="720"/>
                  <a:pt x="888" y="704"/>
                </a:cubicBezTo>
                <a:cubicBezTo>
                  <a:pt x="893" y="696"/>
                  <a:pt x="904" y="680"/>
                  <a:pt x="904" y="680"/>
                </a:cubicBezTo>
                <a:cubicBezTo>
                  <a:pt x="899" y="642"/>
                  <a:pt x="890" y="605"/>
                  <a:pt x="888" y="568"/>
                </a:cubicBezTo>
                <a:cubicBezTo>
                  <a:pt x="883" y="496"/>
                  <a:pt x="884" y="423"/>
                  <a:pt x="880" y="352"/>
                </a:cubicBezTo>
                <a:cubicBezTo>
                  <a:pt x="879" y="349"/>
                  <a:pt x="867" y="301"/>
                  <a:pt x="864" y="296"/>
                </a:cubicBezTo>
                <a:cubicBezTo>
                  <a:pt x="825" y="238"/>
                  <a:pt x="767" y="199"/>
                  <a:pt x="720" y="152"/>
                </a:cubicBezTo>
                <a:cubicBezTo>
                  <a:pt x="701" y="133"/>
                  <a:pt x="688" y="80"/>
                  <a:pt x="688" y="80"/>
                </a:cubicBez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5" name="Freeform 13"/>
          <p:cNvSpPr>
            <a:spLocks/>
          </p:cNvSpPr>
          <p:nvPr/>
        </p:nvSpPr>
        <p:spPr bwMode="auto">
          <a:xfrm>
            <a:off x="6184900" y="5092700"/>
            <a:ext cx="1803400" cy="1568450"/>
          </a:xfrm>
          <a:custGeom>
            <a:avLst/>
            <a:gdLst>
              <a:gd name="T0" fmla="*/ 2147483647 w 904"/>
              <a:gd name="T1" fmla="*/ 2147483647 h 804"/>
              <a:gd name="T2" fmla="*/ 2147483647 w 904"/>
              <a:gd name="T3" fmla="*/ 2147483647 h 804"/>
              <a:gd name="T4" fmla="*/ 2147483647 w 904"/>
              <a:gd name="T5" fmla="*/ 2147483647 h 804"/>
              <a:gd name="T6" fmla="*/ 2147483647 w 904"/>
              <a:gd name="T7" fmla="*/ 2147483647 h 804"/>
              <a:gd name="T8" fmla="*/ 2147483647 w 904"/>
              <a:gd name="T9" fmla="*/ 0 h 804"/>
              <a:gd name="T10" fmla="*/ 2147483647 w 904"/>
              <a:gd name="T11" fmla="*/ 2147483647 h 804"/>
              <a:gd name="T12" fmla="*/ 2147483647 w 904"/>
              <a:gd name="T13" fmla="*/ 2147483647 h 804"/>
              <a:gd name="T14" fmla="*/ 2147483647 w 904"/>
              <a:gd name="T15" fmla="*/ 2147483647 h 804"/>
              <a:gd name="T16" fmla="*/ 2147483647 w 904"/>
              <a:gd name="T17" fmla="*/ 2147483647 h 804"/>
              <a:gd name="T18" fmla="*/ 2147483647 w 904"/>
              <a:gd name="T19" fmla="*/ 2147483647 h 804"/>
              <a:gd name="T20" fmla="*/ 0 w 904"/>
              <a:gd name="T21" fmla="*/ 2147483647 h 804"/>
              <a:gd name="T22" fmla="*/ 2147483647 w 904"/>
              <a:gd name="T23" fmla="*/ 2147483647 h 804"/>
              <a:gd name="T24" fmla="*/ 2147483647 w 904"/>
              <a:gd name="T25" fmla="*/ 2147483647 h 804"/>
              <a:gd name="T26" fmla="*/ 2147483647 w 904"/>
              <a:gd name="T27" fmla="*/ 2147483647 h 804"/>
              <a:gd name="T28" fmla="*/ 2147483647 w 904"/>
              <a:gd name="T29" fmla="*/ 2147483647 h 804"/>
              <a:gd name="T30" fmla="*/ 2147483647 w 904"/>
              <a:gd name="T31" fmla="*/ 2147483647 h 804"/>
              <a:gd name="T32" fmla="*/ 2147483647 w 904"/>
              <a:gd name="T33" fmla="*/ 2147483647 h 804"/>
              <a:gd name="T34" fmla="*/ 2147483647 w 904"/>
              <a:gd name="T35" fmla="*/ 2147483647 h 804"/>
              <a:gd name="T36" fmla="*/ 2147483647 w 904"/>
              <a:gd name="T37" fmla="*/ 2147483647 h 804"/>
              <a:gd name="T38" fmla="*/ 2147483647 w 904"/>
              <a:gd name="T39" fmla="*/ 2147483647 h 804"/>
              <a:gd name="T40" fmla="*/ 2147483647 w 904"/>
              <a:gd name="T41" fmla="*/ 2147483647 h 804"/>
              <a:gd name="T42" fmla="*/ 2147483647 w 904"/>
              <a:gd name="T43" fmla="*/ 2147483647 h 804"/>
              <a:gd name="T44" fmla="*/ 2147483647 w 904"/>
              <a:gd name="T45" fmla="*/ 2147483647 h 804"/>
              <a:gd name="T46" fmla="*/ 2147483647 w 904"/>
              <a:gd name="T47" fmla="*/ 2147483647 h 804"/>
              <a:gd name="T48" fmla="*/ 2147483647 w 904"/>
              <a:gd name="T49" fmla="*/ 2147483647 h 80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904"/>
              <a:gd name="T76" fmla="*/ 0 h 804"/>
              <a:gd name="T77" fmla="*/ 904 w 904"/>
              <a:gd name="T78" fmla="*/ 804 h 804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904" h="804">
                <a:moveTo>
                  <a:pt x="688" y="80"/>
                </a:moveTo>
                <a:cubicBezTo>
                  <a:pt x="614" y="55"/>
                  <a:pt x="656" y="65"/>
                  <a:pt x="560" y="56"/>
                </a:cubicBezTo>
                <a:cubicBezTo>
                  <a:pt x="544" y="50"/>
                  <a:pt x="523" y="51"/>
                  <a:pt x="512" y="40"/>
                </a:cubicBezTo>
                <a:cubicBezTo>
                  <a:pt x="504" y="32"/>
                  <a:pt x="499" y="18"/>
                  <a:pt x="488" y="16"/>
                </a:cubicBezTo>
                <a:cubicBezTo>
                  <a:pt x="428" y="1"/>
                  <a:pt x="365" y="6"/>
                  <a:pt x="304" y="0"/>
                </a:cubicBezTo>
                <a:cubicBezTo>
                  <a:pt x="269" y="5"/>
                  <a:pt x="233" y="4"/>
                  <a:pt x="200" y="16"/>
                </a:cubicBezTo>
                <a:cubicBezTo>
                  <a:pt x="177" y="23"/>
                  <a:pt x="170" y="80"/>
                  <a:pt x="152" y="96"/>
                </a:cubicBezTo>
                <a:cubicBezTo>
                  <a:pt x="135" y="109"/>
                  <a:pt x="113" y="116"/>
                  <a:pt x="96" y="128"/>
                </a:cubicBezTo>
                <a:cubicBezTo>
                  <a:pt x="81" y="170"/>
                  <a:pt x="72" y="211"/>
                  <a:pt x="48" y="248"/>
                </a:cubicBezTo>
                <a:cubicBezTo>
                  <a:pt x="36" y="292"/>
                  <a:pt x="30" y="340"/>
                  <a:pt x="16" y="384"/>
                </a:cubicBezTo>
                <a:cubicBezTo>
                  <a:pt x="10" y="400"/>
                  <a:pt x="0" y="432"/>
                  <a:pt x="0" y="432"/>
                </a:cubicBezTo>
                <a:cubicBezTo>
                  <a:pt x="9" y="492"/>
                  <a:pt x="1" y="563"/>
                  <a:pt x="56" y="600"/>
                </a:cubicBezTo>
                <a:cubicBezTo>
                  <a:pt x="70" y="642"/>
                  <a:pt x="53" y="608"/>
                  <a:pt x="88" y="640"/>
                </a:cubicBezTo>
                <a:cubicBezTo>
                  <a:pt x="145" y="691"/>
                  <a:pt x="162" y="715"/>
                  <a:pt x="240" y="728"/>
                </a:cubicBezTo>
                <a:cubicBezTo>
                  <a:pt x="309" y="739"/>
                  <a:pt x="426" y="771"/>
                  <a:pt x="504" y="776"/>
                </a:cubicBezTo>
                <a:cubicBezTo>
                  <a:pt x="575" y="780"/>
                  <a:pt x="648" y="781"/>
                  <a:pt x="720" y="784"/>
                </a:cubicBezTo>
                <a:cubicBezTo>
                  <a:pt x="763" y="794"/>
                  <a:pt x="786" y="804"/>
                  <a:pt x="840" y="784"/>
                </a:cubicBezTo>
                <a:cubicBezTo>
                  <a:pt x="851" y="779"/>
                  <a:pt x="849" y="762"/>
                  <a:pt x="856" y="752"/>
                </a:cubicBezTo>
                <a:cubicBezTo>
                  <a:pt x="865" y="735"/>
                  <a:pt x="877" y="720"/>
                  <a:pt x="888" y="704"/>
                </a:cubicBezTo>
                <a:cubicBezTo>
                  <a:pt x="893" y="696"/>
                  <a:pt x="904" y="680"/>
                  <a:pt x="904" y="680"/>
                </a:cubicBezTo>
                <a:cubicBezTo>
                  <a:pt x="899" y="642"/>
                  <a:pt x="890" y="605"/>
                  <a:pt x="888" y="568"/>
                </a:cubicBezTo>
                <a:cubicBezTo>
                  <a:pt x="883" y="496"/>
                  <a:pt x="884" y="423"/>
                  <a:pt x="880" y="352"/>
                </a:cubicBezTo>
                <a:cubicBezTo>
                  <a:pt x="879" y="349"/>
                  <a:pt x="867" y="301"/>
                  <a:pt x="864" y="296"/>
                </a:cubicBezTo>
                <a:cubicBezTo>
                  <a:pt x="825" y="238"/>
                  <a:pt x="767" y="199"/>
                  <a:pt x="720" y="152"/>
                </a:cubicBezTo>
                <a:cubicBezTo>
                  <a:pt x="701" y="133"/>
                  <a:pt x="688" y="80"/>
                  <a:pt x="688" y="80"/>
                </a:cubicBez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6" name="Line 14"/>
          <p:cNvSpPr>
            <a:spLocks noChangeShapeType="1"/>
          </p:cNvSpPr>
          <p:nvPr/>
        </p:nvSpPr>
        <p:spPr bwMode="auto">
          <a:xfrm flipV="1">
            <a:off x="6934200" y="3581400"/>
            <a:ext cx="596900" cy="15240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7" name="Freeform 15"/>
          <p:cNvSpPr>
            <a:spLocks/>
          </p:cNvSpPr>
          <p:nvPr/>
        </p:nvSpPr>
        <p:spPr bwMode="auto">
          <a:xfrm>
            <a:off x="8293100" y="2333625"/>
            <a:ext cx="860425" cy="1182688"/>
          </a:xfrm>
          <a:custGeom>
            <a:avLst/>
            <a:gdLst>
              <a:gd name="T0" fmla="*/ 2147483647 w 542"/>
              <a:gd name="T1" fmla="*/ 2147483647 h 745"/>
              <a:gd name="T2" fmla="*/ 2147483647 w 542"/>
              <a:gd name="T3" fmla="*/ 2147483647 h 745"/>
              <a:gd name="T4" fmla="*/ 2147483647 w 542"/>
              <a:gd name="T5" fmla="*/ 2147483647 h 745"/>
              <a:gd name="T6" fmla="*/ 2147483647 w 542"/>
              <a:gd name="T7" fmla="*/ 2147483647 h 745"/>
              <a:gd name="T8" fmla="*/ 2147483647 w 542"/>
              <a:gd name="T9" fmla="*/ 2147483647 h 745"/>
              <a:gd name="T10" fmla="*/ 2147483647 w 542"/>
              <a:gd name="T11" fmla="*/ 2147483647 h 745"/>
              <a:gd name="T12" fmla="*/ 2147483647 w 542"/>
              <a:gd name="T13" fmla="*/ 2147483647 h 745"/>
              <a:gd name="T14" fmla="*/ 2147483647 w 542"/>
              <a:gd name="T15" fmla="*/ 2147483647 h 745"/>
              <a:gd name="T16" fmla="*/ 2147483647 w 542"/>
              <a:gd name="T17" fmla="*/ 2147483647 h 745"/>
              <a:gd name="T18" fmla="*/ 2147483647 w 542"/>
              <a:gd name="T19" fmla="*/ 2147483647 h 745"/>
              <a:gd name="T20" fmla="*/ 2147483647 w 542"/>
              <a:gd name="T21" fmla="*/ 2147483647 h 745"/>
              <a:gd name="T22" fmla="*/ 2147483647 w 542"/>
              <a:gd name="T23" fmla="*/ 2147483647 h 745"/>
              <a:gd name="T24" fmla="*/ 2147483647 w 542"/>
              <a:gd name="T25" fmla="*/ 2147483647 h 745"/>
              <a:gd name="T26" fmla="*/ 2147483647 w 542"/>
              <a:gd name="T27" fmla="*/ 2147483647 h 745"/>
              <a:gd name="T28" fmla="*/ 2147483647 w 542"/>
              <a:gd name="T29" fmla="*/ 2147483647 h 745"/>
              <a:gd name="T30" fmla="*/ 2147483647 w 542"/>
              <a:gd name="T31" fmla="*/ 2147483647 h 745"/>
              <a:gd name="T32" fmla="*/ 2147483647 w 542"/>
              <a:gd name="T33" fmla="*/ 2147483647 h 745"/>
              <a:gd name="T34" fmla="*/ 2147483647 w 542"/>
              <a:gd name="T35" fmla="*/ 2147483647 h 745"/>
              <a:gd name="T36" fmla="*/ 2147483647 w 542"/>
              <a:gd name="T37" fmla="*/ 2147483647 h 7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42"/>
              <a:gd name="T58" fmla="*/ 0 h 745"/>
              <a:gd name="T59" fmla="*/ 542 w 542"/>
              <a:gd name="T60" fmla="*/ 745 h 74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42" h="745">
                <a:moveTo>
                  <a:pt x="288" y="10"/>
                </a:moveTo>
                <a:cubicBezTo>
                  <a:pt x="247" y="15"/>
                  <a:pt x="204" y="7"/>
                  <a:pt x="168" y="26"/>
                </a:cubicBezTo>
                <a:cubicBezTo>
                  <a:pt x="160" y="29"/>
                  <a:pt x="165" y="43"/>
                  <a:pt x="160" y="50"/>
                </a:cubicBezTo>
                <a:cubicBezTo>
                  <a:pt x="153" y="57"/>
                  <a:pt x="144" y="60"/>
                  <a:pt x="136" y="66"/>
                </a:cubicBezTo>
                <a:cubicBezTo>
                  <a:pt x="124" y="83"/>
                  <a:pt x="107" y="96"/>
                  <a:pt x="96" y="114"/>
                </a:cubicBezTo>
                <a:cubicBezTo>
                  <a:pt x="65" y="160"/>
                  <a:pt x="117" y="118"/>
                  <a:pt x="64" y="154"/>
                </a:cubicBezTo>
                <a:cubicBezTo>
                  <a:pt x="34" y="242"/>
                  <a:pt x="49" y="185"/>
                  <a:pt x="40" y="330"/>
                </a:cubicBezTo>
                <a:cubicBezTo>
                  <a:pt x="43" y="408"/>
                  <a:pt x="0" y="532"/>
                  <a:pt x="88" y="554"/>
                </a:cubicBezTo>
                <a:cubicBezTo>
                  <a:pt x="116" y="573"/>
                  <a:pt x="126" y="581"/>
                  <a:pt x="160" y="570"/>
                </a:cubicBezTo>
                <a:cubicBezTo>
                  <a:pt x="199" y="589"/>
                  <a:pt x="194" y="605"/>
                  <a:pt x="232" y="618"/>
                </a:cubicBezTo>
                <a:cubicBezTo>
                  <a:pt x="252" y="678"/>
                  <a:pt x="222" y="606"/>
                  <a:pt x="264" y="658"/>
                </a:cubicBezTo>
                <a:cubicBezTo>
                  <a:pt x="269" y="664"/>
                  <a:pt x="266" y="676"/>
                  <a:pt x="272" y="682"/>
                </a:cubicBezTo>
                <a:cubicBezTo>
                  <a:pt x="299" y="709"/>
                  <a:pt x="313" y="711"/>
                  <a:pt x="344" y="722"/>
                </a:cubicBezTo>
                <a:cubicBezTo>
                  <a:pt x="542" y="710"/>
                  <a:pt x="469" y="745"/>
                  <a:pt x="512" y="618"/>
                </a:cubicBezTo>
                <a:cubicBezTo>
                  <a:pt x="487" y="497"/>
                  <a:pt x="495" y="412"/>
                  <a:pt x="488" y="274"/>
                </a:cubicBezTo>
                <a:cubicBezTo>
                  <a:pt x="485" y="226"/>
                  <a:pt x="454" y="196"/>
                  <a:pt x="440" y="154"/>
                </a:cubicBezTo>
                <a:cubicBezTo>
                  <a:pt x="437" y="130"/>
                  <a:pt x="443" y="103"/>
                  <a:pt x="432" y="82"/>
                </a:cubicBezTo>
                <a:cubicBezTo>
                  <a:pt x="422" y="65"/>
                  <a:pt x="384" y="50"/>
                  <a:pt x="384" y="50"/>
                </a:cubicBezTo>
                <a:cubicBezTo>
                  <a:pt x="367" y="1"/>
                  <a:pt x="333" y="0"/>
                  <a:pt x="288" y="1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8" name="Freeform 16"/>
          <p:cNvSpPr>
            <a:spLocks/>
          </p:cNvSpPr>
          <p:nvPr/>
        </p:nvSpPr>
        <p:spPr bwMode="auto">
          <a:xfrm>
            <a:off x="7915275" y="4746625"/>
            <a:ext cx="1203325" cy="1373188"/>
          </a:xfrm>
          <a:custGeom>
            <a:avLst/>
            <a:gdLst>
              <a:gd name="T0" fmla="*/ 2147483647 w 542"/>
              <a:gd name="T1" fmla="*/ 2147483647 h 745"/>
              <a:gd name="T2" fmla="*/ 2147483647 w 542"/>
              <a:gd name="T3" fmla="*/ 2147483647 h 745"/>
              <a:gd name="T4" fmla="*/ 2147483647 w 542"/>
              <a:gd name="T5" fmla="*/ 2147483647 h 745"/>
              <a:gd name="T6" fmla="*/ 2147483647 w 542"/>
              <a:gd name="T7" fmla="*/ 2147483647 h 745"/>
              <a:gd name="T8" fmla="*/ 2147483647 w 542"/>
              <a:gd name="T9" fmla="*/ 2147483647 h 745"/>
              <a:gd name="T10" fmla="*/ 2147483647 w 542"/>
              <a:gd name="T11" fmla="*/ 2147483647 h 745"/>
              <a:gd name="T12" fmla="*/ 2147483647 w 542"/>
              <a:gd name="T13" fmla="*/ 2147483647 h 745"/>
              <a:gd name="T14" fmla="*/ 2147483647 w 542"/>
              <a:gd name="T15" fmla="*/ 2147483647 h 745"/>
              <a:gd name="T16" fmla="*/ 2147483647 w 542"/>
              <a:gd name="T17" fmla="*/ 2147483647 h 745"/>
              <a:gd name="T18" fmla="*/ 2147483647 w 542"/>
              <a:gd name="T19" fmla="*/ 2147483647 h 745"/>
              <a:gd name="T20" fmla="*/ 2147483647 w 542"/>
              <a:gd name="T21" fmla="*/ 2147483647 h 745"/>
              <a:gd name="T22" fmla="*/ 2147483647 w 542"/>
              <a:gd name="T23" fmla="*/ 2147483647 h 745"/>
              <a:gd name="T24" fmla="*/ 2147483647 w 542"/>
              <a:gd name="T25" fmla="*/ 2147483647 h 745"/>
              <a:gd name="T26" fmla="*/ 2147483647 w 542"/>
              <a:gd name="T27" fmla="*/ 2147483647 h 745"/>
              <a:gd name="T28" fmla="*/ 2147483647 w 542"/>
              <a:gd name="T29" fmla="*/ 2147483647 h 745"/>
              <a:gd name="T30" fmla="*/ 2147483647 w 542"/>
              <a:gd name="T31" fmla="*/ 2147483647 h 745"/>
              <a:gd name="T32" fmla="*/ 2147483647 w 542"/>
              <a:gd name="T33" fmla="*/ 2147483647 h 745"/>
              <a:gd name="T34" fmla="*/ 2147483647 w 542"/>
              <a:gd name="T35" fmla="*/ 2147483647 h 745"/>
              <a:gd name="T36" fmla="*/ 2147483647 w 542"/>
              <a:gd name="T37" fmla="*/ 2147483647 h 7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42"/>
              <a:gd name="T58" fmla="*/ 0 h 745"/>
              <a:gd name="T59" fmla="*/ 542 w 542"/>
              <a:gd name="T60" fmla="*/ 745 h 74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42" h="745">
                <a:moveTo>
                  <a:pt x="288" y="10"/>
                </a:moveTo>
                <a:cubicBezTo>
                  <a:pt x="247" y="15"/>
                  <a:pt x="204" y="7"/>
                  <a:pt x="168" y="26"/>
                </a:cubicBezTo>
                <a:cubicBezTo>
                  <a:pt x="160" y="29"/>
                  <a:pt x="165" y="43"/>
                  <a:pt x="160" y="50"/>
                </a:cubicBezTo>
                <a:cubicBezTo>
                  <a:pt x="153" y="57"/>
                  <a:pt x="144" y="60"/>
                  <a:pt x="136" y="66"/>
                </a:cubicBezTo>
                <a:cubicBezTo>
                  <a:pt x="124" y="83"/>
                  <a:pt x="107" y="96"/>
                  <a:pt x="96" y="114"/>
                </a:cubicBezTo>
                <a:cubicBezTo>
                  <a:pt x="65" y="160"/>
                  <a:pt x="117" y="118"/>
                  <a:pt x="64" y="154"/>
                </a:cubicBezTo>
                <a:cubicBezTo>
                  <a:pt x="34" y="242"/>
                  <a:pt x="49" y="185"/>
                  <a:pt x="40" y="330"/>
                </a:cubicBezTo>
                <a:cubicBezTo>
                  <a:pt x="43" y="408"/>
                  <a:pt x="0" y="532"/>
                  <a:pt x="88" y="554"/>
                </a:cubicBezTo>
                <a:cubicBezTo>
                  <a:pt x="116" y="573"/>
                  <a:pt x="126" y="581"/>
                  <a:pt x="160" y="570"/>
                </a:cubicBezTo>
                <a:cubicBezTo>
                  <a:pt x="199" y="589"/>
                  <a:pt x="194" y="605"/>
                  <a:pt x="232" y="618"/>
                </a:cubicBezTo>
                <a:cubicBezTo>
                  <a:pt x="252" y="678"/>
                  <a:pt x="222" y="606"/>
                  <a:pt x="264" y="658"/>
                </a:cubicBezTo>
                <a:cubicBezTo>
                  <a:pt x="269" y="664"/>
                  <a:pt x="266" y="676"/>
                  <a:pt x="272" y="682"/>
                </a:cubicBezTo>
                <a:cubicBezTo>
                  <a:pt x="299" y="709"/>
                  <a:pt x="313" y="711"/>
                  <a:pt x="344" y="722"/>
                </a:cubicBezTo>
                <a:cubicBezTo>
                  <a:pt x="542" y="710"/>
                  <a:pt x="469" y="745"/>
                  <a:pt x="512" y="618"/>
                </a:cubicBezTo>
                <a:cubicBezTo>
                  <a:pt x="487" y="497"/>
                  <a:pt x="495" y="412"/>
                  <a:pt x="488" y="274"/>
                </a:cubicBezTo>
                <a:cubicBezTo>
                  <a:pt x="485" y="226"/>
                  <a:pt x="454" y="196"/>
                  <a:pt x="440" y="154"/>
                </a:cubicBezTo>
                <a:cubicBezTo>
                  <a:pt x="437" y="130"/>
                  <a:pt x="443" y="103"/>
                  <a:pt x="432" y="82"/>
                </a:cubicBezTo>
                <a:cubicBezTo>
                  <a:pt x="422" y="65"/>
                  <a:pt x="384" y="50"/>
                  <a:pt x="384" y="50"/>
                </a:cubicBezTo>
                <a:cubicBezTo>
                  <a:pt x="367" y="1"/>
                  <a:pt x="333" y="0"/>
                  <a:pt x="288" y="1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9" name="Line 17"/>
          <p:cNvSpPr>
            <a:spLocks noChangeShapeType="1"/>
          </p:cNvSpPr>
          <p:nvPr/>
        </p:nvSpPr>
        <p:spPr bwMode="auto">
          <a:xfrm flipV="1">
            <a:off x="8432800" y="3479800"/>
            <a:ext cx="342900" cy="1295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0" name="Freeform 18"/>
          <p:cNvSpPr>
            <a:spLocks/>
          </p:cNvSpPr>
          <p:nvPr/>
        </p:nvSpPr>
        <p:spPr bwMode="auto">
          <a:xfrm>
            <a:off x="349250" y="1924050"/>
            <a:ext cx="1123950" cy="1044575"/>
          </a:xfrm>
          <a:custGeom>
            <a:avLst/>
            <a:gdLst>
              <a:gd name="T0" fmla="*/ 2147483647 w 708"/>
              <a:gd name="T1" fmla="*/ 2147483647 h 658"/>
              <a:gd name="T2" fmla="*/ 2147483647 w 708"/>
              <a:gd name="T3" fmla="*/ 2147483647 h 658"/>
              <a:gd name="T4" fmla="*/ 2147483647 w 708"/>
              <a:gd name="T5" fmla="*/ 2147483647 h 658"/>
              <a:gd name="T6" fmla="*/ 2147483647 w 708"/>
              <a:gd name="T7" fmla="*/ 2147483647 h 658"/>
              <a:gd name="T8" fmla="*/ 2147483647 w 708"/>
              <a:gd name="T9" fmla="*/ 2147483647 h 658"/>
              <a:gd name="T10" fmla="*/ 2147483647 w 708"/>
              <a:gd name="T11" fmla="*/ 2147483647 h 658"/>
              <a:gd name="T12" fmla="*/ 2147483647 w 708"/>
              <a:gd name="T13" fmla="*/ 2147483647 h 658"/>
              <a:gd name="T14" fmla="*/ 2147483647 w 708"/>
              <a:gd name="T15" fmla="*/ 2147483647 h 658"/>
              <a:gd name="T16" fmla="*/ 2147483647 w 708"/>
              <a:gd name="T17" fmla="*/ 2147483647 h 658"/>
              <a:gd name="T18" fmla="*/ 2147483647 w 708"/>
              <a:gd name="T19" fmla="*/ 2147483647 h 658"/>
              <a:gd name="T20" fmla="*/ 2147483647 w 708"/>
              <a:gd name="T21" fmla="*/ 2147483647 h 658"/>
              <a:gd name="T22" fmla="*/ 2147483647 w 708"/>
              <a:gd name="T23" fmla="*/ 2147483647 h 658"/>
              <a:gd name="T24" fmla="*/ 2147483647 w 708"/>
              <a:gd name="T25" fmla="*/ 2147483647 h 658"/>
              <a:gd name="T26" fmla="*/ 2147483647 w 708"/>
              <a:gd name="T27" fmla="*/ 2147483647 h 658"/>
              <a:gd name="T28" fmla="*/ 2147483647 w 708"/>
              <a:gd name="T29" fmla="*/ 2147483647 h 658"/>
              <a:gd name="T30" fmla="*/ 2147483647 w 708"/>
              <a:gd name="T31" fmla="*/ 2147483647 h 658"/>
              <a:gd name="T32" fmla="*/ 2147483647 w 708"/>
              <a:gd name="T33" fmla="*/ 2147483647 h 658"/>
              <a:gd name="T34" fmla="*/ 2147483647 w 708"/>
              <a:gd name="T35" fmla="*/ 2147483647 h 658"/>
              <a:gd name="T36" fmla="*/ 2147483647 w 708"/>
              <a:gd name="T37" fmla="*/ 2147483647 h 658"/>
              <a:gd name="T38" fmla="*/ 2147483647 w 708"/>
              <a:gd name="T39" fmla="*/ 2147483647 h 658"/>
              <a:gd name="T40" fmla="*/ 2147483647 w 708"/>
              <a:gd name="T41" fmla="*/ 2147483647 h 658"/>
              <a:gd name="T42" fmla="*/ 2147483647 w 708"/>
              <a:gd name="T43" fmla="*/ 2147483647 h 658"/>
              <a:gd name="T44" fmla="*/ 2147483647 w 708"/>
              <a:gd name="T45" fmla="*/ 2147483647 h 658"/>
              <a:gd name="T46" fmla="*/ 2147483647 w 708"/>
              <a:gd name="T47" fmla="*/ 2147483647 h 6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708"/>
              <a:gd name="T73" fmla="*/ 0 h 658"/>
              <a:gd name="T74" fmla="*/ 708 w 708"/>
              <a:gd name="T75" fmla="*/ 658 h 658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708" h="658">
                <a:moveTo>
                  <a:pt x="468" y="20"/>
                </a:moveTo>
                <a:cubicBezTo>
                  <a:pt x="400" y="0"/>
                  <a:pt x="345" y="4"/>
                  <a:pt x="276" y="28"/>
                </a:cubicBezTo>
                <a:cubicBezTo>
                  <a:pt x="255" y="58"/>
                  <a:pt x="242" y="59"/>
                  <a:pt x="212" y="76"/>
                </a:cubicBezTo>
                <a:cubicBezTo>
                  <a:pt x="129" y="121"/>
                  <a:pt x="194" y="97"/>
                  <a:pt x="140" y="116"/>
                </a:cubicBezTo>
                <a:cubicBezTo>
                  <a:pt x="120" y="154"/>
                  <a:pt x="110" y="170"/>
                  <a:pt x="76" y="196"/>
                </a:cubicBezTo>
                <a:cubicBezTo>
                  <a:pt x="70" y="212"/>
                  <a:pt x="65" y="228"/>
                  <a:pt x="60" y="244"/>
                </a:cubicBezTo>
                <a:cubicBezTo>
                  <a:pt x="57" y="252"/>
                  <a:pt x="52" y="268"/>
                  <a:pt x="52" y="268"/>
                </a:cubicBezTo>
                <a:cubicBezTo>
                  <a:pt x="41" y="348"/>
                  <a:pt x="50" y="311"/>
                  <a:pt x="28" y="380"/>
                </a:cubicBezTo>
                <a:cubicBezTo>
                  <a:pt x="22" y="396"/>
                  <a:pt x="12" y="428"/>
                  <a:pt x="12" y="428"/>
                </a:cubicBezTo>
                <a:cubicBezTo>
                  <a:pt x="14" y="449"/>
                  <a:pt x="12" y="472"/>
                  <a:pt x="20" y="492"/>
                </a:cubicBezTo>
                <a:cubicBezTo>
                  <a:pt x="23" y="500"/>
                  <a:pt x="37" y="501"/>
                  <a:pt x="44" y="508"/>
                </a:cubicBezTo>
                <a:cubicBezTo>
                  <a:pt x="107" y="571"/>
                  <a:pt x="0" y="490"/>
                  <a:pt x="92" y="548"/>
                </a:cubicBezTo>
                <a:cubicBezTo>
                  <a:pt x="152" y="585"/>
                  <a:pt x="224" y="609"/>
                  <a:pt x="292" y="636"/>
                </a:cubicBezTo>
                <a:cubicBezTo>
                  <a:pt x="688" y="626"/>
                  <a:pt x="519" y="658"/>
                  <a:pt x="684" y="604"/>
                </a:cubicBezTo>
                <a:cubicBezTo>
                  <a:pt x="689" y="588"/>
                  <a:pt x="694" y="572"/>
                  <a:pt x="700" y="556"/>
                </a:cubicBezTo>
                <a:cubicBezTo>
                  <a:pt x="702" y="548"/>
                  <a:pt x="708" y="532"/>
                  <a:pt x="708" y="532"/>
                </a:cubicBezTo>
                <a:cubicBezTo>
                  <a:pt x="701" y="473"/>
                  <a:pt x="694" y="427"/>
                  <a:pt x="676" y="372"/>
                </a:cubicBezTo>
                <a:cubicBezTo>
                  <a:pt x="670" y="356"/>
                  <a:pt x="665" y="340"/>
                  <a:pt x="660" y="324"/>
                </a:cubicBezTo>
                <a:cubicBezTo>
                  <a:pt x="657" y="316"/>
                  <a:pt x="652" y="300"/>
                  <a:pt x="652" y="300"/>
                </a:cubicBezTo>
                <a:cubicBezTo>
                  <a:pt x="649" y="273"/>
                  <a:pt x="650" y="245"/>
                  <a:pt x="644" y="220"/>
                </a:cubicBezTo>
                <a:cubicBezTo>
                  <a:pt x="638" y="198"/>
                  <a:pt x="614" y="176"/>
                  <a:pt x="604" y="156"/>
                </a:cubicBezTo>
                <a:cubicBezTo>
                  <a:pt x="592" y="132"/>
                  <a:pt x="587" y="95"/>
                  <a:pt x="572" y="76"/>
                </a:cubicBezTo>
                <a:cubicBezTo>
                  <a:pt x="551" y="49"/>
                  <a:pt x="515" y="38"/>
                  <a:pt x="484" y="28"/>
                </a:cubicBezTo>
                <a:cubicBezTo>
                  <a:pt x="457" y="19"/>
                  <a:pt x="451" y="20"/>
                  <a:pt x="468" y="20"/>
                </a:cubicBezTo>
                <a:close/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1" name="Freeform 19"/>
          <p:cNvSpPr>
            <a:spLocks/>
          </p:cNvSpPr>
          <p:nvPr/>
        </p:nvSpPr>
        <p:spPr bwMode="auto">
          <a:xfrm>
            <a:off x="615950" y="4845050"/>
            <a:ext cx="1403350" cy="1412875"/>
          </a:xfrm>
          <a:custGeom>
            <a:avLst/>
            <a:gdLst>
              <a:gd name="T0" fmla="*/ 2147483647 w 708"/>
              <a:gd name="T1" fmla="*/ 2147483647 h 658"/>
              <a:gd name="T2" fmla="*/ 2147483647 w 708"/>
              <a:gd name="T3" fmla="*/ 2147483647 h 658"/>
              <a:gd name="T4" fmla="*/ 2147483647 w 708"/>
              <a:gd name="T5" fmla="*/ 2147483647 h 658"/>
              <a:gd name="T6" fmla="*/ 2147483647 w 708"/>
              <a:gd name="T7" fmla="*/ 2147483647 h 658"/>
              <a:gd name="T8" fmla="*/ 2147483647 w 708"/>
              <a:gd name="T9" fmla="*/ 2147483647 h 658"/>
              <a:gd name="T10" fmla="*/ 2147483647 w 708"/>
              <a:gd name="T11" fmla="*/ 2147483647 h 658"/>
              <a:gd name="T12" fmla="*/ 2147483647 w 708"/>
              <a:gd name="T13" fmla="*/ 2147483647 h 658"/>
              <a:gd name="T14" fmla="*/ 2147483647 w 708"/>
              <a:gd name="T15" fmla="*/ 2147483647 h 658"/>
              <a:gd name="T16" fmla="*/ 2147483647 w 708"/>
              <a:gd name="T17" fmla="*/ 2147483647 h 658"/>
              <a:gd name="T18" fmla="*/ 2147483647 w 708"/>
              <a:gd name="T19" fmla="*/ 2147483647 h 658"/>
              <a:gd name="T20" fmla="*/ 2147483647 w 708"/>
              <a:gd name="T21" fmla="*/ 2147483647 h 658"/>
              <a:gd name="T22" fmla="*/ 2147483647 w 708"/>
              <a:gd name="T23" fmla="*/ 2147483647 h 658"/>
              <a:gd name="T24" fmla="*/ 2147483647 w 708"/>
              <a:gd name="T25" fmla="*/ 2147483647 h 658"/>
              <a:gd name="T26" fmla="*/ 2147483647 w 708"/>
              <a:gd name="T27" fmla="*/ 2147483647 h 658"/>
              <a:gd name="T28" fmla="*/ 2147483647 w 708"/>
              <a:gd name="T29" fmla="*/ 2147483647 h 658"/>
              <a:gd name="T30" fmla="*/ 2147483647 w 708"/>
              <a:gd name="T31" fmla="*/ 2147483647 h 658"/>
              <a:gd name="T32" fmla="*/ 2147483647 w 708"/>
              <a:gd name="T33" fmla="*/ 2147483647 h 658"/>
              <a:gd name="T34" fmla="*/ 2147483647 w 708"/>
              <a:gd name="T35" fmla="*/ 2147483647 h 658"/>
              <a:gd name="T36" fmla="*/ 2147483647 w 708"/>
              <a:gd name="T37" fmla="*/ 2147483647 h 658"/>
              <a:gd name="T38" fmla="*/ 2147483647 w 708"/>
              <a:gd name="T39" fmla="*/ 2147483647 h 658"/>
              <a:gd name="T40" fmla="*/ 2147483647 w 708"/>
              <a:gd name="T41" fmla="*/ 2147483647 h 658"/>
              <a:gd name="T42" fmla="*/ 2147483647 w 708"/>
              <a:gd name="T43" fmla="*/ 2147483647 h 658"/>
              <a:gd name="T44" fmla="*/ 2147483647 w 708"/>
              <a:gd name="T45" fmla="*/ 2147483647 h 658"/>
              <a:gd name="T46" fmla="*/ 2147483647 w 708"/>
              <a:gd name="T47" fmla="*/ 2147483647 h 6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708"/>
              <a:gd name="T73" fmla="*/ 0 h 658"/>
              <a:gd name="T74" fmla="*/ 708 w 708"/>
              <a:gd name="T75" fmla="*/ 658 h 658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708" h="658">
                <a:moveTo>
                  <a:pt x="468" y="20"/>
                </a:moveTo>
                <a:cubicBezTo>
                  <a:pt x="400" y="0"/>
                  <a:pt x="345" y="4"/>
                  <a:pt x="276" y="28"/>
                </a:cubicBezTo>
                <a:cubicBezTo>
                  <a:pt x="255" y="58"/>
                  <a:pt x="242" y="59"/>
                  <a:pt x="212" y="76"/>
                </a:cubicBezTo>
                <a:cubicBezTo>
                  <a:pt x="129" y="121"/>
                  <a:pt x="194" y="97"/>
                  <a:pt x="140" y="116"/>
                </a:cubicBezTo>
                <a:cubicBezTo>
                  <a:pt x="120" y="154"/>
                  <a:pt x="110" y="170"/>
                  <a:pt x="76" y="196"/>
                </a:cubicBezTo>
                <a:cubicBezTo>
                  <a:pt x="70" y="212"/>
                  <a:pt x="65" y="228"/>
                  <a:pt x="60" y="244"/>
                </a:cubicBezTo>
                <a:cubicBezTo>
                  <a:pt x="57" y="252"/>
                  <a:pt x="52" y="268"/>
                  <a:pt x="52" y="268"/>
                </a:cubicBezTo>
                <a:cubicBezTo>
                  <a:pt x="41" y="348"/>
                  <a:pt x="50" y="311"/>
                  <a:pt x="28" y="380"/>
                </a:cubicBezTo>
                <a:cubicBezTo>
                  <a:pt x="22" y="396"/>
                  <a:pt x="12" y="428"/>
                  <a:pt x="12" y="428"/>
                </a:cubicBezTo>
                <a:cubicBezTo>
                  <a:pt x="14" y="449"/>
                  <a:pt x="12" y="472"/>
                  <a:pt x="20" y="492"/>
                </a:cubicBezTo>
                <a:cubicBezTo>
                  <a:pt x="23" y="500"/>
                  <a:pt x="37" y="501"/>
                  <a:pt x="44" y="508"/>
                </a:cubicBezTo>
                <a:cubicBezTo>
                  <a:pt x="107" y="571"/>
                  <a:pt x="0" y="490"/>
                  <a:pt x="92" y="548"/>
                </a:cubicBezTo>
                <a:cubicBezTo>
                  <a:pt x="152" y="585"/>
                  <a:pt x="224" y="609"/>
                  <a:pt x="292" y="636"/>
                </a:cubicBezTo>
                <a:cubicBezTo>
                  <a:pt x="688" y="626"/>
                  <a:pt x="519" y="658"/>
                  <a:pt x="684" y="604"/>
                </a:cubicBezTo>
                <a:cubicBezTo>
                  <a:pt x="689" y="588"/>
                  <a:pt x="694" y="572"/>
                  <a:pt x="700" y="556"/>
                </a:cubicBezTo>
                <a:cubicBezTo>
                  <a:pt x="702" y="548"/>
                  <a:pt x="708" y="532"/>
                  <a:pt x="708" y="532"/>
                </a:cubicBezTo>
                <a:cubicBezTo>
                  <a:pt x="701" y="473"/>
                  <a:pt x="694" y="427"/>
                  <a:pt x="676" y="372"/>
                </a:cubicBezTo>
                <a:cubicBezTo>
                  <a:pt x="670" y="356"/>
                  <a:pt x="665" y="340"/>
                  <a:pt x="660" y="324"/>
                </a:cubicBezTo>
                <a:cubicBezTo>
                  <a:pt x="657" y="316"/>
                  <a:pt x="652" y="300"/>
                  <a:pt x="652" y="300"/>
                </a:cubicBezTo>
                <a:cubicBezTo>
                  <a:pt x="649" y="273"/>
                  <a:pt x="650" y="245"/>
                  <a:pt x="644" y="220"/>
                </a:cubicBezTo>
                <a:cubicBezTo>
                  <a:pt x="638" y="198"/>
                  <a:pt x="614" y="176"/>
                  <a:pt x="604" y="156"/>
                </a:cubicBezTo>
                <a:cubicBezTo>
                  <a:pt x="592" y="132"/>
                  <a:pt x="587" y="95"/>
                  <a:pt x="572" y="76"/>
                </a:cubicBezTo>
                <a:cubicBezTo>
                  <a:pt x="551" y="49"/>
                  <a:pt x="515" y="38"/>
                  <a:pt x="484" y="28"/>
                </a:cubicBezTo>
                <a:cubicBezTo>
                  <a:pt x="457" y="19"/>
                  <a:pt x="451" y="20"/>
                  <a:pt x="468" y="20"/>
                </a:cubicBezTo>
                <a:close/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2" name="Line 20"/>
          <p:cNvSpPr>
            <a:spLocks noChangeShapeType="1"/>
          </p:cNvSpPr>
          <p:nvPr/>
        </p:nvSpPr>
        <p:spPr bwMode="auto">
          <a:xfrm flipH="1" flipV="1">
            <a:off x="1016000" y="2946400"/>
            <a:ext cx="241300" cy="1930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3" name="Freeform 21"/>
          <p:cNvSpPr>
            <a:spLocks/>
          </p:cNvSpPr>
          <p:nvPr/>
        </p:nvSpPr>
        <p:spPr bwMode="auto">
          <a:xfrm>
            <a:off x="3203575" y="4508500"/>
            <a:ext cx="1289050" cy="1404938"/>
          </a:xfrm>
          <a:custGeom>
            <a:avLst/>
            <a:gdLst>
              <a:gd name="T0" fmla="*/ 2147483647 w 812"/>
              <a:gd name="T1" fmla="*/ 2147483647 h 885"/>
              <a:gd name="T2" fmla="*/ 2147483647 w 812"/>
              <a:gd name="T3" fmla="*/ 2147483647 h 885"/>
              <a:gd name="T4" fmla="*/ 2147483647 w 812"/>
              <a:gd name="T5" fmla="*/ 2147483647 h 885"/>
              <a:gd name="T6" fmla="*/ 2147483647 w 812"/>
              <a:gd name="T7" fmla="*/ 2147483647 h 885"/>
              <a:gd name="T8" fmla="*/ 2147483647 w 812"/>
              <a:gd name="T9" fmla="*/ 2147483647 h 885"/>
              <a:gd name="T10" fmla="*/ 2147483647 w 812"/>
              <a:gd name="T11" fmla="*/ 2147483647 h 885"/>
              <a:gd name="T12" fmla="*/ 2147483647 w 812"/>
              <a:gd name="T13" fmla="*/ 2147483647 h 885"/>
              <a:gd name="T14" fmla="*/ 2147483647 w 812"/>
              <a:gd name="T15" fmla="*/ 2147483647 h 885"/>
              <a:gd name="T16" fmla="*/ 2147483647 w 812"/>
              <a:gd name="T17" fmla="*/ 2147483647 h 885"/>
              <a:gd name="T18" fmla="*/ 2147483647 w 812"/>
              <a:gd name="T19" fmla="*/ 2147483647 h 885"/>
              <a:gd name="T20" fmla="*/ 2147483647 w 812"/>
              <a:gd name="T21" fmla="*/ 2147483647 h 885"/>
              <a:gd name="T22" fmla="*/ 2147483647 w 812"/>
              <a:gd name="T23" fmla="*/ 2147483647 h 885"/>
              <a:gd name="T24" fmla="*/ 2147483647 w 812"/>
              <a:gd name="T25" fmla="*/ 2147483647 h 885"/>
              <a:gd name="T26" fmla="*/ 2147483647 w 812"/>
              <a:gd name="T27" fmla="*/ 2147483647 h 885"/>
              <a:gd name="T28" fmla="*/ 2147483647 w 812"/>
              <a:gd name="T29" fmla="*/ 2147483647 h 885"/>
              <a:gd name="T30" fmla="*/ 2147483647 w 812"/>
              <a:gd name="T31" fmla="*/ 0 h 885"/>
              <a:gd name="T32" fmla="*/ 2147483647 w 812"/>
              <a:gd name="T33" fmla="*/ 2147483647 h 885"/>
              <a:gd name="T34" fmla="*/ 2147483647 w 812"/>
              <a:gd name="T35" fmla="*/ 2147483647 h 885"/>
              <a:gd name="T36" fmla="*/ 2147483647 w 812"/>
              <a:gd name="T37" fmla="*/ 2147483647 h 88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12"/>
              <a:gd name="T58" fmla="*/ 0 h 885"/>
              <a:gd name="T59" fmla="*/ 812 w 812"/>
              <a:gd name="T60" fmla="*/ 885 h 88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12" h="885">
                <a:moveTo>
                  <a:pt x="374" y="24"/>
                </a:moveTo>
                <a:cubicBezTo>
                  <a:pt x="280" y="29"/>
                  <a:pt x="187" y="32"/>
                  <a:pt x="94" y="40"/>
                </a:cubicBezTo>
                <a:cubicBezTo>
                  <a:pt x="61" y="42"/>
                  <a:pt x="38" y="120"/>
                  <a:pt x="38" y="120"/>
                </a:cubicBezTo>
                <a:cubicBezTo>
                  <a:pt x="40" y="200"/>
                  <a:pt x="46" y="279"/>
                  <a:pt x="46" y="360"/>
                </a:cubicBezTo>
                <a:cubicBezTo>
                  <a:pt x="46" y="433"/>
                  <a:pt x="0" y="640"/>
                  <a:pt x="94" y="672"/>
                </a:cubicBezTo>
                <a:cubicBezTo>
                  <a:pt x="105" y="689"/>
                  <a:pt x="112" y="711"/>
                  <a:pt x="126" y="728"/>
                </a:cubicBezTo>
                <a:cubicBezTo>
                  <a:pt x="202" y="823"/>
                  <a:pt x="314" y="845"/>
                  <a:pt x="430" y="856"/>
                </a:cubicBezTo>
                <a:cubicBezTo>
                  <a:pt x="517" y="885"/>
                  <a:pt x="586" y="868"/>
                  <a:pt x="686" y="864"/>
                </a:cubicBezTo>
                <a:cubicBezTo>
                  <a:pt x="755" y="829"/>
                  <a:pt x="683" y="869"/>
                  <a:pt x="742" y="824"/>
                </a:cubicBezTo>
                <a:cubicBezTo>
                  <a:pt x="757" y="812"/>
                  <a:pt x="790" y="792"/>
                  <a:pt x="790" y="792"/>
                </a:cubicBezTo>
                <a:cubicBezTo>
                  <a:pt x="812" y="677"/>
                  <a:pt x="808" y="570"/>
                  <a:pt x="750" y="472"/>
                </a:cubicBezTo>
                <a:cubicBezTo>
                  <a:pt x="742" y="432"/>
                  <a:pt x="722" y="405"/>
                  <a:pt x="710" y="368"/>
                </a:cubicBezTo>
                <a:cubicBezTo>
                  <a:pt x="707" y="328"/>
                  <a:pt x="707" y="287"/>
                  <a:pt x="702" y="248"/>
                </a:cubicBezTo>
                <a:cubicBezTo>
                  <a:pt x="693" y="187"/>
                  <a:pt x="640" y="139"/>
                  <a:pt x="606" y="96"/>
                </a:cubicBezTo>
                <a:cubicBezTo>
                  <a:pt x="590" y="76"/>
                  <a:pt x="586" y="47"/>
                  <a:pt x="566" y="32"/>
                </a:cubicBezTo>
                <a:cubicBezTo>
                  <a:pt x="544" y="16"/>
                  <a:pt x="515" y="14"/>
                  <a:pt x="494" y="0"/>
                </a:cubicBezTo>
                <a:cubicBezTo>
                  <a:pt x="483" y="2"/>
                  <a:pt x="449" y="10"/>
                  <a:pt x="438" y="16"/>
                </a:cubicBezTo>
                <a:cubicBezTo>
                  <a:pt x="429" y="20"/>
                  <a:pt x="423" y="30"/>
                  <a:pt x="414" y="32"/>
                </a:cubicBezTo>
                <a:cubicBezTo>
                  <a:pt x="400" y="33"/>
                  <a:pt x="387" y="26"/>
                  <a:pt x="374" y="24"/>
                </a:cubicBezTo>
                <a:close/>
              </a:path>
            </a:pathLst>
          </a:custGeom>
          <a:noFill/>
          <a:ln w="38100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4" name="Freeform 22"/>
          <p:cNvSpPr>
            <a:spLocks/>
          </p:cNvSpPr>
          <p:nvPr/>
        </p:nvSpPr>
        <p:spPr bwMode="auto">
          <a:xfrm>
            <a:off x="5210175" y="2654300"/>
            <a:ext cx="819150" cy="896938"/>
          </a:xfrm>
          <a:custGeom>
            <a:avLst/>
            <a:gdLst>
              <a:gd name="T0" fmla="*/ 2147483647 w 812"/>
              <a:gd name="T1" fmla="*/ 2147483647 h 885"/>
              <a:gd name="T2" fmla="*/ 2147483647 w 812"/>
              <a:gd name="T3" fmla="*/ 2147483647 h 885"/>
              <a:gd name="T4" fmla="*/ 2147483647 w 812"/>
              <a:gd name="T5" fmla="*/ 2147483647 h 885"/>
              <a:gd name="T6" fmla="*/ 2147483647 w 812"/>
              <a:gd name="T7" fmla="*/ 2147483647 h 885"/>
              <a:gd name="T8" fmla="*/ 2147483647 w 812"/>
              <a:gd name="T9" fmla="*/ 2147483647 h 885"/>
              <a:gd name="T10" fmla="*/ 2147483647 w 812"/>
              <a:gd name="T11" fmla="*/ 2147483647 h 885"/>
              <a:gd name="T12" fmla="*/ 2147483647 w 812"/>
              <a:gd name="T13" fmla="*/ 2147483647 h 885"/>
              <a:gd name="T14" fmla="*/ 2147483647 w 812"/>
              <a:gd name="T15" fmla="*/ 2147483647 h 885"/>
              <a:gd name="T16" fmla="*/ 2147483647 w 812"/>
              <a:gd name="T17" fmla="*/ 2147483647 h 885"/>
              <a:gd name="T18" fmla="*/ 2147483647 w 812"/>
              <a:gd name="T19" fmla="*/ 2147483647 h 885"/>
              <a:gd name="T20" fmla="*/ 2147483647 w 812"/>
              <a:gd name="T21" fmla="*/ 2147483647 h 885"/>
              <a:gd name="T22" fmla="*/ 2147483647 w 812"/>
              <a:gd name="T23" fmla="*/ 2147483647 h 885"/>
              <a:gd name="T24" fmla="*/ 2147483647 w 812"/>
              <a:gd name="T25" fmla="*/ 2147483647 h 885"/>
              <a:gd name="T26" fmla="*/ 2147483647 w 812"/>
              <a:gd name="T27" fmla="*/ 2147483647 h 885"/>
              <a:gd name="T28" fmla="*/ 2147483647 w 812"/>
              <a:gd name="T29" fmla="*/ 2147483647 h 885"/>
              <a:gd name="T30" fmla="*/ 2147483647 w 812"/>
              <a:gd name="T31" fmla="*/ 0 h 885"/>
              <a:gd name="T32" fmla="*/ 2147483647 w 812"/>
              <a:gd name="T33" fmla="*/ 2147483647 h 885"/>
              <a:gd name="T34" fmla="*/ 2147483647 w 812"/>
              <a:gd name="T35" fmla="*/ 2147483647 h 885"/>
              <a:gd name="T36" fmla="*/ 2147483647 w 812"/>
              <a:gd name="T37" fmla="*/ 2147483647 h 88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12"/>
              <a:gd name="T58" fmla="*/ 0 h 885"/>
              <a:gd name="T59" fmla="*/ 812 w 812"/>
              <a:gd name="T60" fmla="*/ 885 h 88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12" h="885">
                <a:moveTo>
                  <a:pt x="374" y="24"/>
                </a:moveTo>
                <a:cubicBezTo>
                  <a:pt x="280" y="29"/>
                  <a:pt x="187" y="32"/>
                  <a:pt x="94" y="40"/>
                </a:cubicBezTo>
                <a:cubicBezTo>
                  <a:pt x="61" y="42"/>
                  <a:pt x="38" y="120"/>
                  <a:pt x="38" y="120"/>
                </a:cubicBezTo>
                <a:cubicBezTo>
                  <a:pt x="40" y="200"/>
                  <a:pt x="46" y="279"/>
                  <a:pt x="46" y="360"/>
                </a:cubicBezTo>
                <a:cubicBezTo>
                  <a:pt x="46" y="433"/>
                  <a:pt x="0" y="640"/>
                  <a:pt x="94" y="672"/>
                </a:cubicBezTo>
                <a:cubicBezTo>
                  <a:pt x="105" y="689"/>
                  <a:pt x="112" y="711"/>
                  <a:pt x="126" y="728"/>
                </a:cubicBezTo>
                <a:cubicBezTo>
                  <a:pt x="202" y="823"/>
                  <a:pt x="314" y="845"/>
                  <a:pt x="430" y="856"/>
                </a:cubicBezTo>
                <a:cubicBezTo>
                  <a:pt x="517" y="885"/>
                  <a:pt x="586" y="868"/>
                  <a:pt x="686" y="864"/>
                </a:cubicBezTo>
                <a:cubicBezTo>
                  <a:pt x="755" y="829"/>
                  <a:pt x="683" y="869"/>
                  <a:pt x="742" y="824"/>
                </a:cubicBezTo>
                <a:cubicBezTo>
                  <a:pt x="757" y="812"/>
                  <a:pt x="790" y="792"/>
                  <a:pt x="790" y="792"/>
                </a:cubicBezTo>
                <a:cubicBezTo>
                  <a:pt x="812" y="677"/>
                  <a:pt x="808" y="570"/>
                  <a:pt x="750" y="472"/>
                </a:cubicBezTo>
                <a:cubicBezTo>
                  <a:pt x="742" y="432"/>
                  <a:pt x="722" y="405"/>
                  <a:pt x="710" y="368"/>
                </a:cubicBezTo>
                <a:cubicBezTo>
                  <a:pt x="707" y="328"/>
                  <a:pt x="707" y="287"/>
                  <a:pt x="702" y="248"/>
                </a:cubicBezTo>
                <a:cubicBezTo>
                  <a:pt x="693" y="187"/>
                  <a:pt x="640" y="139"/>
                  <a:pt x="606" y="96"/>
                </a:cubicBezTo>
                <a:cubicBezTo>
                  <a:pt x="590" y="76"/>
                  <a:pt x="586" y="47"/>
                  <a:pt x="566" y="32"/>
                </a:cubicBezTo>
                <a:cubicBezTo>
                  <a:pt x="544" y="16"/>
                  <a:pt x="515" y="14"/>
                  <a:pt x="494" y="0"/>
                </a:cubicBezTo>
                <a:cubicBezTo>
                  <a:pt x="483" y="2"/>
                  <a:pt x="449" y="10"/>
                  <a:pt x="438" y="16"/>
                </a:cubicBezTo>
                <a:cubicBezTo>
                  <a:pt x="429" y="20"/>
                  <a:pt x="423" y="30"/>
                  <a:pt x="414" y="32"/>
                </a:cubicBezTo>
                <a:cubicBezTo>
                  <a:pt x="400" y="33"/>
                  <a:pt x="387" y="26"/>
                  <a:pt x="374" y="24"/>
                </a:cubicBezTo>
                <a:close/>
              </a:path>
            </a:pathLst>
          </a:custGeom>
          <a:noFill/>
          <a:ln w="38100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5" name="Line 23"/>
          <p:cNvSpPr>
            <a:spLocks noChangeShapeType="1"/>
          </p:cNvSpPr>
          <p:nvPr/>
        </p:nvSpPr>
        <p:spPr bwMode="auto">
          <a:xfrm flipV="1">
            <a:off x="4229100" y="3365500"/>
            <a:ext cx="1104900" cy="1358900"/>
          </a:xfrm>
          <a:prstGeom prst="line">
            <a:avLst/>
          </a:prstGeom>
          <a:noFill/>
          <a:ln w="38100">
            <a:solidFill>
              <a:srgbClr val="CC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6" name="Freeform 26"/>
          <p:cNvSpPr>
            <a:spLocks/>
          </p:cNvSpPr>
          <p:nvPr/>
        </p:nvSpPr>
        <p:spPr bwMode="auto">
          <a:xfrm>
            <a:off x="2133600" y="4876800"/>
            <a:ext cx="1066800" cy="1295400"/>
          </a:xfrm>
          <a:custGeom>
            <a:avLst/>
            <a:gdLst>
              <a:gd name="T0" fmla="*/ 2147483647 w 672"/>
              <a:gd name="T1" fmla="*/ 2147483647 h 816"/>
              <a:gd name="T2" fmla="*/ 2147483647 w 672"/>
              <a:gd name="T3" fmla="*/ 2147483647 h 816"/>
              <a:gd name="T4" fmla="*/ 2147483647 w 672"/>
              <a:gd name="T5" fmla="*/ 2147483647 h 816"/>
              <a:gd name="T6" fmla="*/ 2147483647 w 672"/>
              <a:gd name="T7" fmla="*/ 2147483647 h 816"/>
              <a:gd name="T8" fmla="*/ 0 w 672"/>
              <a:gd name="T9" fmla="*/ 2147483647 h 816"/>
              <a:gd name="T10" fmla="*/ 2147483647 w 672"/>
              <a:gd name="T11" fmla="*/ 2147483647 h 816"/>
              <a:gd name="T12" fmla="*/ 2147483647 w 672"/>
              <a:gd name="T13" fmla="*/ 2147483647 h 816"/>
              <a:gd name="T14" fmla="*/ 2147483647 w 672"/>
              <a:gd name="T15" fmla="*/ 2147483647 h 816"/>
              <a:gd name="T16" fmla="*/ 2147483647 w 672"/>
              <a:gd name="T17" fmla="*/ 2147483647 h 816"/>
              <a:gd name="T18" fmla="*/ 2147483647 w 672"/>
              <a:gd name="T19" fmla="*/ 2147483647 h 816"/>
              <a:gd name="T20" fmla="*/ 2147483647 w 672"/>
              <a:gd name="T21" fmla="*/ 2147483647 h 816"/>
              <a:gd name="T22" fmla="*/ 2147483647 w 672"/>
              <a:gd name="T23" fmla="*/ 2147483647 h 816"/>
              <a:gd name="T24" fmla="*/ 2147483647 w 672"/>
              <a:gd name="T25" fmla="*/ 2147483647 h 816"/>
              <a:gd name="T26" fmla="*/ 2147483647 w 672"/>
              <a:gd name="T27" fmla="*/ 2147483647 h 816"/>
              <a:gd name="T28" fmla="*/ 2147483647 w 672"/>
              <a:gd name="T29" fmla="*/ 2147483647 h 816"/>
              <a:gd name="T30" fmla="*/ 2147483647 w 672"/>
              <a:gd name="T31" fmla="*/ 2147483647 h 816"/>
              <a:gd name="T32" fmla="*/ 2147483647 w 672"/>
              <a:gd name="T33" fmla="*/ 2147483647 h 816"/>
              <a:gd name="T34" fmla="*/ 2147483647 w 672"/>
              <a:gd name="T35" fmla="*/ 2147483647 h 816"/>
              <a:gd name="T36" fmla="*/ 2147483647 w 672"/>
              <a:gd name="T37" fmla="*/ 2147483647 h 816"/>
              <a:gd name="T38" fmla="*/ 2147483647 w 672"/>
              <a:gd name="T39" fmla="*/ 0 h 816"/>
              <a:gd name="T40" fmla="*/ 2147483647 w 672"/>
              <a:gd name="T41" fmla="*/ 2147483647 h 81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672"/>
              <a:gd name="T64" fmla="*/ 0 h 816"/>
              <a:gd name="T65" fmla="*/ 672 w 672"/>
              <a:gd name="T66" fmla="*/ 816 h 81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672" h="816">
                <a:moveTo>
                  <a:pt x="280" y="8"/>
                </a:moveTo>
                <a:cubicBezTo>
                  <a:pt x="265" y="17"/>
                  <a:pt x="244" y="19"/>
                  <a:pt x="232" y="32"/>
                </a:cubicBezTo>
                <a:cubicBezTo>
                  <a:pt x="226" y="37"/>
                  <a:pt x="228" y="48"/>
                  <a:pt x="224" y="56"/>
                </a:cubicBezTo>
                <a:cubicBezTo>
                  <a:pt x="190" y="116"/>
                  <a:pt x="204" y="101"/>
                  <a:pt x="144" y="112"/>
                </a:cubicBezTo>
                <a:cubicBezTo>
                  <a:pt x="43" y="178"/>
                  <a:pt x="26" y="372"/>
                  <a:pt x="0" y="448"/>
                </a:cubicBezTo>
                <a:cubicBezTo>
                  <a:pt x="6" y="516"/>
                  <a:pt x="1" y="605"/>
                  <a:pt x="80" y="632"/>
                </a:cubicBezTo>
                <a:cubicBezTo>
                  <a:pt x="112" y="680"/>
                  <a:pt x="209" y="717"/>
                  <a:pt x="264" y="736"/>
                </a:cubicBezTo>
                <a:cubicBezTo>
                  <a:pt x="288" y="744"/>
                  <a:pt x="312" y="752"/>
                  <a:pt x="336" y="760"/>
                </a:cubicBezTo>
                <a:cubicBezTo>
                  <a:pt x="344" y="762"/>
                  <a:pt x="360" y="768"/>
                  <a:pt x="360" y="768"/>
                </a:cubicBezTo>
                <a:cubicBezTo>
                  <a:pt x="372" y="804"/>
                  <a:pt x="359" y="787"/>
                  <a:pt x="400" y="800"/>
                </a:cubicBezTo>
                <a:cubicBezTo>
                  <a:pt x="416" y="804"/>
                  <a:pt x="448" y="816"/>
                  <a:pt x="448" y="816"/>
                </a:cubicBezTo>
                <a:cubicBezTo>
                  <a:pt x="501" y="813"/>
                  <a:pt x="554" y="812"/>
                  <a:pt x="608" y="808"/>
                </a:cubicBezTo>
                <a:cubicBezTo>
                  <a:pt x="616" y="807"/>
                  <a:pt x="626" y="805"/>
                  <a:pt x="632" y="800"/>
                </a:cubicBezTo>
                <a:cubicBezTo>
                  <a:pt x="637" y="794"/>
                  <a:pt x="635" y="783"/>
                  <a:pt x="640" y="776"/>
                </a:cubicBezTo>
                <a:cubicBezTo>
                  <a:pt x="649" y="759"/>
                  <a:pt x="672" y="728"/>
                  <a:pt x="672" y="728"/>
                </a:cubicBezTo>
                <a:cubicBezTo>
                  <a:pt x="665" y="512"/>
                  <a:pt x="664" y="477"/>
                  <a:pt x="624" y="304"/>
                </a:cubicBezTo>
                <a:cubicBezTo>
                  <a:pt x="615" y="266"/>
                  <a:pt x="576" y="149"/>
                  <a:pt x="544" y="128"/>
                </a:cubicBezTo>
                <a:cubicBezTo>
                  <a:pt x="528" y="117"/>
                  <a:pt x="496" y="96"/>
                  <a:pt x="496" y="96"/>
                </a:cubicBezTo>
                <a:cubicBezTo>
                  <a:pt x="485" y="80"/>
                  <a:pt x="482" y="54"/>
                  <a:pt x="464" y="48"/>
                </a:cubicBezTo>
                <a:cubicBezTo>
                  <a:pt x="420" y="33"/>
                  <a:pt x="379" y="14"/>
                  <a:pt x="336" y="0"/>
                </a:cubicBezTo>
                <a:cubicBezTo>
                  <a:pt x="290" y="9"/>
                  <a:pt x="309" y="8"/>
                  <a:pt x="280" y="8"/>
                </a:cubicBezTo>
                <a:close/>
              </a:path>
            </a:pathLst>
          </a:custGeom>
          <a:noFill/>
          <a:ln w="38100">
            <a:solidFill>
              <a:srgbClr val="FF6FC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7" name="Freeform 27"/>
          <p:cNvSpPr>
            <a:spLocks/>
          </p:cNvSpPr>
          <p:nvPr/>
        </p:nvSpPr>
        <p:spPr bwMode="auto">
          <a:xfrm>
            <a:off x="6870700" y="5372100"/>
            <a:ext cx="977900" cy="1181100"/>
          </a:xfrm>
          <a:custGeom>
            <a:avLst/>
            <a:gdLst>
              <a:gd name="T0" fmla="*/ 2147483647 w 672"/>
              <a:gd name="T1" fmla="*/ 2147483647 h 816"/>
              <a:gd name="T2" fmla="*/ 2147483647 w 672"/>
              <a:gd name="T3" fmla="*/ 2147483647 h 816"/>
              <a:gd name="T4" fmla="*/ 2147483647 w 672"/>
              <a:gd name="T5" fmla="*/ 2147483647 h 816"/>
              <a:gd name="T6" fmla="*/ 2147483647 w 672"/>
              <a:gd name="T7" fmla="*/ 2147483647 h 816"/>
              <a:gd name="T8" fmla="*/ 0 w 672"/>
              <a:gd name="T9" fmla="*/ 2147483647 h 816"/>
              <a:gd name="T10" fmla="*/ 2147483647 w 672"/>
              <a:gd name="T11" fmla="*/ 2147483647 h 816"/>
              <a:gd name="T12" fmla="*/ 2147483647 w 672"/>
              <a:gd name="T13" fmla="*/ 2147483647 h 816"/>
              <a:gd name="T14" fmla="*/ 2147483647 w 672"/>
              <a:gd name="T15" fmla="*/ 2147483647 h 816"/>
              <a:gd name="T16" fmla="*/ 2147483647 w 672"/>
              <a:gd name="T17" fmla="*/ 2147483647 h 816"/>
              <a:gd name="T18" fmla="*/ 2147483647 w 672"/>
              <a:gd name="T19" fmla="*/ 2147483647 h 816"/>
              <a:gd name="T20" fmla="*/ 2147483647 w 672"/>
              <a:gd name="T21" fmla="*/ 2147483647 h 816"/>
              <a:gd name="T22" fmla="*/ 2147483647 w 672"/>
              <a:gd name="T23" fmla="*/ 2147483647 h 816"/>
              <a:gd name="T24" fmla="*/ 2147483647 w 672"/>
              <a:gd name="T25" fmla="*/ 2147483647 h 816"/>
              <a:gd name="T26" fmla="*/ 2147483647 w 672"/>
              <a:gd name="T27" fmla="*/ 2147483647 h 816"/>
              <a:gd name="T28" fmla="*/ 2147483647 w 672"/>
              <a:gd name="T29" fmla="*/ 2147483647 h 816"/>
              <a:gd name="T30" fmla="*/ 2147483647 w 672"/>
              <a:gd name="T31" fmla="*/ 2147483647 h 816"/>
              <a:gd name="T32" fmla="*/ 2147483647 w 672"/>
              <a:gd name="T33" fmla="*/ 2147483647 h 816"/>
              <a:gd name="T34" fmla="*/ 2147483647 w 672"/>
              <a:gd name="T35" fmla="*/ 2147483647 h 816"/>
              <a:gd name="T36" fmla="*/ 2147483647 w 672"/>
              <a:gd name="T37" fmla="*/ 2147483647 h 816"/>
              <a:gd name="T38" fmla="*/ 2147483647 w 672"/>
              <a:gd name="T39" fmla="*/ 0 h 816"/>
              <a:gd name="T40" fmla="*/ 2147483647 w 672"/>
              <a:gd name="T41" fmla="*/ 2147483647 h 81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672"/>
              <a:gd name="T64" fmla="*/ 0 h 816"/>
              <a:gd name="T65" fmla="*/ 672 w 672"/>
              <a:gd name="T66" fmla="*/ 816 h 81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672" h="816">
                <a:moveTo>
                  <a:pt x="280" y="8"/>
                </a:moveTo>
                <a:cubicBezTo>
                  <a:pt x="265" y="17"/>
                  <a:pt x="244" y="19"/>
                  <a:pt x="232" y="32"/>
                </a:cubicBezTo>
                <a:cubicBezTo>
                  <a:pt x="226" y="37"/>
                  <a:pt x="228" y="48"/>
                  <a:pt x="224" y="56"/>
                </a:cubicBezTo>
                <a:cubicBezTo>
                  <a:pt x="190" y="116"/>
                  <a:pt x="204" y="101"/>
                  <a:pt x="144" y="112"/>
                </a:cubicBezTo>
                <a:cubicBezTo>
                  <a:pt x="43" y="178"/>
                  <a:pt x="26" y="372"/>
                  <a:pt x="0" y="448"/>
                </a:cubicBezTo>
                <a:cubicBezTo>
                  <a:pt x="6" y="516"/>
                  <a:pt x="1" y="605"/>
                  <a:pt x="80" y="632"/>
                </a:cubicBezTo>
                <a:cubicBezTo>
                  <a:pt x="112" y="680"/>
                  <a:pt x="209" y="717"/>
                  <a:pt x="264" y="736"/>
                </a:cubicBezTo>
                <a:cubicBezTo>
                  <a:pt x="288" y="744"/>
                  <a:pt x="312" y="752"/>
                  <a:pt x="336" y="760"/>
                </a:cubicBezTo>
                <a:cubicBezTo>
                  <a:pt x="344" y="762"/>
                  <a:pt x="360" y="768"/>
                  <a:pt x="360" y="768"/>
                </a:cubicBezTo>
                <a:cubicBezTo>
                  <a:pt x="372" y="804"/>
                  <a:pt x="359" y="787"/>
                  <a:pt x="400" y="800"/>
                </a:cubicBezTo>
                <a:cubicBezTo>
                  <a:pt x="416" y="804"/>
                  <a:pt x="448" y="816"/>
                  <a:pt x="448" y="816"/>
                </a:cubicBezTo>
                <a:cubicBezTo>
                  <a:pt x="501" y="813"/>
                  <a:pt x="554" y="812"/>
                  <a:pt x="608" y="808"/>
                </a:cubicBezTo>
                <a:cubicBezTo>
                  <a:pt x="616" y="807"/>
                  <a:pt x="626" y="805"/>
                  <a:pt x="632" y="800"/>
                </a:cubicBezTo>
                <a:cubicBezTo>
                  <a:pt x="637" y="794"/>
                  <a:pt x="635" y="783"/>
                  <a:pt x="640" y="776"/>
                </a:cubicBezTo>
                <a:cubicBezTo>
                  <a:pt x="649" y="759"/>
                  <a:pt x="672" y="728"/>
                  <a:pt x="672" y="728"/>
                </a:cubicBezTo>
                <a:cubicBezTo>
                  <a:pt x="665" y="512"/>
                  <a:pt x="664" y="477"/>
                  <a:pt x="624" y="304"/>
                </a:cubicBezTo>
                <a:cubicBezTo>
                  <a:pt x="615" y="266"/>
                  <a:pt x="576" y="149"/>
                  <a:pt x="544" y="128"/>
                </a:cubicBezTo>
                <a:cubicBezTo>
                  <a:pt x="528" y="117"/>
                  <a:pt x="496" y="96"/>
                  <a:pt x="496" y="96"/>
                </a:cubicBezTo>
                <a:cubicBezTo>
                  <a:pt x="485" y="80"/>
                  <a:pt x="482" y="54"/>
                  <a:pt x="464" y="48"/>
                </a:cubicBezTo>
                <a:cubicBezTo>
                  <a:pt x="420" y="33"/>
                  <a:pt x="379" y="14"/>
                  <a:pt x="336" y="0"/>
                </a:cubicBezTo>
                <a:cubicBezTo>
                  <a:pt x="290" y="9"/>
                  <a:pt x="309" y="8"/>
                  <a:pt x="280" y="8"/>
                </a:cubicBezTo>
                <a:close/>
              </a:path>
            </a:pathLst>
          </a:custGeom>
          <a:noFill/>
          <a:ln w="38100">
            <a:solidFill>
              <a:srgbClr val="FF6FC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8" name="Freeform 28"/>
          <p:cNvSpPr>
            <a:spLocks/>
          </p:cNvSpPr>
          <p:nvPr/>
        </p:nvSpPr>
        <p:spPr bwMode="auto">
          <a:xfrm>
            <a:off x="3124200" y="6172200"/>
            <a:ext cx="3848100" cy="412750"/>
          </a:xfrm>
          <a:custGeom>
            <a:avLst/>
            <a:gdLst>
              <a:gd name="T0" fmla="*/ 0 w 2424"/>
              <a:gd name="T1" fmla="*/ 0 h 260"/>
              <a:gd name="T2" fmla="*/ 2147483647 w 2424"/>
              <a:gd name="T3" fmla="*/ 2147483647 h 260"/>
              <a:gd name="T4" fmla="*/ 2147483647 w 2424"/>
              <a:gd name="T5" fmla="*/ 2147483647 h 260"/>
              <a:gd name="T6" fmla="*/ 0 60000 65536"/>
              <a:gd name="T7" fmla="*/ 0 60000 65536"/>
              <a:gd name="T8" fmla="*/ 0 60000 65536"/>
              <a:gd name="T9" fmla="*/ 0 w 2424"/>
              <a:gd name="T10" fmla="*/ 0 h 260"/>
              <a:gd name="T11" fmla="*/ 2424 w 2424"/>
              <a:gd name="T12" fmla="*/ 260 h 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24" h="260">
                <a:moveTo>
                  <a:pt x="0" y="0"/>
                </a:moveTo>
                <a:cubicBezTo>
                  <a:pt x="346" y="118"/>
                  <a:pt x="692" y="236"/>
                  <a:pt x="1096" y="248"/>
                </a:cubicBezTo>
                <a:cubicBezTo>
                  <a:pt x="1500" y="260"/>
                  <a:pt x="1962" y="166"/>
                  <a:pt x="2424" y="72"/>
                </a:cubicBezTo>
              </a:path>
            </a:pathLst>
          </a:custGeom>
          <a:noFill/>
          <a:ln w="38100">
            <a:solidFill>
              <a:srgbClr val="FF6FC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3981450"/>
            <a:ext cx="4249738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Two problems to solve:</a:t>
            </a:r>
            <a:br>
              <a:rPr lang="en-US" dirty="0" smtClean="0"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ea typeface="ＭＳ Ｐゴシック" charset="0"/>
                <a:cs typeface="ＭＳ Ｐゴシック" charset="0"/>
              </a:rPr>
              <a:t>1. Repeated </a:t>
            </a:r>
            <a:r>
              <a:rPr lang="en-US" dirty="0">
                <a:ea typeface="ＭＳ Ｐゴシック" charset="0"/>
                <a:cs typeface="ＭＳ Ｐゴシック" charset="0"/>
              </a:rPr>
              <a:t>work…</a:t>
            </a:r>
          </a:p>
        </p:txBody>
      </p:sp>
      <p:pic>
        <p:nvPicPr>
          <p:cNvPr id="8294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950" y="1797050"/>
            <a:ext cx="3067050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568450"/>
            <a:ext cx="31226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0" y="4244975"/>
            <a:ext cx="3937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0"/>
          <a:stretch>
            <a:fillRect/>
          </a:stretch>
        </p:blipFill>
        <p:spPr bwMode="auto">
          <a:xfrm>
            <a:off x="3116263" y="1625600"/>
            <a:ext cx="2832100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70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Two problems to solve: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2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. Choosing the correct parse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7498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How do we work out the correct attachment:</a:t>
            </a:r>
          </a:p>
          <a:p>
            <a:pPr lvl="1"/>
            <a:endParaRPr lang="en-US" dirty="0" smtClean="0"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dirty="0" smtClean="0">
                <a:ea typeface="ＭＳ Ｐゴシック" charset="0"/>
                <a:cs typeface="ＭＳ Ｐゴシック" charset="0"/>
              </a:rPr>
              <a:t>She saw the man with a telescope</a:t>
            </a:r>
          </a:p>
          <a:p>
            <a:pPr marL="0"/>
            <a:r>
              <a:rPr lang="en-US" dirty="0">
                <a:ea typeface="ＭＳ Ｐゴシック" charset="0"/>
                <a:cs typeface="ＭＳ Ｐゴシック" charset="0"/>
              </a:rPr>
              <a:t>Is the problem ‘AI complete’? Yes, but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…</a:t>
            </a:r>
            <a:endParaRPr lang="en-US" sz="2000" dirty="0" smtClean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Words </a:t>
            </a:r>
            <a:r>
              <a:rPr lang="en-US" dirty="0">
                <a:ea typeface="ＭＳ Ｐゴシック" charset="0"/>
                <a:cs typeface="ＭＳ Ｐゴシック" charset="0"/>
              </a:rPr>
              <a:t>are good predictors of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attachment</a:t>
            </a:r>
          </a:p>
          <a:p>
            <a:pPr lvl="2"/>
            <a:r>
              <a:rPr lang="en-US" dirty="0" smtClean="0">
                <a:ea typeface="ＭＳ Ｐゴシック" charset="0"/>
                <a:cs typeface="ＭＳ Ｐゴシック" charset="0"/>
              </a:rPr>
              <a:t>Even </a:t>
            </a:r>
            <a:r>
              <a:rPr lang="en-US" dirty="0">
                <a:ea typeface="ＭＳ Ｐゴシック" charset="0"/>
                <a:cs typeface="ＭＳ Ｐゴシック" charset="0"/>
              </a:rPr>
              <a:t>absent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full understanding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endParaRPr lang="en-US" dirty="0">
              <a:ea typeface="ＭＳ Ｐゴシック" charset="0"/>
            </a:endParaRPr>
          </a:p>
          <a:p>
            <a:pPr lvl="1" eaLnBrk="1" hangingPunct="1"/>
            <a:r>
              <a:rPr lang="en-US" dirty="0">
                <a:ea typeface="ＭＳ Ｐゴシック" charset="0"/>
              </a:rPr>
              <a:t>Moscow sent more than 100,000 soldiers into Afghanistan </a:t>
            </a:r>
            <a:r>
              <a:rPr lang="en-US" dirty="0" smtClean="0">
                <a:ea typeface="ＭＳ Ｐゴシック" charset="0"/>
              </a:rPr>
              <a:t>…</a:t>
            </a:r>
          </a:p>
          <a:p>
            <a:pPr lvl="1" eaLnBrk="1" hangingPunct="1"/>
            <a:endParaRPr lang="en-US" dirty="0">
              <a:ea typeface="ＭＳ Ｐゴシック" charset="0"/>
            </a:endParaRPr>
          </a:p>
          <a:p>
            <a:pPr lvl="1" eaLnBrk="1" hangingPunct="1"/>
            <a:r>
              <a:rPr lang="en-US" dirty="0">
                <a:ea typeface="ＭＳ Ｐゴシック" charset="0"/>
              </a:rPr>
              <a:t>Sydney Water breached an agreement with NSW Health </a:t>
            </a:r>
            <a:r>
              <a:rPr lang="en-US" dirty="0" smtClean="0">
                <a:ea typeface="ＭＳ Ｐゴシック" charset="0"/>
              </a:rPr>
              <a:t>…</a:t>
            </a:r>
          </a:p>
          <a:p>
            <a:pPr lvl="1" eaLnBrk="1" hangingPunct="1"/>
            <a:endParaRPr lang="en-US" dirty="0">
              <a:ea typeface="ＭＳ Ｐゴシック" charset="0"/>
            </a:endParaRPr>
          </a:p>
          <a:p>
            <a:r>
              <a:rPr lang="en-US" dirty="0" smtClean="0">
                <a:ea typeface="ＭＳ Ｐゴシック" charset="0"/>
              </a:rPr>
              <a:t>Our statistical parsers will try to exploit such statistics.</a:t>
            </a:r>
          </a:p>
          <a:p>
            <a:pPr lvl="1" eaLnBrk="1" hangingPunct="1"/>
            <a:endParaRPr lang="en-US" dirty="0">
              <a:ea typeface="ＭＳ Ｐゴシック" charset="0"/>
            </a:endParaRPr>
          </a:p>
          <a:p>
            <a:pPr lvl="1" eaLnBrk="1" hangingPunct="1"/>
            <a:endParaRPr lang="en-US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8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Statistical Natural Language Parsing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 exponential number of attachments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9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3x4-class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NLP3x4-class.potx</Template>
  <TotalTime>15278</TotalTime>
  <Words>1314</Words>
  <Application>Microsoft Office PowerPoint</Application>
  <PresentationFormat>On-screen Show (4:3)</PresentationFormat>
  <Paragraphs>220</Paragraphs>
  <Slides>23</Slides>
  <Notes>20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ＭＳ Ｐゴシック</vt:lpstr>
      <vt:lpstr>Arial</vt:lpstr>
      <vt:lpstr>Calibri</vt:lpstr>
      <vt:lpstr>Lucida Sans</vt:lpstr>
      <vt:lpstr>Symbol</vt:lpstr>
      <vt:lpstr>Tahoma</vt:lpstr>
      <vt:lpstr>Times</vt:lpstr>
      <vt:lpstr>Times New Roman</vt:lpstr>
      <vt:lpstr>NLP3x4-class</vt:lpstr>
      <vt:lpstr>Statistical Natural Language Parsing</vt:lpstr>
      <vt:lpstr>Two views of linguistic structure:  1. Constituency (phrase structure)</vt:lpstr>
      <vt:lpstr>Two views of linguistic structure:  1. Constituency (phrase structure)</vt:lpstr>
      <vt:lpstr>PowerPoint Presentation</vt:lpstr>
      <vt:lpstr>Headed phrase structure</vt:lpstr>
      <vt:lpstr>Two views of linguistic structure:  2. Dependency structure</vt:lpstr>
      <vt:lpstr>Two views of linguistic structure:  2. Dependency structure</vt:lpstr>
      <vt:lpstr>Statistical Natural Language Parsing</vt:lpstr>
      <vt:lpstr>Statistical Natural Language Parsing</vt:lpstr>
      <vt:lpstr>Pre 1990 (“Classical”) NLP Parsing</vt:lpstr>
      <vt:lpstr>Classical NLP Parsing: The problem and its solution</vt:lpstr>
      <vt:lpstr>The rise of annotated data: The Penn Treebank</vt:lpstr>
      <vt:lpstr>The rise of annotated data</vt:lpstr>
      <vt:lpstr>Statistical parsing applications</vt:lpstr>
      <vt:lpstr>Statistical Natural Language Parsing</vt:lpstr>
      <vt:lpstr>Statistical Natural Language Parsing</vt:lpstr>
      <vt:lpstr>Attachment ambiguities</vt:lpstr>
      <vt:lpstr>Attachment ambiguities</vt:lpstr>
      <vt:lpstr>Quiz Question!</vt:lpstr>
      <vt:lpstr>Two problems to solve: 1. Repeated work…</vt:lpstr>
      <vt:lpstr>Two problems to solve: 1. Repeated work…</vt:lpstr>
      <vt:lpstr>Two problems to solve: 2. Choosing the correct parse</vt:lpstr>
      <vt:lpstr>Statistical Natural Language Parsing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yasaman.boreshban@gmail.com</cp:lastModifiedBy>
  <cp:revision>111</cp:revision>
  <cp:lastPrinted>2009-04-20T16:46:08Z</cp:lastPrinted>
  <dcterms:created xsi:type="dcterms:W3CDTF">2010-04-19T15:31:24Z</dcterms:created>
  <dcterms:modified xsi:type="dcterms:W3CDTF">2021-05-10T13:44:41Z</dcterms:modified>
</cp:coreProperties>
</file>