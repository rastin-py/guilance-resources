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9" r:id="rId1"/>
  </p:sldMasterIdLst>
  <p:notesMasterIdLst>
    <p:notesMasterId r:id="rId37"/>
  </p:notesMasterIdLst>
  <p:handoutMasterIdLst>
    <p:handoutMasterId r:id="rId38"/>
  </p:handoutMasterIdLst>
  <p:sldIdLst>
    <p:sldId id="409" r:id="rId2"/>
    <p:sldId id="410" r:id="rId3"/>
    <p:sldId id="411" r:id="rId4"/>
    <p:sldId id="412" r:id="rId5"/>
    <p:sldId id="413" r:id="rId6"/>
    <p:sldId id="414" r:id="rId7"/>
    <p:sldId id="415" r:id="rId8"/>
    <p:sldId id="454" r:id="rId9"/>
    <p:sldId id="456" r:id="rId10"/>
    <p:sldId id="416" r:id="rId11"/>
    <p:sldId id="457" r:id="rId12"/>
    <p:sldId id="453" r:id="rId13"/>
    <p:sldId id="417" r:id="rId14"/>
    <p:sldId id="418" r:id="rId15"/>
    <p:sldId id="419" r:id="rId16"/>
    <p:sldId id="420" r:id="rId17"/>
    <p:sldId id="421" r:id="rId18"/>
    <p:sldId id="422" r:id="rId19"/>
    <p:sldId id="458" r:id="rId20"/>
    <p:sldId id="423" r:id="rId21"/>
    <p:sldId id="424" r:id="rId22"/>
    <p:sldId id="425" r:id="rId23"/>
    <p:sldId id="426" r:id="rId24"/>
    <p:sldId id="427" r:id="rId25"/>
    <p:sldId id="428" r:id="rId26"/>
    <p:sldId id="429" r:id="rId27"/>
    <p:sldId id="430" r:id="rId28"/>
    <p:sldId id="459" r:id="rId29"/>
    <p:sldId id="431" r:id="rId30"/>
    <p:sldId id="432" r:id="rId31"/>
    <p:sldId id="433" r:id="rId32"/>
    <p:sldId id="434" r:id="rId33"/>
    <p:sldId id="462" r:id="rId34"/>
    <p:sldId id="436" r:id="rId35"/>
    <p:sldId id="460" r:id="rId36"/>
  </p:sldIdLst>
  <p:sldSz cx="9144000" cy="5143500" type="screen16x9"/>
  <p:notesSz cx="68453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A4001D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406" autoAdjust="0"/>
    <p:restoredTop sz="86867" autoAdjust="0"/>
  </p:normalViewPr>
  <p:slideViewPr>
    <p:cSldViewPr>
      <p:cViewPr varScale="1">
        <p:scale>
          <a:sx n="79" d="100"/>
          <a:sy n="79" d="100"/>
        </p:scale>
        <p:origin x="498" y="7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-2224" y="-112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fld id="{8A029216-D615-3945-A1F3-D96FC886D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3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1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5EBA51-E221-6F4B-9ECF-31AD9B977258}" type="slidenum">
              <a:rPr lang="en-US"/>
              <a:pPr/>
              <a:t>2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19174B-7304-3A45-9ED1-3169AE6E584D}" type="slidenum">
              <a:rPr lang="en-US"/>
              <a:pPr/>
              <a:t>3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651CC7-184B-FE41-B411-1713AAE7DA86}" type="slidenum">
              <a:rPr lang="en-US"/>
              <a:pPr/>
              <a:t>4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9EE444-6282-C242-93C0-393321149F9D}" type="slidenum">
              <a:rPr lang="en-US"/>
              <a:pPr/>
              <a:t>5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2pPr>
            <a:lvl3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3pPr>
            <a:lvl4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4pPr>
            <a:lvl5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2DBBC272-86A8-B54C-AFFC-48DBE25965CF}" type="slidenum">
              <a:rPr lang="en-US" sz="1200">
                <a:solidFill>
                  <a:schemeClr val="tx1"/>
                </a:solidFill>
                <a:latin typeface="Times New Roman" charset="0"/>
              </a:rPr>
              <a:pPr eaLnBrk="1" hangingPunct="1"/>
              <a:t>8</a:t>
            </a:fld>
            <a:endParaRPr lang="en-US" sz="120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2pPr>
            <a:lvl3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3pPr>
            <a:lvl4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4pPr>
            <a:lvl5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D86BE477-4654-8746-8CBD-AE3C40EAA3DF}" type="slidenum">
              <a:rPr lang="en-US" sz="1200">
                <a:solidFill>
                  <a:schemeClr val="tx1"/>
                </a:solidFill>
                <a:latin typeface="Times New Roman" charset="0"/>
              </a:rPr>
              <a:pPr eaLnBrk="1" hangingPunct="1"/>
              <a:t>9</a:t>
            </a:fld>
            <a:endParaRPr lang="en-US" sz="120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11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12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A3B974-C2D4-8B41-AE93-F0BDF356406D}" type="slidenum">
              <a:rPr lang="en-US"/>
              <a:pPr/>
              <a:t>15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54C909-A1CF-2E43-AF34-84A05567BE64}" type="slidenum">
              <a:rPr lang="en-US"/>
              <a:pPr/>
              <a:t>16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A3B974-C2D4-8B41-AE93-F0BDF356406D}" type="slidenum">
              <a:rPr lang="en-US"/>
              <a:pPr/>
              <a:t>17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AD5FB1-F71F-D44B-8F15-528B3F5166D9}" type="slidenum">
              <a:rPr lang="en-US"/>
              <a:pPr/>
              <a:t>18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19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20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3C6E27-0B5E-554F-99E3-D944B2DAB7CD}" type="slidenum">
              <a:rPr lang="en-US"/>
              <a:pPr/>
              <a:t>21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A3B974-C2D4-8B41-AE93-F0BDF356406D}" type="slidenum">
              <a:rPr lang="en-US"/>
              <a:pPr/>
              <a:t>22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5EC786-90C9-B845-9111-8E3E763FE7DB}" type="slidenum">
              <a:rPr lang="en-US"/>
              <a:pPr/>
              <a:t>25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651CC7-184B-FE41-B411-1713AAE7DA86}" type="slidenum">
              <a:rPr lang="en-US"/>
              <a:pPr/>
              <a:t>26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E73B70-6BD1-6D4B-9F6E-5CC283986628}" type="slidenum">
              <a:rPr lang="en-US"/>
              <a:pPr/>
              <a:t>27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28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29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2C5E02-D1A9-3348-91F2-7B092968B812}" type="slidenum">
              <a:rPr lang="en-US"/>
              <a:pPr/>
              <a:t>30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070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35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510778"/>
            <a:ext cx="3890964" cy="1298972"/>
          </a:xfrm>
        </p:spPr>
        <p:txBody>
          <a:bodyPr/>
          <a:lstStyle>
            <a:lvl1pPr algn="ctr"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2876550"/>
            <a:ext cx="3886200" cy="1676400"/>
          </a:xfrm>
        </p:spPr>
        <p:txBody>
          <a:bodyPr/>
          <a:lstStyle>
            <a:lvl1pPr marL="0" indent="0" algn="ctr">
              <a:spcBef>
                <a:spcPts val="900"/>
              </a:spcBef>
              <a:buFont typeface="Times" pitchFamily="-65" charset="0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4705350"/>
            <a:ext cx="12192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334000" y="4705350"/>
            <a:ext cx="19050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9" name="Picture 8" descr="wordcloud2.jpg"/>
          <p:cNvPicPr>
            <a:picLocks noChangeAspect="1"/>
          </p:cNvPicPr>
          <p:nvPr userDrawn="1"/>
        </p:nvPicPr>
        <p:blipFill rotWithShape="1">
          <a:blip r:embed="rId2"/>
          <a:srcRect l="19740" t="8415" r="20308" b="8153"/>
          <a:stretch/>
        </p:blipFill>
        <p:spPr>
          <a:xfrm>
            <a:off x="781451" y="165818"/>
            <a:ext cx="2647549" cy="4768132"/>
          </a:xfrm>
          <a:prstGeom prst="rect">
            <a:avLst/>
          </a:prstGeom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0" y="4705350"/>
            <a:ext cx="765174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4C7FEE-6B48-4643-BCFB-F13B0E13E17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1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333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17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2BDC8F-D922-0A4E-AAA0-9C7D97FF3D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3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096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667000" y="468630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C7A63A-31A1-2C4C-95AA-A445DBCAB17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13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7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C7101-16EA-C942-850C-355264FDE9E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2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8E5E2-1321-4548-96C8-615581C5A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7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750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343150"/>
            <a:ext cx="3008313" cy="22514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29988-E849-C549-AA67-252EA40F09C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12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7882B1-C6D6-A945-BB8B-B7B1B12471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4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DFA8D9-15F1-AF4D-8149-0C26EB27AC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8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285750"/>
            <a:ext cx="2114550" cy="44005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6191250" cy="44005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57BED9-9427-674C-8047-314E304C86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81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00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Narrow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6858000" cy="3333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51816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286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706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mplete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68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52550"/>
            <a:ext cx="777240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480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43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fld id="{91F816EA-24CC-2048-859A-C5EA9F27539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4056" y="325348"/>
            <a:ext cx="868944" cy="874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" y="8750"/>
            <a:ext cx="12954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100" dirty="0" smtClean="0">
                <a:solidFill>
                  <a:srgbClr val="A4001D"/>
                </a:solidFill>
                <a:latin typeface="+mn-lt"/>
              </a:rPr>
              <a:t>Dan Jurafsky</a:t>
            </a:r>
            <a:endParaRPr lang="en-US" sz="1100" dirty="0">
              <a:solidFill>
                <a:srgbClr val="A4001D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1" r:id="rId13"/>
    <p:sldLayoutId id="2147483712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685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2pPr>
      <a:lvl3pPr marL="1028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3pPr>
      <a:lvl4pPr marL="1371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4pPr>
      <a:lvl5pPr marL="17145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5pPr>
      <a:lvl6pPr marL="2171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6pPr>
      <a:lvl7pPr marL="26289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7pPr>
      <a:lvl8pPr marL="30861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8pPr>
      <a:lvl9pPr marL="35433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 smtClean="0"/>
              <a:t>Minimum Edit Distance</a:t>
            </a:r>
            <a:endParaRPr lang="en-US" sz="4400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 smtClean="0">
                <a:solidFill>
                  <a:srgbClr val="A50021"/>
                </a:solidFill>
                <a:latin typeface="Calibri" charset="0"/>
              </a:rPr>
              <a:t>Definition of Minimum Edit Distance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23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How similar are two strings?</a:t>
            </a:r>
            <a:endParaRPr lang="en-US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352550"/>
            <a:ext cx="3886200" cy="3429000"/>
          </a:xfrm>
        </p:spPr>
        <p:txBody>
          <a:bodyPr/>
          <a:lstStyle/>
          <a:p>
            <a:r>
              <a:rPr lang="en-US" dirty="0" smtClean="0"/>
              <a:t>Spell correction</a:t>
            </a:r>
            <a:endParaRPr lang="en-US" dirty="0"/>
          </a:p>
          <a:p>
            <a:pPr lvl="1"/>
            <a:r>
              <a:rPr lang="en-US" dirty="0" smtClean="0"/>
              <a:t>The user typed “</a:t>
            </a:r>
            <a:r>
              <a:rPr lang="en-US" dirty="0" err="1" smtClean="0"/>
              <a:t>graffe</a:t>
            </a:r>
            <a:r>
              <a:rPr lang="en-US" dirty="0" smtClean="0"/>
              <a:t>”</a:t>
            </a:r>
          </a:p>
          <a:p>
            <a:pPr marL="457200" lvl="1" indent="0">
              <a:buNone/>
            </a:pPr>
            <a:r>
              <a:rPr lang="en-US" dirty="0"/>
              <a:t>W</a:t>
            </a:r>
            <a:r>
              <a:rPr lang="en-US" dirty="0" smtClean="0"/>
              <a:t>hich is closest? </a:t>
            </a:r>
          </a:p>
          <a:p>
            <a:pPr lvl="2">
              <a:lnSpc>
                <a:spcPct val="80000"/>
              </a:lnSpc>
            </a:pPr>
            <a:r>
              <a:rPr lang="en-US" dirty="0" err="1"/>
              <a:t>g</a:t>
            </a:r>
            <a:r>
              <a:rPr lang="en-US" dirty="0" err="1" smtClean="0"/>
              <a:t>raf</a:t>
            </a:r>
            <a:endParaRPr lang="en-US" dirty="0"/>
          </a:p>
          <a:p>
            <a:pPr lvl="2">
              <a:lnSpc>
                <a:spcPct val="80000"/>
              </a:lnSpc>
            </a:pPr>
            <a:r>
              <a:rPr lang="en-US" dirty="0"/>
              <a:t>g</a:t>
            </a:r>
            <a:r>
              <a:rPr lang="en-US" dirty="0" smtClean="0"/>
              <a:t>raft</a:t>
            </a:r>
            <a:endParaRPr lang="en-US" dirty="0"/>
          </a:p>
          <a:p>
            <a:pPr lvl="2">
              <a:lnSpc>
                <a:spcPct val="80000"/>
              </a:lnSpc>
            </a:pPr>
            <a:r>
              <a:rPr lang="en-US" dirty="0" smtClean="0"/>
              <a:t>grail</a:t>
            </a:r>
            <a:endParaRPr lang="en-US" dirty="0"/>
          </a:p>
          <a:p>
            <a:pPr lvl="2">
              <a:lnSpc>
                <a:spcPct val="80000"/>
              </a:lnSpc>
            </a:pPr>
            <a:r>
              <a:rPr lang="en-US" dirty="0" smtClean="0"/>
              <a:t>giraffe</a:t>
            </a:r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657600" y="1352550"/>
            <a:ext cx="5257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r>
              <a:rPr lang="en-US" dirty="0" smtClean="0"/>
              <a:t>Computational Biology</a:t>
            </a:r>
          </a:p>
          <a:p>
            <a:pPr lvl="1"/>
            <a:r>
              <a:rPr lang="en-US" dirty="0" smtClean="0"/>
              <a:t>Align two sequences of nucleotides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Resulting alignment: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81000" y="4248150"/>
            <a:ext cx="853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r>
              <a:rPr lang="en-US" sz="2000" dirty="0" smtClean="0"/>
              <a:t>Also for Machine Translation, Information Extraction, Speech Recognition</a:t>
            </a:r>
            <a:endParaRPr lang="en-US" sz="2000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495800" y="2266950"/>
            <a:ext cx="4342338" cy="58477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AGGCTATCACCTGACCTCCAGGCCGATGCCC</a:t>
            </a:r>
          </a:p>
          <a:p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TAGCTATCACGACCGCGGTCGATTTGCCCGAC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4341934" y="3311664"/>
            <a:ext cx="4802066" cy="70788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CT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CA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C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---</a:t>
            </a:r>
          </a:p>
          <a:p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TT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GAC</a:t>
            </a:r>
          </a:p>
        </p:txBody>
      </p:sp>
    </p:spTree>
    <p:extLst>
      <p:ext uri="{BB962C8B-B14F-4D97-AF65-F5344CB8AC3E}">
        <p14:creationId xmlns:p14="http://schemas.microsoft.com/office/powerpoint/2010/main" val="407746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Edit Distance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The minimum edit distance between two strings</a:t>
            </a:r>
          </a:p>
          <a:p>
            <a:r>
              <a:rPr lang="en-US"/>
              <a:t>Is the minimum number of editing operations</a:t>
            </a:r>
          </a:p>
          <a:p>
            <a:pPr lvl="1"/>
            <a:r>
              <a:rPr lang="en-US"/>
              <a:t>Insertion</a:t>
            </a:r>
          </a:p>
          <a:p>
            <a:pPr lvl="1"/>
            <a:r>
              <a:rPr lang="en-US"/>
              <a:t>Deletion</a:t>
            </a:r>
          </a:p>
          <a:p>
            <a:pPr lvl="1"/>
            <a:r>
              <a:rPr lang="en-US"/>
              <a:t>Substitution</a:t>
            </a:r>
          </a:p>
          <a:p>
            <a:r>
              <a:rPr lang="en-US"/>
              <a:t>Needed to transform one into the other</a:t>
            </a:r>
          </a:p>
        </p:txBody>
      </p:sp>
    </p:spTree>
    <p:extLst>
      <p:ext uri="{BB962C8B-B14F-4D97-AF65-F5344CB8AC3E}">
        <p14:creationId xmlns:p14="http://schemas.microsoft.com/office/powerpoint/2010/main" val="285343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Minimum Edit Distance</a:t>
            </a:r>
          </a:p>
        </p:txBody>
      </p:sp>
      <p:sp>
        <p:nvSpPr>
          <p:cNvPr id="75780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Two strings and their </a:t>
            </a:r>
            <a:r>
              <a:rPr lang="en-US" b="1" dirty="0" smtClean="0"/>
              <a:t>alignment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5" name="Picture 6" descr="align1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2038350"/>
            <a:ext cx="52959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9830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Minimum Edit Distance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0" y="3257550"/>
            <a:ext cx="7924800" cy="1885950"/>
          </a:xfrm>
        </p:spPr>
        <p:txBody>
          <a:bodyPr/>
          <a:lstStyle/>
          <a:p>
            <a:r>
              <a:rPr lang="en-US" dirty="0"/>
              <a:t>If each operation has cost of 1</a:t>
            </a:r>
          </a:p>
          <a:p>
            <a:pPr lvl="1"/>
            <a:r>
              <a:rPr lang="en-US" dirty="0"/>
              <a:t>Distance between these is 5</a:t>
            </a:r>
          </a:p>
          <a:p>
            <a:r>
              <a:rPr lang="en-US" dirty="0"/>
              <a:t>If substitutions cost 2 (</a:t>
            </a:r>
            <a:r>
              <a:rPr lang="en-US" dirty="0" err="1"/>
              <a:t>Levenshtein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Distance between them is 8</a:t>
            </a:r>
          </a:p>
        </p:txBody>
      </p:sp>
      <p:pic>
        <p:nvPicPr>
          <p:cNvPr id="5" name="Picture 4" descr="align2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1200150"/>
            <a:ext cx="3644900" cy="2038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3909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Alignment in Computational Biology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790950"/>
          </a:xfrm>
        </p:spPr>
        <p:txBody>
          <a:bodyPr/>
          <a:lstStyle/>
          <a:p>
            <a:r>
              <a:rPr lang="en-US" dirty="0" smtClean="0"/>
              <a:t>Given a sequence of bases</a:t>
            </a:r>
          </a:p>
          <a:p>
            <a:endParaRPr lang="en-US" dirty="0"/>
          </a:p>
          <a:p>
            <a:pPr marL="0" indent="0">
              <a:lnSpc>
                <a:spcPct val="140000"/>
              </a:lnSpc>
              <a:buNone/>
            </a:pPr>
            <a:endParaRPr lang="en-US" dirty="0"/>
          </a:p>
          <a:p>
            <a:r>
              <a:rPr lang="en-US" dirty="0" smtClean="0"/>
              <a:t>An alignment: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Given two sequences, align each letter to a letter or gap</a:t>
            </a:r>
            <a:endParaRPr lang="en-US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990600" y="3333750"/>
            <a:ext cx="7018418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CT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CA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C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---</a:t>
            </a:r>
          </a:p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GAC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600200" y="1962150"/>
            <a:ext cx="6094938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AGGCTATCACCTGACCTCCAGGCCGATGCCC</a:t>
            </a:r>
          </a:p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TAGCTATCACGACCGCGGTCGATTTGCCCGAC</a:t>
            </a:r>
          </a:p>
        </p:txBody>
      </p:sp>
    </p:spTree>
    <p:extLst>
      <p:ext uri="{BB962C8B-B14F-4D97-AF65-F5344CB8AC3E}">
        <p14:creationId xmlns:p14="http://schemas.microsoft.com/office/powerpoint/2010/main" val="91610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7150"/>
            <a:ext cx="7467600" cy="742950"/>
          </a:xfrm>
        </p:spPr>
        <p:txBody>
          <a:bodyPr/>
          <a:lstStyle/>
          <a:p>
            <a:r>
              <a:rPr lang="en-US" dirty="0"/>
              <a:t>Other uses of Edit Distance in </a:t>
            </a:r>
            <a:r>
              <a:rPr lang="en-US" dirty="0" smtClean="0"/>
              <a:t>NLP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504950"/>
            <a:ext cx="8991600" cy="3429000"/>
          </a:xfrm>
        </p:spPr>
        <p:txBody>
          <a:bodyPr/>
          <a:lstStyle/>
          <a:p>
            <a:r>
              <a:rPr lang="en-US" dirty="0"/>
              <a:t>Evaluating Machine Translation and speech recognition</a:t>
            </a:r>
          </a:p>
          <a:p>
            <a:pPr>
              <a:buNone/>
            </a:pPr>
            <a:r>
              <a:rPr lang="en-US" sz="1800" b="1" dirty="0" smtClean="0">
                <a:latin typeface="Courier"/>
                <a:cs typeface="Courier"/>
              </a:rPr>
              <a:t>R </a:t>
            </a:r>
            <a:r>
              <a:rPr lang="en-US" sz="1800" dirty="0" smtClean="0">
                <a:latin typeface="Courier"/>
                <a:cs typeface="Courier"/>
              </a:rPr>
              <a:t>Spokesman confirms    senior government adviser was shot</a:t>
            </a:r>
          </a:p>
          <a:p>
            <a:pPr>
              <a:buNone/>
            </a:pPr>
            <a:r>
              <a:rPr lang="en-US" sz="1800" b="1" dirty="0" smtClean="0">
                <a:latin typeface="Courier"/>
                <a:cs typeface="Courier"/>
              </a:rPr>
              <a:t>H </a:t>
            </a:r>
            <a:r>
              <a:rPr lang="en-US" sz="1800" dirty="0" smtClean="0">
                <a:latin typeface="Courier"/>
                <a:cs typeface="Courier"/>
              </a:rPr>
              <a:t>Spokesman said    the senior            adviser was shot dead</a:t>
            </a:r>
          </a:p>
          <a:p>
            <a:pPr>
              <a:buNone/>
            </a:pPr>
            <a:r>
              <a:rPr lang="en-US" sz="1800" dirty="0" smtClean="0">
                <a:latin typeface="Courier"/>
                <a:cs typeface="Courier"/>
              </a:rPr>
              <a:t>              S      I              D                        I</a:t>
            </a:r>
          </a:p>
          <a:p>
            <a:r>
              <a:rPr lang="en-US" dirty="0" smtClean="0"/>
              <a:t>Named Entity </a:t>
            </a:r>
            <a:r>
              <a:rPr lang="en-US" dirty="0"/>
              <a:t>Extraction and </a:t>
            </a:r>
            <a:r>
              <a:rPr lang="en-US" dirty="0" smtClean="0"/>
              <a:t>Entity </a:t>
            </a:r>
            <a:r>
              <a:rPr lang="en-US" dirty="0" err="1" smtClean="0"/>
              <a:t>Coreference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IBM Inc</a:t>
            </a:r>
            <a:r>
              <a:rPr lang="en-US" dirty="0"/>
              <a:t>. announced today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IBM </a:t>
            </a:r>
            <a:r>
              <a:rPr lang="en-US" dirty="0"/>
              <a:t>profits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Stanford President John Hennessy </a:t>
            </a:r>
            <a:r>
              <a:rPr lang="en-US" dirty="0"/>
              <a:t>announced yesterday</a:t>
            </a:r>
          </a:p>
          <a:p>
            <a:pPr lvl="1"/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Stanford University President John Hennessy</a:t>
            </a:r>
          </a:p>
          <a:p>
            <a:pPr lvl="1"/>
            <a:endParaRPr lang="en-US" dirty="0"/>
          </a:p>
          <a:p>
            <a:pPr>
              <a:buNone/>
            </a:pPr>
            <a:endParaRPr lang="en-US" sz="1800" dirty="0" smtClean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98157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How to find the Min Edit Distance?</a:t>
            </a:r>
            <a:endParaRPr lang="en-US" dirty="0"/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Searching for a path (sequence of edits) from the start string to the final string:</a:t>
            </a:r>
          </a:p>
          <a:p>
            <a:pPr lvl="1"/>
            <a:r>
              <a:rPr lang="en-US" b="1" dirty="0" smtClean="0"/>
              <a:t>Initial state</a:t>
            </a:r>
            <a:r>
              <a:rPr lang="en-US" dirty="0" smtClean="0"/>
              <a:t>: the word we’re transforming</a:t>
            </a:r>
          </a:p>
          <a:p>
            <a:pPr lvl="1"/>
            <a:r>
              <a:rPr lang="en-US" b="1" dirty="0" smtClean="0"/>
              <a:t>Operators</a:t>
            </a:r>
            <a:r>
              <a:rPr lang="en-US" dirty="0" smtClean="0"/>
              <a:t>: insert, delete, substitute</a:t>
            </a:r>
          </a:p>
          <a:p>
            <a:pPr lvl="1"/>
            <a:r>
              <a:rPr lang="en-US" b="1" dirty="0" smtClean="0"/>
              <a:t>Goal state</a:t>
            </a:r>
            <a:r>
              <a:rPr lang="en-US" dirty="0" smtClean="0"/>
              <a:t>:  the word we’re trying to get to</a:t>
            </a:r>
          </a:p>
          <a:p>
            <a:pPr lvl="1"/>
            <a:r>
              <a:rPr lang="en-US" b="1" dirty="0" smtClean="0"/>
              <a:t>Path cost</a:t>
            </a:r>
            <a:r>
              <a:rPr lang="en-US" dirty="0" smtClean="0"/>
              <a:t>: what we want to minimize: the number of edits</a:t>
            </a:r>
          </a:p>
          <a:p>
            <a:endParaRPr lang="en-US" dirty="0"/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2pPr>
            <a:lvl3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3pPr>
            <a:lvl4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4pPr>
            <a:lvl5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9pPr>
          </a:lstStyle>
          <a:p>
            <a:fld id="{A3CF9962-03DC-2041-84E0-503C14DE85DC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3" descr="inten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638550"/>
            <a:ext cx="5716386" cy="137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415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Minimum Edit as Search</a:t>
            </a:r>
            <a:endParaRPr lang="en-US" dirty="0"/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But the space of all edit sequences is huge!</a:t>
            </a:r>
          </a:p>
          <a:p>
            <a:pPr lvl="1"/>
            <a:r>
              <a:rPr lang="en-US" smtClean="0"/>
              <a:t>We can’t afford to navigate naïvely</a:t>
            </a:r>
          </a:p>
          <a:p>
            <a:pPr lvl="1"/>
            <a:r>
              <a:rPr lang="en-US" smtClean="0"/>
              <a:t>Lots of distinct paths wind up at the same state.</a:t>
            </a:r>
          </a:p>
          <a:p>
            <a:pPr lvl="2"/>
            <a:r>
              <a:rPr lang="en-US" smtClean="0"/>
              <a:t>We don’t have to keep track of all of them</a:t>
            </a:r>
          </a:p>
          <a:p>
            <a:pPr lvl="2"/>
            <a:r>
              <a:rPr lang="en-US" smtClean="0"/>
              <a:t>Just the shortest path to each of those revisted states.</a:t>
            </a:r>
          </a:p>
          <a:p>
            <a:endParaRPr lang="en-US" dirty="0"/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2pPr>
            <a:lvl3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3pPr>
            <a:lvl4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4pPr>
            <a:lvl5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9pPr>
          </a:lstStyle>
          <a:p>
            <a:fld id="{C4191803-DA13-374C-8019-58379243383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6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Min Edit Distance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/>
              <a:t>For two </a:t>
            </a:r>
            <a:r>
              <a:rPr lang="en-US" sz="2800" dirty="0" smtClean="0"/>
              <a:t>strings</a:t>
            </a:r>
          </a:p>
          <a:p>
            <a:pPr lvl="1"/>
            <a:r>
              <a:rPr lang="en-US" sz="2400" dirty="0" smtClean="0"/>
              <a:t>X of length </a:t>
            </a:r>
            <a:r>
              <a:rPr lang="en-US" sz="2400" i="1" dirty="0" smtClean="0"/>
              <a:t>n</a:t>
            </a:r>
            <a:r>
              <a:rPr lang="en-US" sz="2400" dirty="0" smtClean="0"/>
              <a:t> </a:t>
            </a:r>
          </a:p>
          <a:p>
            <a:pPr lvl="1"/>
            <a:r>
              <a:rPr lang="en-US" sz="2400" dirty="0" smtClean="0"/>
              <a:t>Y of length </a:t>
            </a:r>
            <a:r>
              <a:rPr lang="en-US" sz="2400" i="1" dirty="0" smtClean="0"/>
              <a:t>m</a:t>
            </a:r>
            <a:endParaRPr lang="en-US" sz="2400" i="1" baseline="-25000" dirty="0"/>
          </a:p>
          <a:p>
            <a:r>
              <a:rPr lang="en-US" sz="2800" dirty="0" smtClean="0"/>
              <a:t>We define D</a:t>
            </a:r>
            <a:r>
              <a:rPr lang="en-US" sz="2800" dirty="0"/>
              <a:t>(</a:t>
            </a:r>
            <a:r>
              <a:rPr lang="en-US" sz="2800" i="1" dirty="0" err="1"/>
              <a:t>i,j</a:t>
            </a:r>
            <a:r>
              <a:rPr lang="en-US" sz="2800" dirty="0"/>
              <a:t>)</a:t>
            </a:r>
          </a:p>
          <a:p>
            <a:pPr lvl="1"/>
            <a:r>
              <a:rPr lang="en-US" sz="2400" dirty="0" smtClean="0"/>
              <a:t>the edit </a:t>
            </a:r>
            <a:r>
              <a:rPr lang="en-US" sz="2400" dirty="0"/>
              <a:t>distance </a:t>
            </a:r>
            <a:r>
              <a:rPr lang="en-US" sz="2400" dirty="0" smtClean="0"/>
              <a:t>between X[</a:t>
            </a:r>
            <a:r>
              <a:rPr lang="en-US" sz="2400" dirty="0"/>
              <a:t>1..</a:t>
            </a:r>
            <a:r>
              <a:rPr lang="en-US" sz="2400" i="1" dirty="0"/>
              <a:t>i</a:t>
            </a:r>
            <a:r>
              <a:rPr lang="en-US" sz="2400" dirty="0"/>
              <a:t>] and </a:t>
            </a:r>
            <a:r>
              <a:rPr lang="en-US" sz="2400" dirty="0" smtClean="0"/>
              <a:t>Y[</a:t>
            </a:r>
            <a:r>
              <a:rPr lang="en-US" sz="2400" dirty="0"/>
              <a:t>1..</a:t>
            </a:r>
            <a:r>
              <a:rPr lang="en-US" sz="2400" i="1" dirty="0"/>
              <a:t>j</a:t>
            </a:r>
            <a:r>
              <a:rPr lang="en-US" sz="2400" dirty="0" smtClean="0"/>
              <a:t>] </a:t>
            </a:r>
          </a:p>
          <a:p>
            <a:pPr lvl="2"/>
            <a:r>
              <a:rPr lang="en-US" sz="2200" dirty="0" smtClean="0"/>
              <a:t>i.e., the first </a:t>
            </a:r>
            <a:r>
              <a:rPr lang="en-US" sz="2200" i="1" dirty="0" err="1" smtClean="0"/>
              <a:t>i</a:t>
            </a:r>
            <a:r>
              <a:rPr lang="en-US" sz="2200" dirty="0" smtClean="0"/>
              <a:t> characters of X and the first </a:t>
            </a:r>
            <a:r>
              <a:rPr lang="en-US" sz="2200" i="1" dirty="0" smtClean="0"/>
              <a:t>j</a:t>
            </a:r>
            <a:r>
              <a:rPr lang="en-US" sz="2200" dirty="0" smtClean="0"/>
              <a:t> characters of Y</a:t>
            </a:r>
          </a:p>
          <a:p>
            <a:pPr lvl="1"/>
            <a:r>
              <a:rPr lang="en-US" sz="2400" dirty="0" smtClean="0"/>
              <a:t>The </a:t>
            </a:r>
            <a:r>
              <a:rPr lang="en-US" sz="2400" dirty="0"/>
              <a:t>edit distance </a:t>
            </a:r>
            <a:r>
              <a:rPr lang="en-US" sz="2400" dirty="0" smtClean="0"/>
              <a:t>between X and Y is thus D</a:t>
            </a:r>
            <a:r>
              <a:rPr lang="en-US" sz="2400" dirty="0"/>
              <a:t>(</a:t>
            </a:r>
            <a:r>
              <a:rPr lang="en-US" sz="2400" i="1" dirty="0" err="1"/>
              <a:t>n,m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5667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 smtClean="0"/>
              <a:t>Minimum Edit Distance</a:t>
            </a:r>
            <a:endParaRPr lang="en-US" sz="4400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 smtClean="0">
                <a:solidFill>
                  <a:srgbClr val="A50021"/>
                </a:solidFill>
                <a:latin typeface="Calibri" charset="0"/>
              </a:rPr>
              <a:t>Definition of Minimum Edit Distance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28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 smtClean="0"/>
              <a:t>Minimum Edit Distance</a:t>
            </a:r>
            <a:endParaRPr lang="en-US" sz="4400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 smtClean="0">
                <a:solidFill>
                  <a:srgbClr val="A50021"/>
                </a:solidFill>
                <a:latin typeface="Calibri" charset="0"/>
              </a:rPr>
              <a:t>Computing Minimum Edit Distance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50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Programming for</a:t>
            </a:r>
            <a:br>
              <a:rPr lang="en-US" dirty="0" smtClean="0"/>
            </a:br>
            <a:r>
              <a:rPr lang="en-US" dirty="0" smtClean="0"/>
              <a:t>Minimum Edit Distance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Dynamic programming</a:t>
            </a:r>
            <a:r>
              <a:rPr lang="en-US" dirty="0" smtClean="0"/>
              <a:t>: A </a:t>
            </a:r>
            <a:r>
              <a:rPr lang="en-US" dirty="0"/>
              <a:t>tabular computation of D(</a:t>
            </a:r>
            <a:r>
              <a:rPr lang="en-US" i="1" dirty="0" err="1"/>
              <a:t>n,m</a:t>
            </a:r>
            <a:r>
              <a:rPr lang="en-US" dirty="0" smtClean="0"/>
              <a:t>)</a:t>
            </a:r>
            <a:endParaRPr lang="en-US" b="1" dirty="0" smtClean="0"/>
          </a:p>
          <a:p>
            <a:r>
              <a:rPr lang="en-US" dirty="0" smtClean="0"/>
              <a:t>Solving problems by combining solutions to </a:t>
            </a:r>
            <a:r>
              <a:rPr lang="en-US" dirty="0" err="1" smtClean="0"/>
              <a:t>subproblems</a:t>
            </a:r>
            <a:r>
              <a:rPr lang="en-US" dirty="0" smtClean="0"/>
              <a:t>.</a:t>
            </a:r>
          </a:p>
          <a:p>
            <a:r>
              <a:rPr lang="en-US" dirty="0" smtClean="0"/>
              <a:t>Bottom</a:t>
            </a:r>
            <a:r>
              <a:rPr lang="en-US" dirty="0"/>
              <a:t>-up</a:t>
            </a:r>
          </a:p>
          <a:p>
            <a:pPr lvl="1"/>
            <a:r>
              <a:rPr lang="en-US" dirty="0"/>
              <a:t>We compute D(</a:t>
            </a:r>
            <a:r>
              <a:rPr lang="en-US" dirty="0" err="1"/>
              <a:t>i,j</a:t>
            </a:r>
            <a:r>
              <a:rPr lang="en-US" dirty="0"/>
              <a:t>) for small </a:t>
            </a:r>
            <a:r>
              <a:rPr lang="en-US" i="1" dirty="0" err="1"/>
              <a:t>i,j</a:t>
            </a:r>
            <a:r>
              <a:rPr lang="en-US" i="1" dirty="0"/>
              <a:t> </a:t>
            </a:r>
          </a:p>
          <a:p>
            <a:pPr lvl="1"/>
            <a:r>
              <a:rPr lang="en-US" dirty="0"/>
              <a:t>And </a:t>
            </a:r>
            <a:r>
              <a:rPr lang="en-US" dirty="0" smtClean="0"/>
              <a:t>compute larger D</a:t>
            </a:r>
            <a:r>
              <a:rPr lang="en-US" dirty="0"/>
              <a:t>(</a:t>
            </a:r>
            <a:r>
              <a:rPr lang="en-US" dirty="0" err="1"/>
              <a:t>i,j</a:t>
            </a:r>
            <a:r>
              <a:rPr lang="en-US" dirty="0"/>
              <a:t>) based on previously computed smaller </a:t>
            </a:r>
            <a:r>
              <a:rPr lang="en-US" dirty="0" smtClean="0"/>
              <a:t>values</a:t>
            </a:r>
          </a:p>
          <a:p>
            <a:pPr lvl="1"/>
            <a:r>
              <a:rPr lang="en-US" dirty="0" smtClean="0"/>
              <a:t>i.e., compute </a:t>
            </a:r>
            <a:r>
              <a:rPr lang="en-US" dirty="0"/>
              <a:t>D(</a:t>
            </a:r>
            <a:r>
              <a:rPr lang="en-US" i="1" dirty="0" err="1"/>
              <a:t>i,j</a:t>
            </a:r>
            <a:r>
              <a:rPr lang="en-US" dirty="0"/>
              <a:t>) for all </a:t>
            </a:r>
            <a:r>
              <a:rPr lang="en-US" i="1" dirty="0" err="1"/>
              <a:t>i</a:t>
            </a:r>
            <a:r>
              <a:rPr lang="en-US" dirty="0"/>
              <a:t> (0 &lt; </a:t>
            </a:r>
            <a:r>
              <a:rPr lang="en-US" i="1" dirty="0" err="1"/>
              <a:t>i</a:t>
            </a:r>
            <a:r>
              <a:rPr lang="en-US" dirty="0"/>
              <a:t> &lt; n)  and</a:t>
            </a:r>
            <a:r>
              <a:rPr lang="en-US" i="1" dirty="0"/>
              <a:t> j </a:t>
            </a:r>
            <a:r>
              <a:rPr lang="en-US" dirty="0"/>
              <a:t>(0 &lt; j &lt; m)</a:t>
            </a:r>
          </a:p>
          <a:p>
            <a:endParaRPr lang="en-US" dirty="0"/>
          </a:p>
          <a:p>
            <a:endParaRPr lang="en-US" baseline="-25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07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Min Edit </a:t>
            </a:r>
            <a:r>
              <a:rPr lang="en-US" dirty="0" smtClean="0"/>
              <a:t>Distance (</a:t>
            </a:r>
            <a:r>
              <a:rPr lang="en-US" dirty="0" err="1" smtClean="0"/>
              <a:t>Levenshtein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8192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200150"/>
            <a:ext cx="8763000" cy="3943350"/>
          </a:xfrm>
        </p:spPr>
        <p:txBody>
          <a:bodyPr/>
          <a:lstStyle/>
          <a:p>
            <a:r>
              <a:rPr lang="en-US" sz="2000" dirty="0" smtClean="0"/>
              <a:t>Initialization</a:t>
            </a:r>
            <a:endParaRPr lang="en-US" sz="2000" dirty="0"/>
          </a:p>
          <a:p>
            <a:pPr marL="457200" lvl="1" indent="0">
              <a:buNone/>
            </a:pPr>
            <a:r>
              <a:rPr lang="en-US" sz="1800" dirty="0">
                <a:latin typeface="Courier"/>
                <a:cs typeface="Courier"/>
              </a:rPr>
              <a:t>D(i,0) = </a:t>
            </a:r>
            <a:r>
              <a:rPr lang="en-US" sz="1800" dirty="0" err="1" smtClean="0">
                <a:latin typeface="Courier"/>
                <a:cs typeface="Courier"/>
              </a:rPr>
              <a:t>i</a:t>
            </a:r>
            <a:endParaRPr lang="en-US" sz="1800" dirty="0">
              <a:latin typeface="Courier"/>
              <a:cs typeface="Courier"/>
            </a:endParaRPr>
          </a:p>
          <a:p>
            <a:pPr marL="457200" lvl="1" indent="0" algn="just">
              <a:buNone/>
            </a:pPr>
            <a:r>
              <a:rPr lang="en-US" sz="1800" dirty="0">
                <a:latin typeface="Courier"/>
                <a:cs typeface="Courier"/>
              </a:rPr>
              <a:t>D(0,j) = </a:t>
            </a:r>
            <a:r>
              <a:rPr lang="en-US" sz="1800" dirty="0" smtClean="0">
                <a:latin typeface="Courier"/>
                <a:cs typeface="Courier"/>
              </a:rPr>
              <a:t>j</a:t>
            </a:r>
            <a:endParaRPr lang="en-US" sz="1800" i="1" dirty="0"/>
          </a:p>
          <a:p>
            <a:pPr algn="just"/>
            <a:r>
              <a:rPr lang="en-US" sz="2000" dirty="0"/>
              <a:t>Recurrence Relation</a:t>
            </a:r>
            <a:r>
              <a:rPr lang="en-US" sz="2000" i="1" dirty="0" smtClean="0"/>
              <a:t>:</a:t>
            </a:r>
          </a:p>
          <a:p>
            <a:pPr marL="457200" lvl="1" indent="0">
              <a:lnSpc>
                <a:spcPct val="80000"/>
              </a:lnSpc>
              <a:buClr>
                <a:srgbClr val="000066"/>
              </a:buClr>
              <a:buNone/>
            </a:pPr>
            <a:r>
              <a:rPr lang="en-US" sz="1800" dirty="0" smtClean="0">
                <a:latin typeface="Courier"/>
                <a:cs typeface="Courier"/>
              </a:rPr>
              <a:t>For each  </a:t>
            </a:r>
            <a:r>
              <a:rPr lang="en-US" sz="1800" dirty="0" err="1" smtClean="0">
                <a:latin typeface="Courier"/>
                <a:cs typeface="Courier"/>
              </a:rPr>
              <a:t>i</a:t>
            </a:r>
            <a:r>
              <a:rPr lang="en-US" sz="1800" dirty="0" smtClean="0">
                <a:latin typeface="Courier"/>
                <a:cs typeface="Courier"/>
              </a:rPr>
              <a:t> </a:t>
            </a:r>
            <a:r>
              <a:rPr lang="en-US" sz="1800" dirty="0">
                <a:latin typeface="Courier"/>
                <a:cs typeface="Courier"/>
              </a:rPr>
              <a:t>= </a:t>
            </a:r>
            <a:r>
              <a:rPr lang="en-US" sz="1800" dirty="0" smtClean="0">
                <a:latin typeface="Courier"/>
                <a:cs typeface="Courier"/>
              </a:rPr>
              <a:t>1…M</a:t>
            </a:r>
            <a:endParaRPr lang="en-US" sz="1800" dirty="0">
              <a:latin typeface="Courier"/>
              <a:cs typeface="Courier"/>
            </a:endParaRPr>
          </a:p>
          <a:p>
            <a:pPr marL="990600" lvl="1" indent="-533400">
              <a:lnSpc>
                <a:spcPct val="80000"/>
              </a:lnSpc>
              <a:buClr>
                <a:srgbClr val="000066"/>
              </a:buClr>
              <a:buFontTx/>
              <a:buNone/>
            </a:pPr>
            <a:r>
              <a:rPr lang="en-US" sz="1800" dirty="0">
                <a:latin typeface="Courier"/>
                <a:cs typeface="Courier"/>
              </a:rPr>
              <a:t>	  </a:t>
            </a:r>
            <a:r>
              <a:rPr lang="en-US" sz="1800" dirty="0" smtClean="0">
                <a:latin typeface="Courier"/>
                <a:cs typeface="Courier"/>
              </a:rPr>
              <a:t>For </a:t>
            </a:r>
            <a:r>
              <a:rPr lang="en-US" sz="1800" dirty="0">
                <a:latin typeface="Courier"/>
                <a:cs typeface="Courier"/>
              </a:rPr>
              <a:t>each </a:t>
            </a:r>
            <a:r>
              <a:rPr lang="en-US" sz="1800" dirty="0" smtClean="0">
                <a:latin typeface="Courier"/>
                <a:cs typeface="Courier"/>
              </a:rPr>
              <a:t> j </a:t>
            </a:r>
            <a:r>
              <a:rPr lang="en-US" sz="1800" dirty="0">
                <a:latin typeface="Courier"/>
                <a:cs typeface="Courier"/>
              </a:rPr>
              <a:t>= </a:t>
            </a:r>
            <a:r>
              <a:rPr lang="en-US" sz="1800" dirty="0" smtClean="0">
                <a:latin typeface="Courier"/>
                <a:cs typeface="Courier"/>
              </a:rPr>
              <a:t>1…N</a:t>
            </a:r>
            <a:endParaRPr lang="en-US" sz="2000" i="1" dirty="0"/>
          </a:p>
          <a:p>
            <a:pPr lvl="1" algn="just">
              <a:buFont typeface="Wingdings" charset="2"/>
              <a:buNone/>
            </a:pPr>
            <a:r>
              <a:rPr lang="en-US" sz="1800" i="1" dirty="0">
                <a:latin typeface="Courier"/>
                <a:cs typeface="Courier"/>
              </a:rPr>
              <a:t>  </a:t>
            </a:r>
            <a:r>
              <a:rPr lang="en-US" sz="1800" i="1" dirty="0" smtClean="0">
                <a:latin typeface="Courier"/>
                <a:cs typeface="Courier"/>
              </a:rPr>
              <a:t>                     </a:t>
            </a:r>
            <a:r>
              <a:rPr lang="en-US" sz="1800" dirty="0" smtClean="0">
                <a:latin typeface="Courier"/>
                <a:cs typeface="Courier"/>
              </a:rPr>
              <a:t>D</a:t>
            </a:r>
            <a:r>
              <a:rPr lang="en-US" sz="1800" dirty="0">
                <a:latin typeface="Courier"/>
                <a:cs typeface="Courier"/>
              </a:rPr>
              <a:t>(i-1,j) + </a:t>
            </a:r>
            <a:r>
              <a:rPr lang="en-US" sz="1800" dirty="0" smtClean="0">
                <a:latin typeface="Courier"/>
                <a:cs typeface="Courier"/>
              </a:rPr>
              <a:t>1</a:t>
            </a:r>
            <a:endParaRPr lang="en-US" sz="1800" dirty="0">
              <a:latin typeface="Courier"/>
              <a:cs typeface="Courier"/>
            </a:endParaRPr>
          </a:p>
          <a:p>
            <a:pPr marL="457200" lvl="1" indent="0" algn="just">
              <a:buNone/>
            </a:pPr>
            <a:r>
              <a:rPr lang="en-US" sz="1800" dirty="0" smtClean="0">
                <a:latin typeface="Courier"/>
                <a:cs typeface="Courier"/>
              </a:rPr>
              <a:t>          D</a:t>
            </a:r>
            <a:r>
              <a:rPr lang="en-US" sz="1800" dirty="0">
                <a:latin typeface="Courier"/>
                <a:cs typeface="Courier"/>
              </a:rPr>
              <a:t>(</a:t>
            </a:r>
            <a:r>
              <a:rPr lang="en-US" sz="1800" dirty="0" err="1">
                <a:latin typeface="Courier"/>
                <a:cs typeface="Courier"/>
              </a:rPr>
              <a:t>i,j</a:t>
            </a:r>
            <a:r>
              <a:rPr lang="en-US" sz="1800" dirty="0" smtClean="0">
                <a:latin typeface="Courier"/>
                <a:cs typeface="Courier"/>
              </a:rPr>
              <a:t>)= min  D</a:t>
            </a:r>
            <a:r>
              <a:rPr lang="en-US" sz="1800" dirty="0">
                <a:latin typeface="Courier"/>
                <a:cs typeface="Courier"/>
              </a:rPr>
              <a:t>(i,j-1) + 1</a:t>
            </a:r>
          </a:p>
          <a:p>
            <a:pPr lvl="1" algn="just">
              <a:buFont typeface="Wingdings" charset="2"/>
              <a:buNone/>
            </a:pPr>
            <a:r>
              <a:rPr lang="en-US" sz="1800" dirty="0" smtClean="0">
                <a:latin typeface="Courier"/>
                <a:cs typeface="Courier"/>
              </a:rPr>
              <a:t>                       D</a:t>
            </a:r>
            <a:r>
              <a:rPr lang="en-US" sz="1800" dirty="0">
                <a:latin typeface="Courier"/>
                <a:cs typeface="Courier"/>
              </a:rPr>
              <a:t>(i-1,j-1</a:t>
            </a:r>
            <a:r>
              <a:rPr lang="en-US" sz="1800" dirty="0" smtClean="0">
                <a:latin typeface="Courier"/>
                <a:cs typeface="Courier"/>
              </a:rPr>
              <a:t>) </a:t>
            </a:r>
            <a:r>
              <a:rPr lang="en-US" sz="1800" smtClean="0">
                <a:latin typeface="Courier"/>
                <a:cs typeface="Courier"/>
              </a:rPr>
              <a:t>+   </a:t>
            </a:r>
            <a:r>
              <a:rPr lang="en-US" sz="1800" smtClean="0">
                <a:latin typeface="Courier"/>
                <a:cs typeface="Courier"/>
              </a:rPr>
              <a:t>2 ; </a:t>
            </a:r>
            <a:r>
              <a:rPr lang="en-US" sz="1800" dirty="0" smtClean="0">
                <a:latin typeface="Courier"/>
                <a:cs typeface="Courier"/>
              </a:rPr>
              <a:t>if X(</a:t>
            </a:r>
            <a:r>
              <a:rPr lang="en-US" sz="1800" dirty="0" err="1">
                <a:latin typeface="Courier"/>
                <a:cs typeface="Courier"/>
              </a:rPr>
              <a:t>i</a:t>
            </a:r>
            <a:r>
              <a:rPr lang="en-US" sz="1800" dirty="0">
                <a:latin typeface="Courier"/>
                <a:cs typeface="Courier"/>
              </a:rPr>
              <a:t>) ≠ </a:t>
            </a:r>
            <a:r>
              <a:rPr lang="en-US" sz="1800" dirty="0" smtClean="0">
                <a:latin typeface="Courier"/>
                <a:cs typeface="Courier"/>
              </a:rPr>
              <a:t>Y(</a:t>
            </a:r>
            <a:r>
              <a:rPr lang="en-US" sz="1800" dirty="0">
                <a:latin typeface="Courier"/>
                <a:cs typeface="Courier"/>
              </a:rPr>
              <a:t>j)   </a:t>
            </a:r>
          </a:p>
          <a:p>
            <a:pPr lvl="1" algn="just">
              <a:buFont typeface="Wingdings" charset="2"/>
              <a:buNone/>
            </a:pPr>
            <a:r>
              <a:rPr lang="en-US" sz="1800" smtClean="0">
                <a:latin typeface="Courier"/>
                <a:cs typeface="Courier"/>
              </a:rPr>
              <a:t>                                      </a:t>
            </a:r>
            <a:r>
              <a:rPr lang="en-US" sz="1800" smtClean="0">
                <a:latin typeface="Courier"/>
                <a:cs typeface="Courier"/>
              </a:rPr>
              <a:t>0 ; </a:t>
            </a:r>
            <a:r>
              <a:rPr lang="en-US" sz="1800" dirty="0" smtClean="0">
                <a:latin typeface="Courier"/>
                <a:cs typeface="Courier"/>
              </a:rPr>
              <a:t>if X(</a:t>
            </a:r>
            <a:r>
              <a:rPr lang="en-US" sz="1800" dirty="0" err="1">
                <a:latin typeface="Courier"/>
                <a:cs typeface="Courier"/>
              </a:rPr>
              <a:t>i</a:t>
            </a:r>
            <a:r>
              <a:rPr lang="en-US" sz="1800" dirty="0">
                <a:latin typeface="Courier"/>
                <a:cs typeface="Courier"/>
              </a:rPr>
              <a:t>) = </a:t>
            </a:r>
            <a:r>
              <a:rPr lang="en-US" sz="1800" dirty="0" smtClean="0">
                <a:latin typeface="Courier"/>
                <a:cs typeface="Courier"/>
              </a:rPr>
              <a:t>Y(</a:t>
            </a:r>
            <a:r>
              <a:rPr lang="en-US" sz="1800" dirty="0">
                <a:latin typeface="Courier"/>
                <a:cs typeface="Courier"/>
              </a:rPr>
              <a:t>j</a:t>
            </a:r>
            <a:r>
              <a:rPr lang="en-US" sz="1800" dirty="0" smtClean="0">
                <a:latin typeface="Courier"/>
                <a:cs typeface="Courier"/>
              </a:rPr>
              <a:t>)</a:t>
            </a:r>
          </a:p>
          <a:p>
            <a:pPr algn="just">
              <a:lnSpc>
                <a:spcPct val="70000"/>
              </a:lnSpc>
            </a:pPr>
            <a:r>
              <a:rPr lang="en-US" sz="2000" dirty="0"/>
              <a:t>Termination</a:t>
            </a:r>
            <a:r>
              <a:rPr lang="en-US" sz="2000" i="1" dirty="0"/>
              <a:t>:</a:t>
            </a:r>
          </a:p>
          <a:p>
            <a:pPr lvl="1" algn="just">
              <a:buFont typeface="Wingdings" charset="2"/>
              <a:buNone/>
            </a:pPr>
            <a:r>
              <a:rPr lang="en-US" sz="1800" dirty="0">
                <a:latin typeface="Courier"/>
                <a:cs typeface="Courier"/>
              </a:rPr>
              <a:t>D(N,M) is distance </a:t>
            </a:r>
          </a:p>
          <a:p>
            <a:pPr lvl="1" algn="just">
              <a:buFont typeface="Wingdings" charset="2"/>
              <a:buNone/>
            </a:pPr>
            <a:endParaRPr lang="en-US" sz="2800" dirty="0">
              <a:latin typeface="Courier"/>
              <a:cs typeface="Courier"/>
            </a:endParaRPr>
          </a:p>
        </p:txBody>
      </p:sp>
      <p:sp>
        <p:nvSpPr>
          <p:cNvPr id="9" name="AutoShape 5"/>
          <p:cNvSpPr>
            <a:spLocks/>
          </p:cNvSpPr>
          <p:nvPr/>
        </p:nvSpPr>
        <p:spPr bwMode="auto">
          <a:xfrm>
            <a:off x="3581400" y="3181350"/>
            <a:ext cx="228600" cy="990600"/>
          </a:xfrm>
          <a:prstGeom prst="leftBrace">
            <a:avLst>
              <a:gd name="adj1" fmla="val 37516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10" name="AutoShape 5"/>
          <p:cNvSpPr>
            <a:spLocks/>
          </p:cNvSpPr>
          <p:nvPr/>
        </p:nvSpPr>
        <p:spPr bwMode="auto">
          <a:xfrm>
            <a:off x="5715000" y="3838575"/>
            <a:ext cx="76200" cy="666750"/>
          </a:xfrm>
          <a:prstGeom prst="leftBrace">
            <a:avLst>
              <a:gd name="adj1" fmla="val 37495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>
              <a:solidFill>
                <a:srgbClr val="000066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56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906" name="Group 2"/>
          <p:cNvGraphicFramePr>
            <a:graphicFrameLocks noGrp="1"/>
          </p:cNvGraphicFramePr>
          <p:nvPr/>
        </p:nvGraphicFramePr>
        <p:xfrm>
          <a:off x="1066800" y="1233487"/>
          <a:ext cx="6934200" cy="3395663"/>
        </p:xfrm>
        <a:graphic>
          <a:graphicData uri="http://schemas.openxmlformats.org/drawingml/2006/table">
            <a:tbl>
              <a:tblPr/>
              <a:tblGrid>
                <a:gridCol w="63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411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Edit Distance Table</a:t>
            </a:r>
          </a:p>
        </p:txBody>
      </p:sp>
    </p:spTree>
    <p:extLst>
      <p:ext uri="{BB962C8B-B14F-4D97-AF65-F5344CB8AC3E}">
        <p14:creationId xmlns:p14="http://schemas.microsoft.com/office/powerpoint/2010/main" val="13760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9954" name="Group 2"/>
          <p:cNvGraphicFramePr>
            <a:graphicFrameLocks noGrp="1"/>
          </p:cNvGraphicFramePr>
          <p:nvPr/>
        </p:nvGraphicFramePr>
        <p:xfrm>
          <a:off x="990600" y="1028700"/>
          <a:ext cx="6934200" cy="3852863"/>
        </p:xfrm>
        <a:graphic>
          <a:graphicData uri="http://schemas.openxmlformats.org/drawingml/2006/table">
            <a:tbl>
              <a:tblPr/>
              <a:tblGrid>
                <a:gridCol w="63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6164" name="Line 149"/>
          <p:cNvSpPr>
            <a:spLocks noChangeShapeType="1"/>
          </p:cNvSpPr>
          <p:nvPr/>
        </p:nvSpPr>
        <p:spPr bwMode="auto">
          <a:xfrm flipH="1">
            <a:off x="2514600" y="3086100"/>
            <a:ext cx="457200" cy="971550"/>
          </a:xfrm>
          <a:prstGeom prst="line">
            <a:avLst/>
          </a:prstGeom>
          <a:noFill/>
          <a:ln w="50800">
            <a:solidFill>
              <a:srgbClr val="A5002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5" descr="rec2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4600" y="1657350"/>
            <a:ext cx="4281923" cy="126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2"/>
          <p:cNvSpPr txBox="1">
            <a:spLocks/>
          </p:cNvSpPr>
          <p:nvPr/>
        </p:nvSpPr>
        <p:spPr>
          <a:xfrm>
            <a:off x="1371600" y="381000"/>
            <a:ext cx="7467600" cy="74295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ＭＳ Ｐゴシック" pitchFamily="-65" charset="-128"/>
                <a:cs typeface="ＭＳ Ｐゴシック" pitchFamily="-65" charset="-128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9pPr>
          </a:lstStyle>
          <a:p>
            <a:r>
              <a:rPr lang="en-US" smtClean="0"/>
              <a:t>The Edit Distance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91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906" name="Group 2"/>
          <p:cNvGraphicFramePr>
            <a:graphicFrameLocks noGrp="1"/>
          </p:cNvGraphicFramePr>
          <p:nvPr/>
        </p:nvGraphicFramePr>
        <p:xfrm>
          <a:off x="1066800" y="1233487"/>
          <a:ext cx="6934200" cy="3395663"/>
        </p:xfrm>
        <a:graphic>
          <a:graphicData uri="http://schemas.openxmlformats.org/drawingml/2006/table">
            <a:tbl>
              <a:tblPr/>
              <a:tblGrid>
                <a:gridCol w="63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4116" name="Title 2"/>
          <p:cNvSpPr>
            <a:spLocks noGrp="1"/>
          </p:cNvSpPr>
          <p:nvPr>
            <p:ph type="title"/>
          </p:nvPr>
        </p:nvSpPr>
        <p:spPr>
          <a:xfrm>
            <a:off x="1371600" y="285750"/>
            <a:ext cx="7467600" cy="742950"/>
          </a:xfrm>
        </p:spPr>
        <p:txBody>
          <a:bodyPr/>
          <a:lstStyle/>
          <a:p>
            <a:r>
              <a:rPr lang="en-US" dirty="0" smtClean="0"/>
              <a:t>Edit Distance</a:t>
            </a:r>
            <a:endParaRPr lang="en-US" dirty="0"/>
          </a:p>
        </p:txBody>
      </p:sp>
      <p:pic>
        <p:nvPicPr>
          <p:cNvPr id="5" name="Picture 5" descr="rec2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2400" y="26196"/>
            <a:ext cx="3766159" cy="1112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06625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02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024933"/>
              </p:ext>
            </p:extLst>
          </p:nvPr>
        </p:nvGraphicFramePr>
        <p:xfrm>
          <a:off x="1219200" y="1352550"/>
          <a:ext cx="6934200" cy="3276600"/>
        </p:xfrm>
        <a:graphic>
          <a:graphicData uri="http://schemas.openxmlformats.org/drawingml/2006/table">
            <a:tbl>
              <a:tblPr/>
              <a:tblGrid>
                <a:gridCol w="63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9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itle 2"/>
          <p:cNvSpPr txBox="1">
            <a:spLocks/>
          </p:cNvSpPr>
          <p:nvPr/>
        </p:nvSpPr>
        <p:spPr>
          <a:xfrm>
            <a:off x="1371600" y="381000"/>
            <a:ext cx="7467600" cy="74295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ＭＳ Ｐゴシック" pitchFamily="-65" charset="-128"/>
                <a:cs typeface="ＭＳ Ｐゴシック" pitchFamily="-65" charset="-128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9pPr>
          </a:lstStyle>
          <a:p>
            <a:r>
              <a:rPr lang="en-US" smtClean="0"/>
              <a:t>The Edit Distance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436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 smtClean="0"/>
              <a:t>Minimum Edit Distance</a:t>
            </a:r>
            <a:endParaRPr lang="en-US" sz="4400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 smtClean="0">
                <a:solidFill>
                  <a:srgbClr val="A50021"/>
                </a:solidFill>
                <a:latin typeface="Calibri" charset="0"/>
              </a:rPr>
              <a:t>Computing Minimum Edit Distance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677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 smtClean="0"/>
              <a:t>Minimum Edit Distance</a:t>
            </a:r>
            <a:endParaRPr lang="en-US" sz="4400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 err="1" smtClean="0">
                <a:solidFill>
                  <a:srgbClr val="A50021"/>
                </a:solidFill>
                <a:latin typeface="Calibri" charset="0"/>
              </a:rPr>
              <a:t>Backtrace</a:t>
            </a:r>
            <a:r>
              <a:rPr lang="en-US" sz="3200" dirty="0" smtClean="0">
                <a:solidFill>
                  <a:srgbClr val="A50021"/>
                </a:solidFill>
                <a:latin typeface="Calibri" charset="0"/>
              </a:rPr>
              <a:t> for Computing Alignments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31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Computing alignments</a:t>
            </a:r>
            <a:endParaRPr lang="en-US" dirty="0"/>
          </a:p>
        </p:txBody>
      </p:sp>
      <p:sp>
        <p:nvSpPr>
          <p:cNvPr id="901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Edit distance isn’t sufficient</a:t>
            </a:r>
          </a:p>
          <a:p>
            <a:pPr lvl="1"/>
            <a:r>
              <a:rPr lang="en-US" dirty="0" smtClean="0"/>
              <a:t>We often need to </a:t>
            </a:r>
            <a:r>
              <a:rPr lang="en-US" b="1" dirty="0" smtClean="0"/>
              <a:t>align</a:t>
            </a:r>
            <a:r>
              <a:rPr lang="en-US" dirty="0" smtClean="0"/>
              <a:t> each character of the two strings to each other</a:t>
            </a:r>
          </a:p>
          <a:p>
            <a:r>
              <a:rPr lang="en-US" dirty="0" smtClean="0"/>
              <a:t>We do this by keeping </a:t>
            </a:r>
            <a:r>
              <a:rPr lang="en-US" dirty="0"/>
              <a:t>a “</a:t>
            </a:r>
            <a:r>
              <a:rPr lang="en-US" dirty="0" err="1"/>
              <a:t>backtrace</a:t>
            </a:r>
            <a:r>
              <a:rPr lang="en-US" dirty="0"/>
              <a:t>”</a:t>
            </a:r>
          </a:p>
          <a:p>
            <a:r>
              <a:rPr lang="en-US" dirty="0"/>
              <a:t>Every time we enter a cell, remember where we came from</a:t>
            </a:r>
          </a:p>
          <a:p>
            <a:r>
              <a:rPr lang="en-US" dirty="0" smtClean="0"/>
              <a:t>When we reach </a:t>
            </a:r>
            <a:r>
              <a:rPr lang="en-US" dirty="0"/>
              <a:t>the end, </a:t>
            </a:r>
            <a:endParaRPr lang="en-US" dirty="0" smtClean="0"/>
          </a:p>
          <a:p>
            <a:pPr lvl="1"/>
            <a:r>
              <a:rPr lang="en-US" dirty="0" smtClean="0"/>
              <a:t>Trace </a:t>
            </a:r>
            <a:r>
              <a:rPr lang="en-US" dirty="0"/>
              <a:t>back </a:t>
            </a:r>
            <a:r>
              <a:rPr lang="en-US" dirty="0" smtClean="0"/>
              <a:t>the path from </a:t>
            </a:r>
            <a:r>
              <a:rPr lang="en-US" dirty="0"/>
              <a:t>the upper right corner to </a:t>
            </a:r>
            <a:r>
              <a:rPr lang="en-US" dirty="0" smtClean="0"/>
              <a:t>read off the </a:t>
            </a:r>
            <a:r>
              <a:rPr lang="en-US" dirty="0"/>
              <a:t>alignment</a:t>
            </a:r>
          </a:p>
        </p:txBody>
      </p:sp>
    </p:spTree>
    <p:extLst>
      <p:ext uri="{BB962C8B-B14F-4D97-AF65-F5344CB8AC3E}">
        <p14:creationId xmlns:p14="http://schemas.microsoft.com/office/powerpoint/2010/main" val="61804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906" name="Group 2"/>
          <p:cNvGraphicFramePr>
            <a:graphicFrameLocks noGrp="1"/>
          </p:cNvGraphicFramePr>
          <p:nvPr/>
        </p:nvGraphicFramePr>
        <p:xfrm>
          <a:off x="1066800" y="1233487"/>
          <a:ext cx="6934200" cy="3395663"/>
        </p:xfrm>
        <a:graphic>
          <a:graphicData uri="http://schemas.openxmlformats.org/drawingml/2006/table">
            <a:tbl>
              <a:tblPr/>
              <a:tblGrid>
                <a:gridCol w="63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4116" name="Title 2"/>
          <p:cNvSpPr>
            <a:spLocks noGrp="1"/>
          </p:cNvSpPr>
          <p:nvPr>
            <p:ph type="title"/>
          </p:nvPr>
        </p:nvSpPr>
        <p:spPr>
          <a:xfrm>
            <a:off x="1371600" y="285750"/>
            <a:ext cx="7467600" cy="742950"/>
          </a:xfrm>
        </p:spPr>
        <p:txBody>
          <a:bodyPr/>
          <a:lstStyle/>
          <a:p>
            <a:r>
              <a:rPr lang="en-US" dirty="0" smtClean="0"/>
              <a:t>Edit Distance</a:t>
            </a:r>
            <a:endParaRPr lang="en-US" dirty="0"/>
          </a:p>
        </p:txBody>
      </p:sp>
      <p:pic>
        <p:nvPicPr>
          <p:cNvPr id="5" name="Picture 5" descr="rec2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2400" y="26196"/>
            <a:ext cx="3766159" cy="1112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5194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MinEdit with Backtrace</a:t>
            </a:r>
          </a:p>
        </p:txBody>
      </p:sp>
      <p:pic>
        <p:nvPicPr>
          <p:cNvPr id="7" name="Picture 5" descr="minedit2.tif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28750"/>
            <a:ext cx="8229600" cy="3283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8113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>
          <a:xfrm>
            <a:off x="1371600" y="0"/>
            <a:ext cx="7696200" cy="742950"/>
          </a:xfrm>
        </p:spPr>
        <p:txBody>
          <a:bodyPr/>
          <a:lstStyle/>
          <a:p>
            <a:r>
              <a:rPr lang="en-US" dirty="0"/>
              <a:t>Adding </a:t>
            </a:r>
            <a:r>
              <a:rPr lang="en-US" dirty="0" err="1"/>
              <a:t>Backtrace</a:t>
            </a:r>
            <a:r>
              <a:rPr lang="en-US" dirty="0"/>
              <a:t> to Minimum Edit Distance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200150"/>
            <a:ext cx="8763000" cy="3943350"/>
          </a:xfrm>
        </p:spPr>
        <p:txBody>
          <a:bodyPr/>
          <a:lstStyle/>
          <a:p>
            <a:r>
              <a:rPr lang="en-US" sz="1800" dirty="0"/>
              <a:t>Base conditions</a:t>
            </a:r>
            <a:r>
              <a:rPr lang="en-US" sz="1800" dirty="0" smtClean="0"/>
              <a:t>:                                                        Termination:</a:t>
            </a:r>
            <a:endParaRPr lang="en-US" sz="1800" dirty="0"/>
          </a:p>
          <a:p>
            <a:pPr marL="457200" lvl="1" indent="0">
              <a:buNone/>
            </a:pPr>
            <a:r>
              <a:rPr lang="en-US" sz="1600" dirty="0">
                <a:latin typeface="Courier"/>
                <a:cs typeface="Courier"/>
              </a:rPr>
              <a:t>D(i,0) = </a:t>
            </a:r>
            <a:r>
              <a:rPr lang="en-US" sz="1600" dirty="0" err="1" smtClean="0">
                <a:latin typeface="Courier"/>
                <a:cs typeface="Courier"/>
              </a:rPr>
              <a:t>i</a:t>
            </a:r>
            <a:r>
              <a:rPr lang="en-US" sz="1600" dirty="0" smtClean="0">
                <a:latin typeface="Courier"/>
                <a:cs typeface="Courier"/>
              </a:rPr>
              <a:t>         D</a:t>
            </a:r>
            <a:r>
              <a:rPr lang="en-US" sz="1600" dirty="0">
                <a:latin typeface="Courier"/>
                <a:cs typeface="Courier"/>
              </a:rPr>
              <a:t>(0,j) = </a:t>
            </a:r>
            <a:r>
              <a:rPr lang="en-US" sz="1600" dirty="0" smtClean="0">
                <a:latin typeface="Courier"/>
                <a:cs typeface="Courier"/>
              </a:rPr>
              <a:t>j         </a:t>
            </a:r>
            <a:r>
              <a:rPr lang="en-US" sz="1600" dirty="0">
                <a:latin typeface="Courier"/>
                <a:cs typeface="Courier"/>
              </a:rPr>
              <a:t>D(N,M) is distance </a:t>
            </a:r>
            <a:endParaRPr lang="en-US" sz="1800" i="1" dirty="0"/>
          </a:p>
          <a:p>
            <a:pPr algn="just"/>
            <a:r>
              <a:rPr lang="en-US" sz="1800" dirty="0"/>
              <a:t>Recurrence Relation</a:t>
            </a:r>
            <a:r>
              <a:rPr lang="en-US" sz="1800" i="1" dirty="0" smtClean="0"/>
              <a:t>:</a:t>
            </a:r>
            <a:endParaRPr lang="en-US" sz="1600" i="1" dirty="0" smtClean="0"/>
          </a:p>
          <a:p>
            <a:pPr marL="457200" lvl="1" indent="0">
              <a:buClr>
                <a:srgbClr val="000066"/>
              </a:buClr>
              <a:buNone/>
            </a:pPr>
            <a:r>
              <a:rPr lang="en-US" sz="1600" dirty="0">
                <a:latin typeface="Courier"/>
                <a:cs typeface="Courier"/>
              </a:rPr>
              <a:t>For each  </a:t>
            </a:r>
            <a:r>
              <a:rPr lang="en-US" sz="1600" dirty="0" err="1">
                <a:latin typeface="Courier"/>
                <a:cs typeface="Courier"/>
              </a:rPr>
              <a:t>i</a:t>
            </a:r>
            <a:r>
              <a:rPr lang="en-US" sz="1600" dirty="0">
                <a:latin typeface="Courier"/>
                <a:cs typeface="Courier"/>
              </a:rPr>
              <a:t> = 1…M</a:t>
            </a:r>
          </a:p>
          <a:p>
            <a:pPr marL="990600" lvl="1" indent="-533400">
              <a:lnSpc>
                <a:spcPct val="80000"/>
              </a:lnSpc>
              <a:buClr>
                <a:srgbClr val="000066"/>
              </a:buClr>
              <a:buFontTx/>
              <a:buNone/>
            </a:pPr>
            <a:r>
              <a:rPr lang="en-US" sz="1600" dirty="0">
                <a:latin typeface="Courier"/>
                <a:cs typeface="Courier"/>
              </a:rPr>
              <a:t>	 </a:t>
            </a:r>
            <a:r>
              <a:rPr lang="en-US" sz="1600" dirty="0" smtClean="0">
                <a:latin typeface="Courier"/>
                <a:cs typeface="Courier"/>
              </a:rPr>
              <a:t>For </a:t>
            </a:r>
            <a:r>
              <a:rPr lang="en-US" sz="1600" dirty="0">
                <a:latin typeface="Courier"/>
                <a:cs typeface="Courier"/>
              </a:rPr>
              <a:t>each  j = 1…</a:t>
            </a:r>
            <a:r>
              <a:rPr lang="en-US" sz="1600" dirty="0" smtClean="0">
                <a:latin typeface="Courier"/>
                <a:cs typeface="Courier"/>
              </a:rPr>
              <a:t>N</a:t>
            </a:r>
            <a:endParaRPr lang="en-US" sz="1800" i="1" dirty="0"/>
          </a:p>
          <a:p>
            <a:pPr lvl="1" algn="just">
              <a:lnSpc>
                <a:spcPct val="130000"/>
              </a:lnSpc>
              <a:buFont typeface="Wingdings" charset="2"/>
              <a:buNone/>
            </a:pPr>
            <a:r>
              <a:rPr lang="en-US" sz="1600" i="1" dirty="0">
                <a:latin typeface="Courier"/>
                <a:cs typeface="Courier"/>
              </a:rPr>
              <a:t>  </a:t>
            </a:r>
            <a:r>
              <a:rPr lang="en-US" sz="1600" i="1" dirty="0" smtClean="0">
                <a:latin typeface="Courier"/>
                <a:cs typeface="Courier"/>
              </a:rPr>
              <a:t>                    </a:t>
            </a:r>
            <a:r>
              <a:rPr lang="en-US" sz="1600" dirty="0" smtClean="0">
                <a:latin typeface="Courier"/>
                <a:cs typeface="Courier"/>
              </a:rPr>
              <a:t>D</a:t>
            </a:r>
            <a:r>
              <a:rPr lang="en-US" sz="1600" dirty="0">
                <a:latin typeface="Courier"/>
                <a:cs typeface="Courier"/>
              </a:rPr>
              <a:t>(i-1,j) + </a:t>
            </a:r>
            <a:r>
              <a:rPr lang="en-US" sz="1600" dirty="0" smtClean="0">
                <a:latin typeface="Courier"/>
                <a:cs typeface="Courier"/>
              </a:rPr>
              <a:t>1</a:t>
            </a:r>
            <a:endParaRPr lang="en-US" sz="1600" dirty="0">
              <a:latin typeface="Courier"/>
              <a:cs typeface="Courier"/>
            </a:endParaRPr>
          </a:p>
          <a:p>
            <a:pPr marL="457200" lvl="1" indent="0" algn="just">
              <a:buNone/>
            </a:pPr>
            <a:r>
              <a:rPr lang="en-US" sz="1600" dirty="0" smtClean="0">
                <a:latin typeface="Courier"/>
                <a:cs typeface="Courier"/>
              </a:rPr>
              <a:t>         D</a:t>
            </a:r>
            <a:r>
              <a:rPr lang="en-US" sz="1600" dirty="0">
                <a:latin typeface="Courier"/>
                <a:cs typeface="Courier"/>
              </a:rPr>
              <a:t>(</a:t>
            </a:r>
            <a:r>
              <a:rPr lang="en-US" sz="1600" dirty="0" err="1">
                <a:latin typeface="Courier"/>
                <a:cs typeface="Courier"/>
              </a:rPr>
              <a:t>i,j</a:t>
            </a:r>
            <a:r>
              <a:rPr lang="en-US" sz="1600" dirty="0" smtClean="0">
                <a:latin typeface="Courier"/>
                <a:cs typeface="Courier"/>
              </a:rPr>
              <a:t>)= min  D</a:t>
            </a:r>
            <a:r>
              <a:rPr lang="en-US" sz="1600" dirty="0">
                <a:latin typeface="Courier"/>
                <a:cs typeface="Courier"/>
              </a:rPr>
              <a:t>(i,j-1) + 1</a:t>
            </a:r>
          </a:p>
          <a:p>
            <a:pPr lvl="1" algn="just">
              <a:buFont typeface="Wingdings" charset="2"/>
              <a:buNone/>
            </a:pPr>
            <a:r>
              <a:rPr lang="en-US" sz="1600" dirty="0">
                <a:latin typeface="Courier"/>
                <a:cs typeface="Courier"/>
              </a:rPr>
              <a:t>      </a:t>
            </a:r>
            <a:r>
              <a:rPr lang="en-US" sz="1600" dirty="0" smtClean="0">
                <a:latin typeface="Courier"/>
                <a:cs typeface="Courier"/>
              </a:rPr>
              <a:t>                D</a:t>
            </a:r>
            <a:r>
              <a:rPr lang="en-US" sz="1600" dirty="0">
                <a:latin typeface="Courier"/>
                <a:cs typeface="Courier"/>
              </a:rPr>
              <a:t>(i-1,j-1</a:t>
            </a:r>
            <a:r>
              <a:rPr lang="en-US" sz="1600" dirty="0" smtClean="0">
                <a:latin typeface="Courier"/>
                <a:cs typeface="Courier"/>
              </a:rPr>
              <a:t>) +  2; if X(</a:t>
            </a:r>
            <a:r>
              <a:rPr lang="en-US" sz="1600" dirty="0" err="1">
                <a:latin typeface="Courier"/>
                <a:cs typeface="Courier"/>
              </a:rPr>
              <a:t>i</a:t>
            </a:r>
            <a:r>
              <a:rPr lang="en-US" sz="1600" dirty="0">
                <a:latin typeface="Courier"/>
                <a:cs typeface="Courier"/>
              </a:rPr>
              <a:t>) ≠ Y</a:t>
            </a:r>
            <a:r>
              <a:rPr lang="en-US" sz="1600" dirty="0" smtClean="0">
                <a:latin typeface="Courier"/>
                <a:cs typeface="Courier"/>
              </a:rPr>
              <a:t>(</a:t>
            </a:r>
            <a:r>
              <a:rPr lang="en-US" sz="1600" dirty="0">
                <a:latin typeface="Courier"/>
                <a:cs typeface="Courier"/>
              </a:rPr>
              <a:t>j)   </a:t>
            </a:r>
          </a:p>
          <a:p>
            <a:pPr lvl="1" algn="just">
              <a:buFont typeface="Wingdings" charset="2"/>
              <a:buNone/>
            </a:pPr>
            <a:r>
              <a:rPr lang="en-US" sz="1600" dirty="0" smtClean="0">
                <a:latin typeface="Courier"/>
                <a:cs typeface="Courier"/>
              </a:rPr>
              <a:t>                                    0; if X(</a:t>
            </a:r>
            <a:r>
              <a:rPr lang="en-US" sz="1600" dirty="0" err="1">
                <a:latin typeface="Courier"/>
                <a:cs typeface="Courier"/>
              </a:rPr>
              <a:t>i</a:t>
            </a:r>
            <a:r>
              <a:rPr lang="en-US" sz="1600" dirty="0">
                <a:latin typeface="Courier"/>
                <a:cs typeface="Courier"/>
              </a:rPr>
              <a:t>) = Y</a:t>
            </a:r>
            <a:r>
              <a:rPr lang="en-US" sz="1600" dirty="0" smtClean="0">
                <a:latin typeface="Courier"/>
                <a:cs typeface="Courier"/>
              </a:rPr>
              <a:t>(</a:t>
            </a:r>
            <a:r>
              <a:rPr lang="en-US" sz="1600" dirty="0">
                <a:latin typeface="Courier"/>
                <a:cs typeface="Courier"/>
              </a:rPr>
              <a:t>j</a:t>
            </a:r>
            <a:r>
              <a:rPr lang="en-US" sz="1600" dirty="0" smtClean="0">
                <a:latin typeface="Courier"/>
                <a:cs typeface="Courier"/>
              </a:rPr>
              <a:t>)</a:t>
            </a:r>
          </a:p>
          <a:p>
            <a:pPr lvl="1" algn="just">
              <a:buFont typeface="Wingdings" charset="2"/>
              <a:buNone/>
            </a:pPr>
            <a:r>
              <a:rPr lang="en-US" sz="1600" dirty="0">
                <a:latin typeface="Courier"/>
                <a:cs typeface="Courier"/>
              </a:rPr>
              <a:t> </a:t>
            </a:r>
            <a:r>
              <a:rPr lang="en-US" sz="1600" dirty="0" smtClean="0">
                <a:latin typeface="Courier"/>
                <a:cs typeface="Courier"/>
              </a:rPr>
              <a:t>                    LEFT</a:t>
            </a:r>
            <a:endParaRPr lang="en-US" sz="1600" dirty="0">
              <a:latin typeface="Courier"/>
              <a:cs typeface="Courier"/>
            </a:endParaRPr>
          </a:p>
          <a:p>
            <a:pPr lvl="1" algn="just">
              <a:buFont typeface="Wingdings" charset="2"/>
              <a:buNone/>
            </a:pPr>
            <a:r>
              <a:rPr lang="en-US" sz="1600" dirty="0" smtClean="0">
                <a:latin typeface="Courier"/>
                <a:cs typeface="Courier"/>
              </a:rPr>
              <a:t>         </a:t>
            </a:r>
            <a:r>
              <a:rPr lang="en-US" sz="1600" dirty="0" err="1" smtClean="0">
                <a:latin typeface="Courier"/>
                <a:cs typeface="Courier"/>
              </a:rPr>
              <a:t>ptr</a:t>
            </a:r>
            <a:r>
              <a:rPr lang="en-US" sz="1600" dirty="0">
                <a:latin typeface="Courier"/>
                <a:cs typeface="Courier"/>
              </a:rPr>
              <a:t>(</a:t>
            </a:r>
            <a:r>
              <a:rPr lang="en-US" sz="1600" dirty="0" err="1">
                <a:latin typeface="Courier"/>
                <a:cs typeface="Courier"/>
              </a:rPr>
              <a:t>i,j</a:t>
            </a:r>
            <a:r>
              <a:rPr lang="en-US" sz="1600" dirty="0" smtClean="0">
                <a:latin typeface="Courier"/>
                <a:cs typeface="Courier"/>
              </a:rPr>
              <a:t>)=   DOWN</a:t>
            </a:r>
            <a:endParaRPr lang="en-US" sz="1600" dirty="0">
              <a:latin typeface="Courier"/>
              <a:cs typeface="Courier"/>
            </a:endParaRPr>
          </a:p>
          <a:p>
            <a:pPr lvl="1" algn="just">
              <a:buFont typeface="Wingdings" charset="2"/>
              <a:buNone/>
            </a:pPr>
            <a:r>
              <a:rPr lang="en-US" sz="1600" dirty="0">
                <a:latin typeface="Courier"/>
                <a:cs typeface="Courier"/>
              </a:rPr>
              <a:t>    </a:t>
            </a:r>
            <a:r>
              <a:rPr lang="en-US" sz="1600" dirty="0" smtClean="0">
                <a:latin typeface="Courier"/>
                <a:cs typeface="Courier"/>
              </a:rPr>
              <a:t>                 DIAG</a:t>
            </a:r>
          </a:p>
          <a:p>
            <a:pPr lvl="1" algn="just">
              <a:buFont typeface="Wingdings" charset="2"/>
              <a:buNone/>
            </a:pPr>
            <a:endParaRPr lang="en-US" sz="1600" dirty="0">
              <a:latin typeface="Courier"/>
              <a:cs typeface="Courier"/>
            </a:endParaRPr>
          </a:p>
        </p:txBody>
      </p:sp>
      <p:sp>
        <p:nvSpPr>
          <p:cNvPr id="9" name="AutoShape 5"/>
          <p:cNvSpPr>
            <a:spLocks/>
          </p:cNvSpPr>
          <p:nvPr/>
        </p:nvSpPr>
        <p:spPr bwMode="auto">
          <a:xfrm>
            <a:off x="3200400" y="2724150"/>
            <a:ext cx="228600" cy="990600"/>
          </a:xfrm>
          <a:prstGeom prst="leftBrace">
            <a:avLst>
              <a:gd name="adj1" fmla="val 37516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10" name="AutoShape 5"/>
          <p:cNvSpPr>
            <a:spLocks/>
          </p:cNvSpPr>
          <p:nvPr/>
        </p:nvSpPr>
        <p:spPr bwMode="auto">
          <a:xfrm>
            <a:off x="5334000" y="3352800"/>
            <a:ext cx="76200" cy="666750"/>
          </a:xfrm>
          <a:prstGeom prst="leftBrace">
            <a:avLst>
              <a:gd name="adj1" fmla="val 37495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6" name="AutoShape 5"/>
          <p:cNvSpPr>
            <a:spLocks/>
          </p:cNvSpPr>
          <p:nvPr/>
        </p:nvSpPr>
        <p:spPr bwMode="auto">
          <a:xfrm>
            <a:off x="3048000" y="3867150"/>
            <a:ext cx="228600" cy="990600"/>
          </a:xfrm>
          <a:prstGeom prst="leftBrace">
            <a:avLst>
              <a:gd name="adj1" fmla="val 37516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7" name="TextBox 15"/>
          <p:cNvSpPr txBox="1">
            <a:spLocks noChangeArrowheads="1"/>
          </p:cNvSpPr>
          <p:nvPr/>
        </p:nvSpPr>
        <p:spPr bwMode="auto">
          <a:xfrm>
            <a:off x="3962400" y="3943350"/>
            <a:ext cx="831365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 smtClean="0">
                <a:latin typeface="Calibri"/>
                <a:cs typeface="Calibri"/>
              </a:rPr>
              <a:t>insertion</a:t>
            </a:r>
            <a:endParaRPr lang="en-US" sz="1400" dirty="0">
              <a:latin typeface="Calibri"/>
              <a:cs typeface="Calibri"/>
            </a:endParaRPr>
          </a:p>
        </p:txBody>
      </p:sp>
      <p:sp>
        <p:nvSpPr>
          <p:cNvPr id="8" name="TextBox 16"/>
          <p:cNvSpPr txBox="1">
            <a:spLocks noChangeArrowheads="1"/>
          </p:cNvSpPr>
          <p:nvPr/>
        </p:nvSpPr>
        <p:spPr bwMode="auto">
          <a:xfrm>
            <a:off x="3962400" y="4248150"/>
            <a:ext cx="787883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 smtClean="0">
                <a:latin typeface="Calibri"/>
                <a:cs typeface="Calibri"/>
              </a:rPr>
              <a:t>deletion</a:t>
            </a:r>
            <a:endParaRPr lang="en-US" sz="1400" dirty="0">
              <a:latin typeface="Calibri"/>
              <a:cs typeface="Calibri"/>
            </a:endParaRPr>
          </a:p>
        </p:txBody>
      </p:sp>
      <p:sp>
        <p:nvSpPr>
          <p:cNvPr id="11" name="TextBox 17"/>
          <p:cNvSpPr txBox="1">
            <a:spLocks noChangeArrowheads="1"/>
          </p:cNvSpPr>
          <p:nvPr/>
        </p:nvSpPr>
        <p:spPr bwMode="auto">
          <a:xfrm>
            <a:off x="3962400" y="4552950"/>
            <a:ext cx="1066800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 smtClean="0">
                <a:latin typeface="Calibri"/>
                <a:cs typeface="Calibri"/>
              </a:rPr>
              <a:t>substitution</a:t>
            </a:r>
            <a:endParaRPr lang="en-US" sz="1400" dirty="0">
              <a:latin typeface="Calibri"/>
              <a:cs typeface="Calibri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5493235" y="3105150"/>
            <a:ext cx="831365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 smtClean="0">
                <a:latin typeface="Calibri"/>
                <a:cs typeface="Calibri"/>
              </a:rPr>
              <a:t>insertion</a:t>
            </a:r>
            <a:endParaRPr lang="en-US" sz="1400" dirty="0">
              <a:latin typeface="Calibri"/>
              <a:cs typeface="Calibri"/>
            </a:endParaRPr>
          </a:p>
        </p:txBody>
      </p:sp>
      <p:sp>
        <p:nvSpPr>
          <p:cNvPr id="13" name="TextBox 16"/>
          <p:cNvSpPr txBox="1">
            <a:spLocks noChangeArrowheads="1"/>
          </p:cNvSpPr>
          <p:nvPr/>
        </p:nvSpPr>
        <p:spPr bwMode="auto">
          <a:xfrm>
            <a:off x="5486400" y="2792988"/>
            <a:ext cx="787883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 smtClean="0">
                <a:latin typeface="Calibri"/>
                <a:cs typeface="Calibri"/>
              </a:rPr>
              <a:t>deletion</a:t>
            </a:r>
            <a:endParaRPr lang="en-US" sz="1400" dirty="0">
              <a:latin typeface="Calibri"/>
              <a:cs typeface="Calibri"/>
            </a:endParaRPr>
          </a:p>
        </p:txBody>
      </p:sp>
      <p:sp>
        <p:nvSpPr>
          <p:cNvPr id="14" name="TextBox 17"/>
          <p:cNvSpPr txBox="1">
            <a:spLocks noChangeArrowheads="1"/>
          </p:cNvSpPr>
          <p:nvPr/>
        </p:nvSpPr>
        <p:spPr bwMode="auto">
          <a:xfrm>
            <a:off x="7391400" y="3402588"/>
            <a:ext cx="1066800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 smtClean="0">
                <a:latin typeface="Calibri"/>
                <a:cs typeface="Calibri"/>
              </a:rPr>
              <a:t>substitution</a:t>
            </a:r>
            <a:endParaRPr lang="en-US" sz="1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55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7772400" cy="85725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Distance Matrix</a:t>
            </a:r>
            <a:endParaRPr lang="en-US" dirty="0"/>
          </a:p>
        </p:txBody>
      </p:sp>
      <p:sp>
        <p:nvSpPr>
          <p:cNvPr id="12092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8600" y="4800600"/>
            <a:ext cx="3276600" cy="342900"/>
          </a:xfrm>
          <a:noFill/>
        </p:spPr>
        <p:txBody>
          <a:bodyPr/>
          <a:lstStyle/>
          <a:p>
            <a:r>
              <a:rPr lang="en-US" dirty="0"/>
              <a:t>Slide </a:t>
            </a:r>
            <a:r>
              <a:rPr lang="en-US" dirty="0" smtClean="0"/>
              <a:t>adapted from </a:t>
            </a:r>
            <a:r>
              <a:rPr lang="en-US" dirty="0" err="1" smtClean="0"/>
              <a:t>Serafim</a:t>
            </a:r>
            <a:r>
              <a:rPr lang="en-US" dirty="0" smtClean="0"/>
              <a:t> </a:t>
            </a:r>
            <a:r>
              <a:rPr lang="en-US" dirty="0" err="1"/>
              <a:t>Batzoglou</a:t>
            </a:r>
            <a:endParaRPr lang="en-US" dirty="0"/>
          </a:p>
        </p:txBody>
      </p:sp>
      <p:sp>
        <p:nvSpPr>
          <p:cNvPr id="120835" name="Rectangle 3"/>
          <p:cNvSpPr>
            <a:spLocks noChangeArrowheads="1"/>
          </p:cNvSpPr>
          <p:nvPr/>
        </p:nvSpPr>
        <p:spPr bwMode="auto">
          <a:xfrm>
            <a:off x="1228725" y="1445419"/>
            <a:ext cx="3810000" cy="2800350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36" name="Line 4"/>
          <p:cNvSpPr>
            <a:spLocks noChangeShapeType="1"/>
          </p:cNvSpPr>
          <p:nvPr/>
        </p:nvSpPr>
        <p:spPr bwMode="auto">
          <a:xfrm>
            <a:off x="1228725" y="4158854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37" name="Line 5"/>
          <p:cNvSpPr>
            <a:spLocks noChangeShapeType="1"/>
          </p:cNvSpPr>
          <p:nvPr/>
        </p:nvSpPr>
        <p:spPr bwMode="auto">
          <a:xfrm>
            <a:off x="1233488" y="4085035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38" name="Line 6"/>
          <p:cNvSpPr>
            <a:spLocks noChangeShapeType="1"/>
          </p:cNvSpPr>
          <p:nvPr/>
        </p:nvSpPr>
        <p:spPr bwMode="auto">
          <a:xfrm>
            <a:off x="1233488" y="4017169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39" name="Line 7"/>
          <p:cNvSpPr>
            <a:spLocks noChangeShapeType="1"/>
          </p:cNvSpPr>
          <p:nvPr/>
        </p:nvSpPr>
        <p:spPr bwMode="auto">
          <a:xfrm>
            <a:off x="1228725" y="3949304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0" name="Line 8"/>
          <p:cNvSpPr>
            <a:spLocks noChangeShapeType="1"/>
          </p:cNvSpPr>
          <p:nvPr/>
        </p:nvSpPr>
        <p:spPr bwMode="auto">
          <a:xfrm>
            <a:off x="1233488" y="3885010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1" name="Line 9"/>
          <p:cNvSpPr>
            <a:spLocks noChangeShapeType="1"/>
          </p:cNvSpPr>
          <p:nvPr/>
        </p:nvSpPr>
        <p:spPr bwMode="auto">
          <a:xfrm>
            <a:off x="1228725" y="3811191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2" name="Line 10"/>
          <p:cNvSpPr>
            <a:spLocks noChangeShapeType="1"/>
          </p:cNvSpPr>
          <p:nvPr/>
        </p:nvSpPr>
        <p:spPr bwMode="auto">
          <a:xfrm>
            <a:off x="1219200" y="3743325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3" name="Line 11"/>
          <p:cNvSpPr>
            <a:spLocks noChangeShapeType="1"/>
          </p:cNvSpPr>
          <p:nvPr/>
        </p:nvSpPr>
        <p:spPr bwMode="auto">
          <a:xfrm>
            <a:off x="1233488" y="3675460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4" name="Line 12"/>
          <p:cNvSpPr>
            <a:spLocks noChangeShapeType="1"/>
          </p:cNvSpPr>
          <p:nvPr/>
        </p:nvSpPr>
        <p:spPr bwMode="auto">
          <a:xfrm>
            <a:off x="1233488" y="3601641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5" name="Line 13"/>
          <p:cNvSpPr>
            <a:spLocks noChangeShapeType="1"/>
          </p:cNvSpPr>
          <p:nvPr/>
        </p:nvSpPr>
        <p:spPr bwMode="auto">
          <a:xfrm>
            <a:off x="1228725" y="3527822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6" name="Line 14"/>
          <p:cNvSpPr>
            <a:spLocks noChangeShapeType="1"/>
          </p:cNvSpPr>
          <p:nvPr/>
        </p:nvSpPr>
        <p:spPr bwMode="auto">
          <a:xfrm>
            <a:off x="1228725" y="3459956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7" name="Line 15"/>
          <p:cNvSpPr>
            <a:spLocks noChangeShapeType="1"/>
          </p:cNvSpPr>
          <p:nvPr/>
        </p:nvSpPr>
        <p:spPr bwMode="auto">
          <a:xfrm>
            <a:off x="1233488" y="3392091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8" name="Line 16"/>
          <p:cNvSpPr>
            <a:spLocks noChangeShapeType="1"/>
          </p:cNvSpPr>
          <p:nvPr/>
        </p:nvSpPr>
        <p:spPr bwMode="auto">
          <a:xfrm>
            <a:off x="1220788" y="3327797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9" name="Line 17"/>
          <p:cNvSpPr>
            <a:spLocks noChangeShapeType="1"/>
          </p:cNvSpPr>
          <p:nvPr/>
        </p:nvSpPr>
        <p:spPr bwMode="auto">
          <a:xfrm>
            <a:off x="1233488" y="3253979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0" name="Line 18"/>
          <p:cNvSpPr>
            <a:spLocks noChangeShapeType="1"/>
          </p:cNvSpPr>
          <p:nvPr/>
        </p:nvSpPr>
        <p:spPr bwMode="auto">
          <a:xfrm>
            <a:off x="1223963" y="3186113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1" name="Line 19"/>
          <p:cNvSpPr>
            <a:spLocks noChangeShapeType="1"/>
          </p:cNvSpPr>
          <p:nvPr/>
        </p:nvSpPr>
        <p:spPr bwMode="auto">
          <a:xfrm>
            <a:off x="1238250" y="3118247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2" name="Line 20"/>
          <p:cNvSpPr>
            <a:spLocks noChangeShapeType="1"/>
          </p:cNvSpPr>
          <p:nvPr/>
        </p:nvSpPr>
        <p:spPr bwMode="auto">
          <a:xfrm>
            <a:off x="1233488" y="3040856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3" name="Line 21"/>
          <p:cNvSpPr>
            <a:spLocks noChangeShapeType="1"/>
          </p:cNvSpPr>
          <p:nvPr/>
        </p:nvSpPr>
        <p:spPr bwMode="auto">
          <a:xfrm>
            <a:off x="1238250" y="2967038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4" name="Line 22"/>
          <p:cNvSpPr>
            <a:spLocks noChangeShapeType="1"/>
          </p:cNvSpPr>
          <p:nvPr/>
        </p:nvSpPr>
        <p:spPr bwMode="auto">
          <a:xfrm>
            <a:off x="1238250" y="2899172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5" name="Line 23"/>
          <p:cNvSpPr>
            <a:spLocks noChangeShapeType="1"/>
          </p:cNvSpPr>
          <p:nvPr/>
        </p:nvSpPr>
        <p:spPr bwMode="auto">
          <a:xfrm>
            <a:off x="1233488" y="2831306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6" name="Line 24"/>
          <p:cNvSpPr>
            <a:spLocks noChangeShapeType="1"/>
          </p:cNvSpPr>
          <p:nvPr/>
        </p:nvSpPr>
        <p:spPr bwMode="auto">
          <a:xfrm>
            <a:off x="1238250" y="2767013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7" name="Line 25"/>
          <p:cNvSpPr>
            <a:spLocks noChangeShapeType="1"/>
          </p:cNvSpPr>
          <p:nvPr/>
        </p:nvSpPr>
        <p:spPr bwMode="auto">
          <a:xfrm>
            <a:off x="1233488" y="2693194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8" name="Line 26"/>
          <p:cNvSpPr>
            <a:spLocks noChangeShapeType="1"/>
          </p:cNvSpPr>
          <p:nvPr/>
        </p:nvSpPr>
        <p:spPr bwMode="auto">
          <a:xfrm>
            <a:off x="1223963" y="2625329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9" name="Line 27"/>
          <p:cNvSpPr>
            <a:spLocks noChangeShapeType="1"/>
          </p:cNvSpPr>
          <p:nvPr/>
        </p:nvSpPr>
        <p:spPr bwMode="auto">
          <a:xfrm>
            <a:off x="1228725" y="2557463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0" name="Line 28"/>
          <p:cNvSpPr>
            <a:spLocks noChangeShapeType="1"/>
          </p:cNvSpPr>
          <p:nvPr/>
        </p:nvSpPr>
        <p:spPr bwMode="auto">
          <a:xfrm>
            <a:off x="1220788" y="2490788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1" name="Line 29"/>
          <p:cNvSpPr>
            <a:spLocks noChangeShapeType="1"/>
          </p:cNvSpPr>
          <p:nvPr/>
        </p:nvSpPr>
        <p:spPr bwMode="auto">
          <a:xfrm>
            <a:off x="1233488" y="2409825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2" name="Line 30"/>
          <p:cNvSpPr>
            <a:spLocks noChangeShapeType="1"/>
          </p:cNvSpPr>
          <p:nvPr/>
        </p:nvSpPr>
        <p:spPr bwMode="auto">
          <a:xfrm>
            <a:off x="1233488" y="2341960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3" name="Line 31"/>
          <p:cNvSpPr>
            <a:spLocks noChangeShapeType="1"/>
          </p:cNvSpPr>
          <p:nvPr/>
        </p:nvSpPr>
        <p:spPr bwMode="auto">
          <a:xfrm>
            <a:off x="1238250" y="2274094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4" name="Line 32"/>
          <p:cNvSpPr>
            <a:spLocks noChangeShapeType="1"/>
          </p:cNvSpPr>
          <p:nvPr/>
        </p:nvSpPr>
        <p:spPr bwMode="auto">
          <a:xfrm>
            <a:off x="1225550" y="2209800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5" name="Line 33"/>
          <p:cNvSpPr>
            <a:spLocks noChangeShapeType="1"/>
          </p:cNvSpPr>
          <p:nvPr/>
        </p:nvSpPr>
        <p:spPr bwMode="auto">
          <a:xfrm>
            <a:off x="1230313" y="2135981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6" name="Line 34"/>
          <p:cNvSpPr>
            <a:spLocks noChangeShapeType="1"/>
          </p:cNvSpPr>
          <p:nvPr/>
        </p:nvSpPr>
        <p:spPr bwMode="auto">
          <a:xfrm>
            <a:off x="1228725" y="2068116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7" name="Line 35"/>
          <p:cNvSpPr>
            <a:spLocks noChangeShapeType="1"/>
          </p:cNvSpPr>
          <p:nvPr/>
        </p:nvSpPr>
        <p:spPr bwMode="auto">
          <a:xfrm>
            <a:off x="1233488" y="2000250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8" name="Line 36"/>
          <p:cNvSpPr>
            <a:spLocks noChangeShapeType="1"/>
          </p:cNvSpPr>
          <p:nvPr/>
        </p:nvSpPr>
        <p:spPr bwMode="auto">
          <a:xfrm>
            <a:off x="1228725" y="1941910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9" name="Line 37"/>
          <p:cNvSpPr>
            <a:spLocks noChangeShapeType="1"/>
          </p:cNvSpPr>
          <p:nvPr/>
        </p:nvSpPr>
        <p:spPr bwMode="auto">
          <a:xfrm>
            <a:off x="1228725" y="1874044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0" name="Line 38"/>
          <p:cNvSpPr>
            <a:spLocks noChangeShapeType="1"/>
          </p:cNvSpPr>
          <p:nvPr/>
        </p:nvSpPr>
        <p:spPr bwMode="auto">
          <a:xfrm>
            <a:off x="1233488" y="1806179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1" name="Line 39"/>
          <p:cNvSpPr>
            <a:spLocks noChangeShapeType="1"/>
          </p:cNvSpPr>
          <p:nvPr/>
        </p:nvSpPr>
        <p:spPr bwMode="auto">
          <a:xfrm>
            <a:off x="1220788" y="1741885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2" name="Line 40"/>
          <p:cNvSpPr>
            <a:spLocks noChangeShapeType="1"/>
          </p:cNvSpPr>
          <p:nvPr/>
        </p:nvSpPr>
        <p:spPr bwMode="auto">
          <a:xfrm>
            <a:off x="1233488" y="1668066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3" name="Line 41"/>
          <p:cNvSpPr>
            <a:spLocks noChangeShapeType="1"/>
          </p:cNvSpPr>
          <p:nvPr/>
        </p:nvSpPr>
        <p:spPr bwMode="auto">
          <a:xfrm>
            <a:off x="1223963" y="1600200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4" name="Line 42"/>
          <p:cNvSpPr>
            <a:spLocks noChangeShapeType="1"/>
          </p:cNvSpPr>
          <p:nvPr/>
        </p:nvSpPr>
        <p:spPr bwMode="auto">
          <a:xfrm>
            <a:off x="1238250" y="1532335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5" name="Line 43"/>
          <p:cNvSpPr>
            <a:spLocks noChangeShapeType="1"/>
          </p:cNvSpPr>
          <p:nvPr/>
        </p:nvSpPr>
        <p:spPr bwMode="auto">
          <a:xfrm flipV="1">
            <a:off x="1330325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6" name="Line 44"/>
          <p:cNvSpPr>
            <a:spLocks noChangeShapeType="1"/>
          </p:cNvSpPr>
          <p:nvPr/>
        </p:nvSpPr>
        <p:spPr bwMode="auto">
          <a:xfrm flipV="1">
            <a:off x="1427163" y="1452563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7" name="Line 45"/>
          <p:cNvSpPr>
            <a:spLocks noChangeShapeType="1"/>
          </p:cNvSpPr>
          <p:nvPr/>
        </p:nvSpPr>
        <p:spPr bwMode="auto">
          <a:xfrm flipV="1">
            <a:off x="1528763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8" name="Line 46"/>
          <p:cNvSpPr>
            <a:spLocks noChangeShapeType="1"/>
          </p:cNvSpPr>
          <p:nvPr/>
        </p:nvSpPr>
        <p:spPr bwMode="auto">
          <a:xfrm flipV="1">
            <a:off x="1617663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9" name="Line 47"/>
          <p:cNvSpPr>
            <a:spLocks noChangeShapeType="1"/>
          </p:cNvSpPr>
          <p:nvPr/>
        </p:nvSpPr>
        <p:spPr bwMode="auto">
          <a:xfrm flipV="1">
            <a:off x="1704975" y="1452563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0" name="Line 48"/>
          <p:cNvSpPr>
            <a:spLocks noChangeShapeType="1"/>
          </p:cNvSpPr>
          <p:nvPr/>
        </p:nvSpPr>
        <p:spPr bwMode="auto">
          <a:xfrm flipV="1">
            <a:off x="1801813" y="1456135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1" name="Line 49"/>
          <p:cNvSpPr>
            <a:spLocks noChangeShapeType="1"/>
          </p:cNvSpPr>
          <p:nvPr/>
        </p:nvSpPr>
        <p:spPr bwMode="auto">
          <a:xfrm flipV="1">
            <a:off x="1903413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2" name="Line 50"/>
          <p:cNvSpPr>
            <a:spLocks noChangeShapeType="1"/>
          </p:cNvSpPr>
          <p:nvPr/>
        </p:nvSpPr>
        <p:spPr bwMode="auto">
          <a:xfrm flipV="1">
            <a:off x="1992313" y="1452563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3" name="Line 51"/>
          <p:cNvSpPr>
            <a:spLocks noChangeShapeType="1"/>
          </p:cNvSpPr>
          <p:nvPr/>
        </p:nvSpPr>
        <p:spPr bwMode="auto">
          <a:xfrm flipV="1">
            <a:off x="2082800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4" name="Line 52"/>
          <p:cNvSpPr>
            <a:spLocks noChangeShapeType="1"/>
          </p:cNvSpPr>
          <p:nvPr/>
        </p:nvSpPr>
        <p:spPr bwMode="auto">
          <a:xfrm flipV="1">
            <a:off x="2179638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5" name="Line 53"/>
          <p:cNvSpPr>
            <a:spLocks noChangeShapeType="1"/>
          </p:cNvSpPr>
          <p:nvPr/>
        </p:nvSpPr>
        <p:spPr bwMode="auto">
          <a:xfrm flipV="1">
            <a:off x="2281238" y="1441848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6" name="Line 54"/>
          <p:cNvSpPr>
            <a:spLocks noChangeShapeType="1"/>
          </p:cNvSpPr>
          <p:nvPr/>
        </p:nvSpPr>
        <p:spPr bwMode="auto">
          <a:xfrm flipV="1">
            <a:off x="2370138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7" name="Line 55"/>
          <p:cNvSpPr>
            <a:spLocks noChangeShapeType="1"/>
          </p:cNvSpPr>
          <p:nvPr/>
        </p:nvSpPr>
        <p:spPr bwMode="auto">
          <a:xfrm flipV="1">
            <a:off x="2457450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8" name="Line 56"/>
          <p:cNvSpPr>
            <a:spLocks noChangeShapeType="1"/>
          </p:cNvSpPr>
          <p:nvPr/>
        </p:nvSpPr>
        <p:spPr bwMode="auto">
          <a:xfrm flipV="1">
            <a:off x="2554288" y="1452563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9" name="Line 57"/>
          <p:cNvSpPr>
            <a:spLocks noChangeShapeType="1"/>
          </p:cNvSpPr>
          <p:nvPr/>
        </p:nvSpPr>
        <p:spPr bwMode="auto">
          <a:xfrm flipV="1">
            <a:off x="2655888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0" name="Line 58"/>
          <p:cNvSpPr>
            <a:spLocks noChangeShapeType="1"/>
          </p:cNvSpPr>
          <p:nvPr/>
        </p:nvSpPr>
        <p:spPr bwMode="auto">
          <a:xfrm flipV="1">
            <a:off x="2744788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1" name="Line 59"/>
          <p:cNvSpPr>
            <a:spLocks noChangeShapeType="1"/>
          </p:cNvSpPr>
          <p:nvPr/>
        </p:nvSpPr>
        <p:spPr bwMode="auto">
          <a:xfrm flipV="1">
            <a:off x="2849563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2" name="Line 60"/>
          <p:cNvSpPr>
            <a:spLocks noChangeShapeType="1"/>
          </p:cNvSpPr>
          <p:nvPr/>
        </p:nvSpPr>
        <p:spPr bwMode="auto">
          <a:xfrm flipV="1">
            <a:off x="2946400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3" name="Line 61"/>
          <p:cNvSpPr>
            <a:spLocks noChangeShapeType="1"/>
          </p:cNvSpPr>
          <p:nvPr/>
        </p:nvSpPr>
        <p:spPr bwMode="auto">
          <a:xfrm flipV="1">
            <a:off x="3048000" y="1441848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4" name="Line 62"/>
          <p:cNvSpPr>
            <a:spLocks noChangeShapeType="1"/>
          </p:cNvSpPr>
          <p:nvPr/>
        </p:nvSpPr>
        <p:spPr bwMode="auto">
          <a:xfrm flipV="1">
            <a:off x="3136900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5" name="Line 63"/>
          <p:cNvSpPr>
            <a:spLocks noChangeShapeType="1"/>
          </p:cNvSpPr>
          <p:nvPr/>
        </p:nvSpPr>
        <p:spPr bwMode="auto">
          <a:xfrm flipV="1">
            <a:off x="3224213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6" name="Line 64"/>
          <p:cNvSpPr>
            <a:spLocks noChangeShapeType="1"/>
          </p:cNvSpPr>
          <p:nvPr/>
        </p:nvSpPr>
        <p:spPr bwMode="auto">
          <a:xfrm flipV="1">
            <a:off x="3321050" y="1452563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7" name="Line 65"/>
          <p:cNvSpPr>
            <a:spLocks noChangeShapeType="1"/>
          </p:cNvSpPr>
          <p:nvPr/>
        </p:nvSpPr>
        <p:spPr bwMode="auto">
          <a:xfrm flipV="1">
            <a:off x="3422650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8" name="Line 66"/>
          <p:cNvSpPr>
            <a:spLocks noChangeShapeType="1"/>
          </p:cNvSpPr>
          <p:nvPr/>
        </p:nvSpPr>
        <p:spPr bwMode="auto">
          <a:xfrm flipV="1">
            <a:off x="3511550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9" name="Line 67"/>
          <p:cNvSpPr>
            <a:spLocks noChangeShapeType="1"/>
          </p:cNvSpPr>
          <p:nvPr/>
        </p:nvSpPr>
        <p:spPr bwMode="auto">
          <a:xfrm flipV="1">
            <a:off x="3602038" y="1441848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0" name="Line 68"/>
          <p:cNvSpPr>
            <a:spLocks noChangeShapeType="1"/>
          </p:cNvSpPr>
          <p:nvPr/>
        </p:nvSpPr>
        <p:spPr bwMode="auto">
          <a:xfrm flipV="1">
            <a:off x="3698875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1" name="Line 69"/>
          <p:cNvSpPr>
            <a:spLocks noChangeShapeType="1"/>
          </p:cNvSpPr>
          <p:nvPr/>
        </p:nvSpPr>
        <p:spPr bwMode="auto">
          <a:xfrm flipV="1">
            <a:off x="3800475" y="1438275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2" name="Line 70"/>
          <p:cNvSpPr>
            <a:spLocks noChangeShapeType="1"/>
          </p:cNvSpPr>
          <p:nvPr/>
        </p:nvSpPr>
        <p:spPr bwMode="auto">
          <a:xfrm flipV="1">
            <a:off x="3889375" y="1441848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3" name="Line 71"/>
          <p:cNvSpPr>
            <a:spLocks noChangeShapeType="1"/>
          </p:cNvSpPr>
          <p:nvPr/>
        </p:nvSpPr>
        <p:spPr bwMode="auto">
          <a:xfrm flipV="1">
            <a:off x="3976688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4" name="Line 72"/>
          <p:cNvSpPr>
            <a:spLocks noChangeShapeType="1"/>
          </p:cNvSpPr>
          <p:nvPr/>
        </p:nvSpPr>
        <p:spPr bwMode="auto">
          <a:xfrm flipV="1">
            <a:off x="4073525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5" name="Line 73"/>
          <p:cNvSpPr>
            <a:spLocks noChangeShapeType="1"/>
          </p:cNvSpPr>
          <p:nvPr/>
        </p:nvSpPr>
        <p:spPr bwMode="auto">
          <a:xfrm flipV="1">
            <a:off x="4175125" y="1441848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6" name="Line 74"/>
          <p:cNvSpPr>
            <a:spLocks noChangeShapeType="1"/>
          </p:cNvSpPr>
          <p:nvPr/>
        </p:nvSpPr>
        <p:spPr bwMode="auto">
          <a:xfrm flipV="1">
            <a:off x="4264025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7" name="Line 75"/>
          <p:cNvSpPr>
            <a:spLocks noChangeShapeType="1"/>
          </p:cNvSpPr>
          <p:nvPr/>
        </p:nvSpPr>
        <p:spPr bwMode="auto">
          <a:xfrm flipV="1">
            <a:off x="4359275" y="1441848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8" name="Line 76"/>
          <p:cNvSpPr>
            <a:spLocks noChangeShapeType="1"/>
          </p:cNvSpPr>
          <p:nvPr/>
        </p:nvSpPr>
        <p:spPr bwMode="auto">
          <a:xfrm flipV="1">
            <a:off x="4448175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9" name="Line 77"/>
          <p:cNvSpPr>
            <a:spLocks noChangeShapeType="1"/>
          </p:cNvSpPr>
          <p:nvPr/>
        </p:nvSpPr>
        <p:spPr bwMode="auto">
          <a:xfrm flipV="1">
            <a:off x="4535488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10" name="Line 78"/>
          <p:cNvSpPr>
            <a:spLocks noChangeShapeType="1"/>
          </p:cNvSpPr>
          <p:nvPr/>
        </p:nvSpPr>
        <p:spPr bwMode="auto">
          <a:xfrm flipV="1">
            <a:off x="4632325" y="1452563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11" name="Line 79"/>
          <p:cNvSpPr>
            <a:spLocks noChangeShapeType="1"/>
          </p:cNvSpPr>
          <p:nvPr/>
        </p:nvSpPr>
        <p:spPr bwMode="auto">
          <a:xfrm flipV="1">
            <a:off x="4733925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12" name="Line 80"/>
          <p:cNvSpPr>
            <a:spLocks noChangeShapeType="1"/>
          </p:cNvSpPr>
          <p:nvPr/>
        </p:nvSpPr>
        <p:spPr bwMode="auto">
          <a:xfrm flipV="1">
            <a:off x="4822825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13" name="Line 81"/>
          <p:cNvSpPr>
            <a:spLocks noChangeShapeType="1"/>
          </p:cNvSpPr>
          <p:nvPr/>
        </p:nvSpPr>
        <p:spPr bwMode="auto">
          <a:xfrm flipV="1">
            <a:off x="4929188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354" name="Freeform 82"/>
          <p:cNvSpPr>
            <a:spLocks/>
          </p:cNvSpPr>
          <p:nvPr/>
        </p:nvSpPr>
        <p:spPr bwMode="auto">
          <a:xfrm flipH="1" flipV="1">
            <a:off x="1219200" y="1428750"/>
            <a:ext cx="3810000" cy="2819400"/>
          </a:xfrm>
          <a:custGeom>
            <a:avLst/>
            <a:gdLst>
              <a:gd name="T0" fmla="*/ 0 w 2333"/>
              <a:gd name="T1" fmla="*/ 2147483647 h 2275"/>
              <a:gd name="T2" fmla="*/ 2147483647 w 2333"/>
              <a:gd name="T3" fmla="*/ 2147483647 h 2275"/>
              <a:gd name="T4" fmla="*/ 2147483647 w 2333"/>
              <a:gd name="T5" fmla="*/ 2147483647 h 2275"/>
              <a:gd name="T6" fmla="*/ 2147483647 w 2333"/>
              <a:gd name="T7" fmla="*/ 2147483647 h 2275"/>
              <a:gd name="T8" fmla="*/ 2147483647 w 2333"/>
              <a:gd name="T9" fmla="*/ 2147483647 h 2275"/>
              <a:gd name="T10" fmla="*/ 2147483647 w 2333"/>
              <a:gd name="T11" fmla="*/ 2147483647 h 2275"/>
              <a:gd name="T12" fmla="*/ 2147483647 w 2333"/>
              <a:gd name="T13" fmla="*/ 2147483647 h 2275"/>
              <a:gd name="T14" fmla="*/ 2147483647 w 2333"/>
              <a:gd name="T15" fmla="*/ 2147483647 h 2275"/>
              <a:gd name="T16" fmla="*/ 2147483647 w 2333"/>
              <a:gd name="T17" fmla="*/ 2147483647 h 2275"/>
              <a:gd name="T18" fmla="*/ 2147483647 w 2333"/>
              <a:gd name="T19" fmla="*/ 2147483647 h 2275"/>
              <a:gd name="T20" fmla="*/ 2147483647 w 2333"/>
              <a:gd name="T21" fmla="*/ 2147483647 h 2275"/>
              <a:gd name="T22" fmla="*/ 2147483647 w 2333"/>
              <a:gd name="T23" fmla="*/ 2147483647 h 2275"/>
              <a:gd name="T24" fmla="*/ 2147483647 w 2333"/>
              <a:gd name="T25" fmla="*/ 2147483647 h 2275"/>
              <a:gd name="T26" fmla="*/ 2147483647 w 2333"/>
              <a:gd name="T27" fmla="*/ 2147483647 h 2275"/>
              <a:gd name="T28" fmla="*/ 2147483647 w 2333"/>
              <a:gd name="T29" fmla="*/ 2147483647 h 2275"/>
              <a:gd name="T30" fmla="*/ 2147483647 w 2333"/>
              <a:gd name="T31" fmla="*/ 2147483647 h 2275"/>
              <a:gd name="T32" fmla="*/ 2147483647 w 2333"/>
              <a:gd name="T33" fmla="*/ 2147483647 h 2275"/>
              <a:gd name="T34" fmla="*/ 2147483647 w 2333"/>
              <a:gd name="T35" fmla="*/ 2147483647 h 2275"/>
              <a:gd name="T36" fmla="*/ 2147483647 w 2333"/>
              <a:gd name="T37" fmla="*/ 2147483647 h 2275"/>
              <a:gd name="T38" fmla="*/ 2147483647 w 2333"/>
              <a:gd name="T39" fmla="*/ 0 h 2275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2333"/>
              <a:gd name="T61" fmla="*/ 0 h 2275"/>
              <a:gd name="T62" fmla="*/ 2333 w 2333"/>
              <a:gd name="T63" fmla="*/ 2275 h 2275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2333" h="2275">
                <a:moveTo>
                  <a:pt x="0" y="2275"/>
                </a:moveTo>
                <a:lnTo>
                  <a:pt x="52" y="2211"/>
                </a:lnTo>
                <a:lnTo>
                  <a:pt x="116" y="2153"/>
                </a:lnTo>
                <a:lnTo>
                  <a:pt x="122" y="2089"/>
                </a:lnTo>
                <a:lnTo>
                  <a:pt x="180" y="2042"/>
                </a:lnTo>
                <a:lnTo>
                  <a:pt x="425" y="1803"/>
                </a:lnTo>
                <a:lnTo>
                  <a:pt x="588" y="1803"/>
                </a:lnTo>
                <a:lnTo>
                  <a:pt x="774" y="1629"/>
                </a:lnTo>
                <a:lnTo>
                  <a:pt x="774" y="1571"/>
                </a:lnTo>
                <a:lnTo>
                  <a:pt x="1076" y="1274"/>
                </a:lnTo>
                <a:lnTo>
                  <a:pt x="1076" y="1210"/>
                </a:lnTo>
                <a:lnTo>
                  <a:pt x="1489" y="809"/>
                </a:lnTo>
                <a:lnTo>
                  <a:pt x="1792" y="809"/>
                </a:lnTo>
                <a:lnTo>
                  <a:pt x="1966" y="640"/>
                </a:lnTo>
                <a:lnTo>
                  <a:pt x="1966" y="570"/>
                </a:lnTo>
                <a:lnTo>
                  <a:pt x="2077" y="454"/>
                </a:lnTo>
                <a:lnTo>
                  <a:pt x="2077" y="355"/>
                </a:lnTo>
                <a:lnTo>
                  <a:pt x="2263" y="180"/>
                </a:lnTo>
                <a:lnTo>
                  <a:pt x="2263" y="75"/>
                </a:lnTo>
                <a:lnTo>
                  <a:pt x="2333" y="0"/>
                </a:lnTo>
              </a:path>
            </a:pathLst>
          </a:custGeom>
          <a:noFill/>
          <a:ln w="38100">
            <a:solidFill>
              <a:srgbClr val="000066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15" name="Text Box 83"/>
          <p:cNvSpPr txBox="1">
            <a:spLocks noChangeArrowheads="1"/>
          </p:cNvSpPr>
          <p:nvPr/>
        </p:nvSpPr>
        <p:spPr bwMode="auto">
          <a:xfrm>
            <a:off x="1143000" y="4248150"/>
            <a:ext cx="397021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 dirty="0" smtClean="0">
                <a:latin typeface="Arial Unicode MS" charset="0"/>
              </a:rPr>
              <a:t>y</a:t>
            </a:r>
            <a:r>
              <a:rPr lang="en-US" sz="2000" baseline="-25000" dirty="0">
                <a:latin typeface="Arial Unicode MS" charset="0"/>
              </a:rPr>
              <a:t>0</a:t>
            </a:r>
            <a:r>
              <a:rPr lang="en-US" sz="2000" dirty="0" smtClean="0">
                <a:latin typeface="Arial Unicode MS" charset="0"/>
              </a:rPr>
              <a:t> </a:t>
            </a:r>
            <a:r>
              <a:rPr lang="en-US" sz="2000" dirty="0">
                <a:latin typeface="Arial Unicode MS" charset="0"/>
              </a:rPr>
              <a:t>………………………………  </a:t>
            </a:r>
            <a:r>
              <a:rPr lang="en-US" sz="2000" dirty="0" err="1">
                <a:latin typeface="Arial Unicode MS" charset="0"/>
              </a:rPr>
              <a:t>y</a:t>
            </a:r>
            <a:r>
              <a:rPr lang="en-US" sz="2000" baseline="-25000" dirty="0" err="1" smtClean="0">
                <a:latin typeface="Arial Unicode MS" charset="0"/>
              </a:rPr>
              <a:t>M</a:t>
            </a:r>
            <a:endParaRPr lang="en-US" sz="2000" dirty="0">
              <a:latin typeface="Arial Unicode MS" charset="0"/>
            </a:endParaRPr>
          </a:p>
        </p:txBody>
      </p:sp>
      <p:sp>
        <p:nvSpPr>
          <p:cNvPr id="120916" name="Text Box 84"/>
          <p:cNvSpPr txBox="1">
            <a:spLocks noChangeArrowheads="1"/>
          </p:cNvSpPr>
          <p:nvPr/>
        </p:nvSpPr>
        <p:spPr bwMode="auto">
          <a:xfrm rot="5400000" flipH="1" flipV="1">
            <a:off x="-617857" y="2638395"/>
            <a:ext cx="2971801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000" dirty="0" smtClean="0">
                <a:latin typeface="Arial Unicode MS" charset="0"/>
              </a:rPr>
              <a:t>x</a:t>
            </a:r>
            <a:r>
              <a:rPr lang="en-US" sz="2000" baseline="-25000" dirty="0">
                <a:latin typeface="Arial Unicode MS" charset="0"/>
              </a:rPr>
              <a:t>0</a:t>
            </a:r>
            <a:r>
              <a:rPr lang="en-US" sz="2000" dirty="0" smtClean="0">
                <a:latin typeface="Arial Unicode MS" charset="0"/>
              </a:rPr>
              <a:t> </a:t>
            </a:r>
            <a:r>
              <a:rPr lang="en-US" sz="2000" dirty="0">
                <a:latin typeface="Arial Unicode MS" charset="0"/>
              </a:rPr>
              <a:t>………</a:t>
            </a:r>
            <a:r>
              <a:rPr lang="en-US" sz="2000" dirty="0" smtClean="0">
                <a:latin typeface="Arial Unicode MS" charset="0"/>
              </a:rPr>
              <a:t>………</a:t>
            </a:r>
            <a:r>
              <a:rPr lang="en-US" sz="2000" dirty="0">
                <a:latin typeface="Arial Unicode MS" charset="0"/>
              </a:rPr>
              <a:t>……  </a:t>
            </a:r>
            <a:r>
              <a:rPr lang="en-US" sz="2000" dirty="0" err="1">
                <a:latin typeface="Arial Unicode MS" charset="0"/>
              </a:rPr>
              <a:t>x</a:t>
            </a:r>
            <a:r>
              <a:rPr lang="en-US" sz="2000" baseline="-25000" dirty="0" err="1" smtClean="0">
                <a:latin typeface="Arial Unicode MS" charset="0"/>
              </a:rPr>
              <a:t>N</a:t>
            </a:r>
            <a:endParaRPr lang="en-US" sz="2000" dirty="0">
              <a:latin typeface="Arial Unicode MS" charset="0"/>
            </a:endParaRPr>
          </a:p>
        </p:txBody>
      </p:sp>
      <p:sp>
        <p:nvSpPr>
          <p:cNvPr id="54357" name="Text Box 85"/>
          <p:cNvSpPr txBox="1">
            <a:spLocks noChangeArrowheads="1"/>
          </p:cNvSpPr>
          <p:nvPr/>
        </p:nvSpPr>
        <p:spPr bwMode="auto">
          <a:xfrm>
            <a:off x="5410200" y="1504950"/>
            <a:ext cx="3352800" cy="26161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000066"/>
                </a:solidFill>
                <a:latin typeface="Calibri"/>
                <a:cs typeface="Calibri"/>
              </a:rPr>
              <a:t>Every </a:t>
            </a:r>
            <a:r>
              <a:rPr lang="en-US" sz="2000" dirty="0" smtClean="0">
                <a:solidFill>
                  <a:srgbClr val="000066"/>
                </a:solidFill>
                <a:latin typeface="Calibri"/>
                <a:cs typeface="Calibri"/>
              </a:rPr>
              <a:t>non-decreasing </a:t>
            </a:r>
            <a:r>
              <a:rPr lang="en-US" sz="2000" dirty="0">
                <a:solidFill>
                  <a:srgbClr val="000066"/>
                </a:solidFill>
                <a:latin typeface="Calibri"/>
                <a:cs typeface="Calibri"/>
              </a:rPr>
              <a:t>path </a:t>
            </a:r>
          </a:p>
          <a:p>
            <a:endParaRPr lang="en-US" sz="2000" dirty="0">
              <a:solidFill>
                <a:srgbClr val="000066"/>
              </a:solidFill>
              <a:latin typeface="Calibri"/>
              <a:cs typeface="Calibri"/>
            </a:endParaRPr>
          </a:p>
          <a:p>
            <a:r>
              <a:rPr lang="en-US" sz="2000" dirty="0">
                <a:solidFill>
                  <a:srgbClr val="000066"/>
                </a:solidFill>
                <a:latin typeface="Calibri"/>
                <a:cs typeface="Calibri"/>
              </a:rPr>
              <a:t>from </a:t>
            </a:r>
            <a:r>
              <a:rPr lang="en-US" sz="2000" dirty="0" smtClean="0">
                <a:solidFill>
                  <a:srgbClr val="000066"/>
                </a:solidFill>
                <a:latin typeface="Calibri"/>
                <a:cs typeface="Calibri"/>
              </a:rPr>
              <a:t>(0,0) </a:t>
            </a:r>
            <a:r>
              <a:rPr lang="en-US" sz="2000" dirty="0">
                <a:solidFill>
                  <a:srgbClr val="000066"/>
                </a:solidFill>
                <a:latin typeface="Calibri"/>
                <a:cs typeface="Calibri"/>
              </a:rPr>
              <a:t>to (M, N) </a:t>
            </a:r>
          </a:p>
          <a:p>
            <a:endParaRPr lang="en-US" sz="2000" dirty="0">
              <a:solidFill>
                <a:srgbClr val="000066"/>
              </a:solidFill>
              <a:latin typeface="Calibri"/>
              <a:cs typeface="Calibri"/>
            </a:endParaRPr>
          </a:p>
          <a:p>
            <a:r>
              <a:rPr lang="en-US" sz="2000" dirty="0">
                <a:solidFill>
                  <a:srgbClr val="000066"/>
                </a:solidFill>
                <a:latin typeface="Calibri"/>
                <a:cs typeface="Calibri"/>
              </a:rPr>
              <a:t>corresponds to </a:t>
            </a:r>
          </a:p>
          <a:p>
            <a:r>
              <a:rPr lang="en-US" sz="2000" dirty="0">
                <a:solidFill>
                  <a:srgbClr val="000066"/>
                </a:solidFill>
                <a:latin typeface="Calibri"/>
                <a:cs typeface="Calibri"/>
              </a:rPr>
              <a:t>an alignment </a:t>
            </a:r>
          </a:p>
          <a:p>
            <a:r>
              <a:rPr lang="en-US" sz="2000" dirty="0">
                <a:solidFill>
                  <a:srgbClr val="000066"/>
                </a:solidFill>
                <a:latin typeface="Calibri"/>
                <a:cs typeface="Calibri"/>
              </a:rPr>
              <a:t>of the two sequences</a:t>
            </a:r>
          </a:p>
          <a:p>
            <a:endParaRPr lang="en-US" sz="2400" dirty="0">
              <a:solidFill>
                <a:srgbClr val="000066"/>
              </a:solidFill>
              <a:latin typeface="Calibri"/>
              <a:cs typeface="Calibri"/>
            </a:endParaRPr>
          </a:p>
        </p:txBody>
      </p:sp>
      <p:sp>
        <p:nvSpPr>
          <p:cNvPr id="54360" name="Text Box 88"/>
          <p:cNvSpPr txBox="1">
            <a:spLocks noChangeArrowheads="1"/>
          </p:cNvSpPr>
          <p:nvPr/>
        </p:nvSpPr>
        <p:spPr bwMode="auto">
          <a:xfrm>
            <a:off x="5257800" y="4095750"/>
            <a:ext cx="3805981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solidFill>
                  <a:srgbClr val="A4001D"/>
                </a:solidFill>
                <a:latin typeface="Arial Unicode MS" charset="0"/>
              </a:rPr>
              <a:t>An optimal alignment is composed of optimal </a:t>
            </a:r>
            <a:r>
              <a:rPr lang="en-US" sz="1800" dirty="0" err="1">
                <a:solidFill>
                  <a:srgbClr val="A4001D"/>
                </a:solidFill>
                <a:latin typeface="Arial Unicode MS" charset="0"/>
              </a:rPr>
              <a:t>subalignments</a:t>
            </a:r>
            <a:endParaRPr lang="en-US" sz="1800" dirty="0">
              <a:solidFill>
                <a:srgbClr val="A4001D"/>
              </a:solidFill>
              <a:latin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97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54" grpId="0" animBg="1"/>
      <p:bldP spid="5435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 of </a:t>
            </a:r>
            <a:r>
              <a:rPr lang="en-US" dirty="0" err="1" smtClean="0"/>
              <a:t>Backtrace</a:t>
            </a:r>
            <a:endParaRPr lang="en-US" dirty="0"/>
          </a:p>
        </p:txBody>
      </p:sp>
      <p:sp>
        <p:nvSpPr>
          <p:cNvPr id="75780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Two strings and their </a:t>
            </a:r>
            <a:r>
              <a:rPr lang="en-US" b="1" dirty="0" smtClean="0"/>
              <a:t>alignment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5" name="Picture 6" descr="align1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2229124"/>
            <a:ext cx="4838700" cy="2019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0691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200" dirty="0"/>
              <a:t>Time:</a:t>
            </a:r>
          </a:p>
          <a:p>
            <a:pPr lvl="1">
              <a:buFont typeface="Wingdings" charset="2"/>
              <a:buNone/>
            </a:pPr>
            <a:r>
              <a:rPr lang="en-US" sz="2800" dirty="0"/>
              <a:t>				O(nm</a:t>
            </a:r>
            <a:r>
              <a:rPr lang="en-US" sz="2800" dirty="0" smtClean="0"/>
              <a:t>)</a:t>
            </a:r>
            <a:endParaRPr lang="en-US" sz="3200" dirty="0"/>
          </a:p>
          <a:p>
            <a:r>
              <a:rPr lang="en-US" sz="3200" dirty="0"/>
              <a:t>Space:</a:t>
            </a:r>
          </a:p>
          <a:p>
            <a:pPr lvl="1">
              <a:buFont typeface="Wingdings" charset="2"/>
              <a:buNone/>
            </a:pPr>
            <a:r>
              <a:rPr lang="en-US" sz="2800" dirty="0"/>
              <a:t>				O(nm)</a:t>
            </a:r>
          </a:p>
          <a:p>
            <a:r>
              <a:rPr lang="en-US" sz="3200" dirty="0" err="1" smtClean="0"/>
              <a:t>Backtrace</a:t>
            </a:r>
            <a:endParaRPr lang="en-US" sz="3200" dirty="0"/>
          </a:p>
          <a:p>
            <a:pPr lvl="1">
              <a:buFont typeface="Wingdings" charset="2"/>
              <a:buNone/>
            </a:pPr>
            <a:r>
              <a:rPr lang="en-US" sz="2800" dirty="0"/>
              <a:t>				O(</a:t>
            </a:r>
            <a:r>
              <a:rPr lang="en-US" sz="2800" dirty="0" err="1"/>
              <a:t>n+m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7202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 smtClean="0"/>
              <a:t>Minimum Edit Distance</a:t>
            </a:r>
            <a:endParaRPr lang="en-US" sz="4400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 err="1" smtClean="0">
                <a:solidFill>
                  <a:srgbClr val="A50021"/>
                </a:solidFill>
                <a:latin typeface="Calibri" charset="0"/>
              </a:rPr>
              <a:t>Backtrace</a:t>
            </a:r>
            <a:r>
              <a:rPr lang="en-US" sz="3200" dirty="0" smtClean="0">
                <a:solidFill>
                  <a:srgbClr val="A50021"/>
                </a:solidFill>
                <a:latin typeface="Calibri" charset="0"/>
              </a:rPr>
              <a:t> for Computing Alignments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63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 smtClean="0"/>
              <a:t>Minimum Edit Distance</a:t>
            </a:r>
            <a:endParaRPr lang="en-US" sz="4400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 smtClean="0">
                <a:solidFill>
                  <a:srgbClr val="A50021"/>
                </a:solidFill>
                <a:latin typeface="Calibri" charset="0"/>
              </a:rPr>
              <a:t>Weighted Minimum Edit Distance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01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Weighted Edit Distance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Why would we add weights to the computation?</a:t>
            </a:r>
          </a:p>
          <a:p>
            <a:pPr lvl="1"/>
            <a:r>
              <a:rPr lang="en-US" dirty="0" smtClean="0"/>
              <a:t>Spell Correction: some letters are more likely to be mistyped than others</a:t>
            </a:r>
          </a:p>
          <a:p>
            <a:pPr lvl="1"/>
            <a:r>
              <a:rPr lang="en-US" dirty="0" smtClean="0"/>
              <a:t>Biology: certain kinds of deletions or insertions are more likely than others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158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>
          <a:xfrm>
            <a:off x="1371600" y="76200"/>
            <a:ext cx="7467600" cy="742950"/>
          </a:xfrm>
        </p:spPr>
        <p:txBody>
          <a:bodyPr/>
          <a:lstStyle/>
          <a:p>
            <a:r>
              <a:rPr lang="en-US" dirty="0"/>
              <a:t>Confusion </a:t>
            </a:r>
            <a:r>
              <a:rPr lang="en-US" dirty="0" smtClean="0"/>
              <a:t>matrix for spelling errors</a:t>
            </a:r>
            <a:endParaRPr lang="en-US" dirty="0"/>
          </a:p>
        </p:txBody>
      </p:sp>
      <p:pic>
        <p:nvPicPr>
          <p:cNvPr id="6" name="Picture 5" descr="kern.tif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3637" y="971550"/>
            <a:ext cx="6669247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8189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qwerty2.tif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2300" y="1613891"/>
            <a:ext cx="7759700" cy="3015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43688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Weighted Min </a:t>
            </a:r>
            <a:r>
              <a:rPr lang="en-US" dirty="0"/>
              <a:t>Edit </a:t>
            </a:r>
            <a:r>
              <a:rPr lang="en-US" dirty="0" smtClean="0"/>
              <a:t>Distance</a:t>
            </a:r>
            <a:endParaRPr lang="en-US" dirty="0"/>
          </a:p>
        </p:txBody>
      </p:sp>
      <p:sp>
        <p:nvSpPr>
          <p:cNvPr id="8192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276350"/>
            <a:ext cx="8763000" cy="3943350"/>
          </a:xfrm>
        </p:spPr>
        <p:txBody>
          <a:bodyPr/>
          <a:lstStyle/>
          <a:p>
            <a:r>
              <a:rPr lang="en-US" dirty="0" smtClean="0"/>
              <a:t>Initialization:</a:t>
            </a:r>
            <a:endParaRPr lang="en-US" dirty="0"/>
          </a:p>
          <a:p>
            <a:pPr marL="457200" lvl="1" indent="0">
              <a:buNone/>
            </a:pPr>
            <a:r>
              <a:rPr lang="en-US" dirty="0" smtClean="0">
                <a:latin typeface="Courier"/>
                <a:cs typeface="Courier"/>
              </a:rPr>
              <a:t>D(0,0) = 0</a:t>
            </a:r>
          </a:p>
          <a:p>
            <a:pPr marL="457200" lvl="1" indent="0">
              <a:buNone/>
            </a:pPr>
            <a:r>
              <a:rPr lang="en-US" dirty="0" smtClean="0">
                <a:latin typeface="Courier"/>
                <a:cs typeface="Courier"/>
              </a:rPr>
              <a:t>D</a:t>
            </a:r>
            <a:r>
              <a:rPr lang="en-US" dirty="0">
                <a:latin typeface="Courier"/>
                <a:cs typeface="Courier"/>
              </a:rPr>
              <a:t>(i,0) = </a:t>
            </a:r>
            <a:r>
              <a:rPr lang="en-US" dirty="0" smtClean="0">
                <a:latin typeface="Courier"/>
                <a:cs typeface="Courier"/>
              </a:rPr>
              <a:t>D(i-1,0) + del[x(</a:t>
            </a:r>
            <a:r>
              <a:rPr lang="en-US" dirty="0" err="1" smtClean="0">
                <a:latin typeface="Courier"/>
                <a:cs typeface="Courier"/>
              </a:rPr>
              <a:t>i</a:t>
            </a:r>
            <a:r>
              <a:rPr lang="en-US" dirty="0" smtClean="0">
                <a:latin typeface="Courier"/>
                <a:cs typeface="Courier"/>
              </a:rPr>
              <a:t>)];    1 &lt; </a:t>
            </a:r>
            <a:r>
              <a:rPr lang="en-US" dirty="0" err="1" smtClean="0">
                <a:latin typeface="Courier"/>
                <a:cs typeface="Courier"/>
              </a:rPr>
              <a:t>i</a:t>
            </a:r>
            <a:r>
              <a:rPr lang="en-US" dirty="0" smtClean="0">
                <a:latin typeface="Courier"/>
                <a:cs typeface="Courier"/>
              </a:rPr>
              <a:t> ≤ N</a:t>
            </a:r>
            <a:endParaRPr lang="en-US" dirty="0">
              <a:latin typeface="Courier"/>
              <a:cs typeface="Courier"/>
            </a:endParaRPr>
          </a:p>
          <a:p>
            <a:pPr marL="457200" lvl="1" indent="0" algn="just">
              <a:buNone/>
            </a:pPr>
            <a:r>
              <a:rPr lang="en-US" dirty="0">
                <a:latin typeface="Courier"/>
                <a:cs typeface="Courier"/>
              </a:rPr>
              <a:t>D(0,j) = </a:t>
            </a:r>
            <a:r>
              <a:rPr lang="en-US" dirty="0" smtClean="0">
                <a:latin typeface="Courier"/>
                <a:cs typeface="Courier"/>
              </a:rPr>
              <a:t>D(0,j-1) + ins[y(j)];    1 </a:t>
            </a:r>
            <a:r>
              <a:rPr lang="en-US" dirty="0">
                <a:latin typeface="Courier"/>
                <a:cs typeface="Courier"/>
              </a:rPr>
              <a:t>&lt; </a:t>
            </a:r>
            <a:r>
              <a:rPr lang="en-US" dirty="0" smtClean="0">
                <a:latin typeface="Courier"/>
                <a:cs typeface="Courier"/>
              </a:rPr>
              <a:t>j </a:t>
            </a:r>
            <a:r>
              <a:rPr lang="en-US" dirty="0">
                <a:latin typeface="Courier"/>
                <a:cs typeface="Courier"/>
              </a:rPr>
              <a:t>≤ </a:t>
            </a:r>
            <a:r>
              <a:rPr lang="en-US" dirty="0" smtClean="0">
                <a:latin typeface="Courier"/>
                <a:cs typeface="Courier"/>
              </a:rPr>
              <a:t>M</a:t>
            </a:r>
            <a:endParaRPr lang="en-US" i="1" dirty="0"/>
          </a:p>
          <a:p>
            <a:pPr algn="just"/>
            <a:r>
              <a:rPr lang="en-US" dirty="0"/>
              <a:t>Recurrence Relation</a:t>
            </a:r>
            <a:r>
              <a:rPr lang="en-US" i="1" dirty="0" smtClean="0"/>
              <a:t>:</a:t>
            </a:r>
            <a:endParaRPr lang="en-US" i="1" dirty="0"/>
          </a:p>
          <a:p>
            <a:pPr marL="457200" lvl="1" indent="0">
              <a:buNone/>
            </a:pPr>
            <a:r>
              <a:rPr lang="en-US" i="1" dirty="0">
                <a:latin typeface="Courier"/>
                <a:cs typeface="Courier"/>
              </a:rPr>
              <a:t>            </a:t>
            </a:r>
            <a:r>
              <a:rPr lang="en-US" i="1" dirty="0" smtClean="0">
                <a:latin typeface="Courier"/>
                <a:cs typeface="Courier"/>
              </a:rPr>
              <a:t> </a:t>
            </a:r>
            <a:r>
              <a:rPr lang="en-US" dirty="0" smtClean="0">
                <a:latin typeface="Courier"/>
                <a:cs typeface="Courier"/>
              </a:rPr>
              <a:t>D</a:t>
            </a:r>
            <a:r>
              <a:rPr lang="en-US" dirty="0">
                <a:latin typeface="Courier"/>
                <a:cs typeface="Courier"/>
              </a:rPr>
              <a:t>(i-1,j) </a:t>
            </a:r>
            <a:r>
              <a:rPr lang="en-US" dirty="0" smtClean="0">
                <a:latin typeface="Courier"/>
                <a:cs typeface="Courier"/>
              </a:rPr>
              <a:t>  + del[x(</a:t>
            </a:r>
            <a:r>
              <a:rPr lang="en-US" dirty="0" err="1" smtClean="0">
                <a:latin typeface="Courier"/>
                <a:cs typeface="Courier"/>
              </a:rPr>
              <a:t>i</a:t>
            </a:r>
            <a:r>
              <a:rPr lang="en-US" dirty="0" smtClean="0">
                <a:latin typeface="Courier"/>
                <a:cs typeface="Courier"/>
              </a:rPr>
              <a:t>)]</a:t>
            </a:r>
            <a:endParaRPr lang="en-US" dirty="0">
              <a:latin typeface="Courier"/>
              <a:cs typeface="Courier"/>
            </a:endParaRPr>
          </a:p>
          <a:p>
            <a:pPr marL="457200" lvl="1" indent="0" algn="just">
              <a:buNone/>
            </a:pPr>
            <a:r>
              <a:rPr lang="en-US" dirty="0" smtClean="0">
                <a:latin typeface="Courier"/>
                <a:cs typeface="Courier"/>
              </a:rPr>
              <a:t>D</a:t>
            </a:r>
            <a:r>
              <a:rPr lang="en-US" dirty="0">
                <a:latin typeface="Courier"/>
                <a:cs typeface="Courier"/>
              </a:rPr>
              <a:t>(</a:t>
            </a:r>
            <a:r>
              <a:rPr lang="en-US" dirty="0" err="1">
                <a:latin typeface="Courier"/>
                <a:cs typeface="Courier"/>
              </a:rPr>
              <a:t>i,j</a:t>
            </a:r>
            <a:r>
              <a:rPr lang="en-US" dirty="0" smtClean="0">
                <a:latin typeface="Courier"/>
                <a:cs typeface="Courier"/>
              </a:rPr>
              <a:t>)= min  D</a:t>
            </a:r>
            <a:r>
              <a:rPr lang="en-US" dirty="0">
                <a:latin typeface="Courier"/>
                <a:cs typeface="Courier"/>
              </a:rPr>
              <a:t>(i,j-1) </a:t>
            </a:r>
            <a:r>
              <a:rPr lang="en-US" dirty="0" smtClean="0">
                <a:latin typeface="Courier"/>
                <a:cs typeface="Courier"/>
              </a:rPr>
              <a:t>  + ins[y(j)]</a:t>
            </a:r>
            <a:endParaRPr lang="en-US" dirty="0">
              <a:latin typeface="Courier"/>
              <a:cs typeface="Courier"/>
            </a:endParaRPr>
          </a:p>
          <a:p>
            <a:pPr lvl="1" algn="just">
              <a:buFont typeface="Wingdings" charset="2"/>
              <a:buNone/>
            </a:pPr>
            <a:r>
              <a:rPr lang="en-US" dirty="0">
                <a:latin typeface="Courier"/>
                <a:cs typeface="Courier"/>
              </a:rPr>
              <a:t>            </a:t>
            </a:r>
            <a:r>
              <a:rPr lang="en-US" dirty="0" smtClean="0">
                <a:latin typeface="Courier"/>
                <a:cs typeface="Courier"/>
              </a:rPr>
              <a:t> D</a:t>
            </a:r>
            <a:r>
              <a:rPr lang="en-US" dirty="0">
                <a:latin typeface="Courier"/>
                <a:cs typeface="Courier"/>
              </a:rPr>
              <a:t>(i-1,j-1</a:t>
            </a:r>
            <a:r>
              <a:rPr lang="en-US" dirty="0" smtClean="0">
                <a:latin typeface="Courier"/>
                <a:cs typeface="Courier"/>
              </a:rPr>
              <a:t>) + sub[x(</a:t>
            </a:r>
            <a:r>
              <a:rPr lang="en-US" dirty="0" err="1" smtClean="0">
                <a:latin typeface="Courier"/>
                <a:cs typeface="Courier"/>
              </a:rPr>
              <a:t>i</a:t>
            </a:r>
            <a:r>
              <a:rPr lang="en-US" dirty="0" smtClean="0">
                <a:latin typeface="Courier"/>
                <a:cs typeface="Courier"/>
              </a:rPr>
              <a:t>),y(j)]</a:t>
            </a:r>
          </a:p>
          <a:p>
            <a:pPr algn="just"/>
            <a:r>
              <a:rPr lang="en-US" dirty="0" smtClean="0"/>
              <a:t>Termination</a:t>
            </a:r>
            <a:r>
              <a:rPr lang="en-US" i="1" dirty="0" smtClean="0"/>
              <a:t>:</a:t>
            </a:r>
            <a:endParaRPr lang="en-US" i="1" dirty="0"/>
          </a:p>
          <a:p>
            <a:pPr lvl="1" algn="just">
              <a:buFont typeface="Wingdings" charset="2"/>
              <a:buNone/>
            </a:pPr>
            <a:r>
              <a:rPr lang="en-US" dirty="0">
                <a:latin typeface="Courier"/>
                <a:cs typeface="Courier"/>
              </a:rPr>
              <a:t>D</a:t>
            </a:r>
            <a:r>
              <a:rPr lang="en-US" dirty="0" smtClean="0">
                <a:latin typeface="Courier"/>
                <a:cs typeface="Courier"/>
              </a:rPr>
              <a:t>(N,M) is distance </a:t>
            </a:r>
          </a:p>
          <a:p>
            <a:pPr lvl="1" algn="just">
              <a:buFont typeface="Wingdings" charset="2"/>
              <a:buNone/>
            </a:pPr>
            <a:endParaRPr lang="en-US" dirty="0">
              <a:latin typeface="Courier"/>
              <a:cs typeface="Courier"/>
            </a:endParaRPr>
          </a:p>
        </p:txBody>
      </p:sp>
      <p:sp>
        <p:nvSpPr>
          <p:cNvPr id="9" name="AutoShape 5"/>
          <p:cNvSpPr>
            <a:spLocks/>
          </p:cNvSpPr>
          <p:nvPr/>
        </p:nvSpPr>
        <p:spPr bwMode="auto">
          <a:xfrm>
            <a:off x="2438400" y="3333750"/>
            <a:ext cx="228600" cy="990600"/>
          </a:xfrm>
          <a:prstGeom prst="leftBrace">
            <a:avLst>
              <a:gd name="adj1" fmla="val 37516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>
              <a:solidFill>
                <a:srgbClr val="000066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31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Where did the name, dynamic programming, come from? </a:t>
            </a:r>
            <a:endParaRPr lang="en-US" dirty="0"/>
          </a:p>
        </p:txBody>
      </p:sp>
      <p:sp>
        <p:nvSpPr>
          <p:cNvPr id="10782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276350"/>
            <a:ext cx="8915400" cy="3543300"/>
          </a:xfrm>
        </p:spPr>
        <p:txBody>
          <a:bodyPr/>
          <a:lstStyle/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1600" dirty="0" smtClean="0">
                <a:latin typeface="Arial" charset="0"/>
              </a:rPr>
              <a:t>…</a:t>
            </a:r>
            <a:r>
              <a:rPr lang="en-US" sz="1800" dirty="0" smtClean="0">
                <a:latin typeface="Arial" charset="0"/>
              </a:rPr>
              <a:t>The </a:t>
            </a:r>
            <a:r>
              <a:rPr lang="en-US" sz="1800" dirty="0">
                <a:latin typeface="Arial" charset="0"/>
              </a:rPr>
              <a:t>1950s were not good years for mathematical research. </a:t>
            </a:r>
            <a:r>
              <a:rPr lang="en-US" sz="1800" dirty="0" smtClean="0">
                <a:latin typeface="Arial" charset="0"/>
              </a:rPr>
              <a:t>[the] Secretary </a:t>
            </a:r>
            <a:r>
              <a:rPr lang="en-US" sz="1800" dirty="0">
                <a:latin typeface="Arial" charset="0"/>
              </a:rPr>
              <a:t>of </a:t>
            </a:r>
            <a:r>
              <a:rPr lang="en-US" sz="1800" dirty="0" smtClean="0">
                <a:latin typeface="Arial" charset="0"/>
              </a:rPr>
              <a:t>Defense …had </a:t>
            </a:r>
            <a:r>
              <a:rPr lang="en-US" sz="1800" dirty="0">
                <a:latin typeface="Arial" charset="0"/>
              </a:rPr>
              <a:t>a pathological fear and hatred of the word, </a:t>
            </a:r>
            <a:r>
              <a:rPr lang="en-US" sz="1800" dirty="0" smtClean="0">
                <a:latin typeface="Arial" charset="0"/>
              </a:rPr>
              <a:t>research…</a:t>
            </a: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endParaRPr lang="en-US" sz="1800" dirty="0" smtClean="0">
              <a:latin typeface="Arial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1800" dirty="0" smtClean="0">
                <a:latin typeface="Arial" charset="0"/>
              </a:rPr>
              <a:t> </a:t>
            </a:r>
            <a:r>
              <a:rPr lang="en-US" sz="1800" dirty="0">
                <a:latin typeface="Arial" charset="0"/>
              </a:rPr>
              <a:t>I decided therefore to use the word, “</a:t>
            </a:r>
            <a:r>
              <a:rPr lang="en-US" sz="1800" b="1" dirty="0">
                <a:latin typeface="Arial" charset="0"/>
              </a:rPr>
              <a:t>programming</a:t>
            </a:r>
            <a:r>
              <a:rPr lang="en-US" sz="1800" dirty="0" smtClean="0">
                <a:latin typeface="Arial" charset="0"/>
              </a:rPr>
              <a:t>”.</a:t>
            </a: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endParaRPr lang="en-US" sz="1800" dirty="0">
              <a:latin typeface="Arial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1800" dirty="0" smtClean="0">
                <a:latin typeface="Arial" charset="0"/>
              </a:rPr>
              <a:t> </a:t>
            </a:r>
            <a:r>
              <a:rPr lang="en-US" sz="1800" dirty="0">
                <a:latin typeface="Arial" charset="0"/>
              </a:rPr>
              <a:t>I wanted to get across the idea that this was dynamic, this was </a:t>
            </a:r>
            <a:r>
              <a:rPr lang="en-US" sz="1800" dirty="0" smtClean="0">
                <a:latin typeface="Arial" charset="0"/>
              </a:rPr>
              <a:t>multistage… I </a:t>
            </a:r>
            <a:r>
              <a:rPr lang="en-US" sz="1800" dirty="0">
                <a:latin typeface="Arial" charset="0"/>
              </a:rPr>
              <a:t>thought, </a:t>
            </a:r>
            <a:r>
              <a:rPr lang="en-US" sz="1800" dirty="0" smtClean="0">
                <a:latin typeface="Arial" charset="0"/>
              </a:rPr>
              <a:t>let’s … take a </a:t>
            </a:r>
            <a:r>
              <a:rPr lang="en-US" sz="1800" dirty="0">
                <a:latin typeface="Arial" charset="0"/>
              </a:rPr>
              <a:t>word that has an absolutely precise meaning, namely </a:t>
            </a:r>
            <a:r>
              <a:rPr lang="en-US" sz="1800" b="1" dirty="0" smtClean="0">
                <a:latin typeface="Arial" charset="0"/>
              </a:rPr>
              <a:t>dynamic</a:t>
            </a:r>
            <a:r>
              <a:rPr lang="en-US" sz="1800" dirty="0" smtClean="0">
                <a:latin typeface="Arial" charset="0"/>
              </a:rPr>
              <a:t>… it’s impossible </a:t>
            </a:r>
            <a:r>
              <a:rPr lang="en-US" sz="1800" dirty="0">
                <a:latin typeface="Arial" charset="0"/>
              </a:rPr>
              <a:t>to use the word, </a:t>
            </a:r>
            <a:r>
              <a:rPr lang="en-US" sz="1800" b="1" dirty="0">
                <a:latin typeface="Arial" charset="0"/>
              </a:rPr>
              <a:t>dynamic</a:t>
            </a:r>
            <a:r>
              <a:rPr lang="en-US" sz="1800" dirty="0">
                <a:latin typeface="Arial" charset="0"/>
              </a:rPr>
              <a:t>, in a pejorative sense. Try thinking of some combination that will possibly give it a pejorative meaning. </a:t>
            </a:r>
            <a:r>
              <a:rPr lang="en-US" sz="1800" dirty="0" smtClean="0">
                <a:latin typeface="Arial" charset="0"/>
              </a:rPr>
              <a:t>It’s </a:t>
            </a:r>
            <a:r>
              <a:rPr lang="en-US" sz="1800" dirty="0">
                <a:latin typeface="Arial" charset="0"/>
              </a:rPr>
              <a:t>impossible. </a:t>
            </a:r>
            <a:endParaRPr lang="en-US" sz="1800" dirty="0" smtClean="0">
              <a:latin typeface="Arial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endParaRPr lang="en-US" sz="1800" dirty="0">
              <a:latin typeface="Arial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1800" dirty="0" smtClean="0">
                <a:latin typeface="Arial" charset="0"/>
              </a:rPr>
              <a:t>Thus</a:t>
            </a:r>
            <a:r>
              <a:rPr lang="en-US" sz="1800" dirty="0">
                <a:latin typeface="Arial" charset="0"/>
              </a:rPr>
              <a:t>, I thought dynamic programming was a good name. It was something not even a Congressman could object </a:t>
            </a:r>
            <a:r>
              <a:rPr lang="en-US" sz="1800" dirty="0" smtClean="0">
                <a:latin typeface="Arial" charset="0"/>
              </a:rPr>
              <a:t>to.</a:t>
            </a:r>
            <a:r>
              <a:rPr lang="en-US" sz="1800" dirty="0">
                <a:latin typeface="Arial" charset="0"/>
              </a:rPr>
              <a:t>”</a:t>
            </a:r>
            <a:r>
              <a:rPr lang="en-US" sz="1600" dirty="0">
                <a:latin typeface="Arial" charset="0"/>
              </a:rPr>
              <a:t>  </a:t>
            </a:r>
            <a:endParaRPr lang="en-US" sz="1600" dirty="0" smtClean="0">
              <a:latin typeface="Arial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endParaRPr lang="en-US" sz="1400" dirty="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1600" b="1" dirty="0">
                <a:solidFill>
                  <a:srgbClr val="404040"/>
                </a:solidFill>
                <a:latin typeface="Arial" charset="0"/>
              </a:rPr>
              <a:t>		</a:t>
            </a:r>
            <a:r>
              <a:rPr lang="en-US" sz="1600" dirty="0">
                <a:solidFill>
                  <a:srgbClr val="404040"/>
                </a:solidFill>
                <a:latin typeface="Arial" charset="0"/>
              </a:rPr>
              <a:t>Richard Bellman, “Eye of the Hurricane: an autobiography” 1984.</a:t>
            </a:r>
            <a:endParaRPr lang="en-US" sz="9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74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 smtClean="0"/>
              <a:t>Minimum Edit Distance</a:t>
            </a:r>
            <a:endParaRPr lang="en-US" sz="4400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 smtClean="0">
                <a:solidFill>
                  <a:srgbClr val="A50021"/>
                </a:solidFill>
                <a:latin typeface="Calibri" charset="0"/>
              </a:rPr>
              <a:t>Weighted Minimum Edit Distance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876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LP-jurafsky">
  <a:themeElements>
    <a:clrScheme name="NLP Class">
      <a:dk1>
        <a:sysClr val="windowText" lastClr="000000"/>
      </a:dk1>
      <a:lt1>
        <a:sysClr val="window" lastClr="FFFFFF"/>
      </a:lt1>
      <a:dk2>
        <a:srgbClr val="605435"/>
      </a:dk2>
      <a:lt2>
        <a:srgbClr val="E7D19A"/>
      </a:lt2>
      <a:accent1>
        <a:srgbClr val="A4001D"/>
      </a:accent1>
      <a:accent2>
        <a:srgbClr val="2584BB"/>
      </a:accent2>
      <a:accent3>
        <a:srgbClr val="BB57BE"/>
      </a:accent3>
      <a:accent4>
        <a:srgbClr val="177245"/>
      </a:accent4>
      <a:accent5>
        <a:srgbClr val="35ACA2"/>
      </a:accent5>
      <a:accent6>
        <a:srgbClr val="FF8700"/>
      </a:accent6>
      <a:hlink>
        <a:srgbClr val="EF8E1C"/>
      </a:hlink>
      <a:folHlink>
        <a:srgbClr val="FEC60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9525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A50021"/>
            </a:gs>
            <a:gs pos="100000">
              <a:schemeClr val="tx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>
            <a:latin typeface="+mn-lt"/>
          </a:defRPr>
        </a:defPPr>
      </a:lstStyle>
    </a:txDef>
  </a:objectDefaults>
  <a:extraClrSchemeLst>
    <a:extraClrScheme>
      <a:clrScheme name="nlp-lucida-sc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NLP-jurafsky.potx</Template>
  <TotalTime>7462</TotalTime>
  <Words>1256</Words>
  <Application>Microsoft Office PowerPoint</Application>
  <PresentationFormat>On-screen Show (16:9)</PresentationFormat>
  <Paragraphs>502</Paragraphs>
  <Slides>35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Arial Unicode MS</vt:lpstr>
      <vt:lpstr>ＭＳ Ｐゴシック</vt:lpstr>
      <vt:lpstr>Arial</vt:lpstr>
      <vt:lpstr>Calibri</vt:lpstr>
      <vt:lpstr>Courier</vt:lpstr>
      <vt:lpstr>Courier New</vt:lpstr>
      <vt:lpstr>Lucida Sans</vt:lpstr>
      <vt:lpstr>Tahoma</vt:lpstr>
      <vt:lpstr>Times</vt:lpstr>
      <vt:lpstr>Times New Roman</vt:lpstr>
      <vt:lpstr>Wingdings</vt:lpstr>
      <vt:lpstr>NLP-jurafsky</vt:lpstr>
      <vt:lpstr>Minimum Edit Distance</vt:lpstr>
      <vt:lpstr>How similar are two strings?</vt:lpstr>
      <vt:lpstr>Edit Distance</vt:lpstr>
      <vt:lpstr>Minimum Edit Distance</vt:lpstr>
      <vt:lpstr>Minimum Edit Distance</vt:lpstr>
      <vt:lpstr>Alignment in Computational Biology</vt:lpstr>
      <vt:lpstr>Other uses of Edit Distance in NLP</vt:lpstr>
      <vt:lpstr>How to find the Min Edit Distance?</vt:lpstr>
      <vt:lpstr>Minimum Edit as Search</vt:lpstr>
      <vt:lpstr>Defining Min Edit Distance</vt:lpstr>
      <vt:lpstr>Minimum Edit Distance</vt:lpstr>
      <vt:lpstr>Minimum Edit Distance</vt:lpstr>
      <vt:lpstr>Dynamic Programming for Minimum Edit Distance</vt:lpstr>
      <vt:lpstr>Defining Min Edit Distance (Levenshtein)</vt:lpstr>
      <vt:lpstr>The Edit Distance Table</vt:lpstr>
      <vt:lpstr>PowerPoint Presentation</vt:lpstr>
      <vt:lpstr>Edit Distance</vt:lpstr>
      <vt:lpstr>PowerPoint Presentation</vt:lpstr>
      <vt:lpstr>Minimum Edit Distance</vt:lpstr>
      <vt:lpstr>Minimum Edit Distance</vt:lpstr>
      <vt:lpstr>Computing alignments</vt:lpstr>
      <vt:lpstr>Edit Distance</vt:lpstr>
      <vt:lpstr>MinEdit with Backtrace</vt:lpstr>
      <vt:lpstr>Adding Backtrace to Minimum Edit Distance</vt:lpstr>
      <vt:lpstr>The Distance Matrix</vt:lpstr>
      <vt:lpstr>Result of Backtrace</vt:lpstr>
      <vt:lpstr>Performance</vt:lpstr>
      <vt:lpstr>Minimum Edit Distance</vt:lpstr>
      <vt:lpstr>Minimum Edit Distance</vt:lpstr>
      <vt:lpstr>Weighted Edit Distance</vt:lpstr>
      <vt:lpstr>Confusion matrix for spelling errors</vt:lpstr>
      <vt:lpstr>PowerPoint Presentation</vt:lpstr>
      <vt:lpstr>Weighted Min Edit Distance</vt:lpstr>
      <vt:lpstr>Where did the name, dynamic programming, come from? </vt:lpstr>
      <vt:lpstr>Minimum Edit Distance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Extraction</dc:title>
  <dc:creator>Christopher Manning</dc:creator>
  <cp:lastModifiedBy>yasaman.boreshban@gmail.com</cp:lastModifiedBy>
  <cp:revision>101</cp:revision>
  <cp:lastPrinted>2009-04-20T16:46:08Z</cp:lastPrinted>
  <dcterms:created xsi:type="dcterms:W3CDTF">2010-04-19T15:31:24Z</dcterms:created>
  <dcterms:modified xsi:type="dcterms:W3CDTF">2021-03-07T10:32:44Z</dcterms:modified>
</cp:coreProperties>
</file>